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80.svg" ContentType="image/svg+xml"/>
  <Override PartName="/ppt/media/image8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" charset="1" panose="02020603050405020304"/>
      <p:regular r:id="rId15"/>
    </p:embeddedFont>
    <p:embeddedFont>
      <p:font typeface="Times New Roman Bold" charset="1" panose="02020803070505020304"/>
      <p:regular r:id="rId16"/>
    </p:embeddedFont>
    <p:embeddedFont>
      <p:font typeface="Times New Roman Italics" charset="1" panose="02020503050405090304"/>
      <p:regular r:id="rId17"/>
    </p:embeddedFon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Montserrat Bold" charset="1" panose="00000800000000000000"/>
      <p:regular r:id="rId22"/>
    </p:embeddedFont>
    <p:embeddedFont>
      <p:font typeface="Nirmala UI" charset="1" panose="020B0502040204020203"/>
      <p:regular r:id="rId24"/>
    </p:embeddedFont>
    <p:embeddedFont>
      <p:font typeface="Montserrat" charset="1" panose="00000500000000000000"/>
      <p:regular r:id="rId25"/>
    </p:embeddedFont>
    <p:embeddedFont>
      <p:font typeface="Canva Sans" charset="1" panose="020B0503030501040103"/>
      <p:regular r:id="rId28"/>
    </p:embeddedFont>
    <p:embeddedFont>
      <p:font typeface="Poppins Bold" charset="1" panose="00000800000000000000"/>
      <p:regular r:id="rId29"/>
    </p:embeddedFont>
    <p:embeddedFont>
      <p:font typeface="Poppin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theme" Target="theme/theme2.xml"/><Relationship Id="rId14" Type="http://schemas.openxmlformats.org/officeDocument/2006/relationships/notesSlide" Target="notesSlides/notesSlide1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notesSlide" Target="notesSlides/notesSlide2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3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4.xml"/><Relationship Id="rId27" Type="http://schemas.openxmlformats.org/officeDocument/2006/relationships/notesSlide" Target="notesSlides/notesSlide5.xml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notesSlide" Target="notesSlides/notes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team. Domain: Web &amp; Product Development. Problem statement: Health Outbreak Detection &amp; Alert System. Our solution is VARSHA (Vector-And-Rain-driven Surveillance for Health Alerts). Varsha means rain, and that is exactly where the warning comes from. Replace the yellow [Enter ...] placeholders before submitting.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monsoon Mumbai floods, and every monsoon the same diseases follow: leptospirosis, dengue, malaria. In 2025 BMC reviewed 66 suspected deaths from these three. The pattern is predictable: people wade through floodwater on known days, BMC itself says preventive care must start within 72 hours, and cases surge 7 to 12 days later. But advice is citywide and late (6 July 2026 for floods that began 1 July), official IDSP outbreak reports go online about 6 weeks later, and existing AI tools only read the news after people are sick. The warning arrives after the window has closed.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VARSHA turns live rainfall into ward-level disease alerts. The hero chart is the real July 2026 rain at Santacruz (Open-Meteo): our rules raise a WATCH on 1 July and a WARNING by 5 July, before BMC's citywide advice on the night of 6 July, and they forecast the case wave 7 to 14 days after the floods. Data flows from public sources, through ingestion and a PostGIS database, into four analytics engines, and out to a ward dashboard plus action sheets, citizen alerts, doctor alerts and a weekly bulletin. Three things change: same-day ward alerts, a 1 to 2 week forecast, and a planner that puts scarce teams where risk is highest. Re-run the replay on your prototype and keep these dates only if it reproduces them.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Stack: React + Vite + Leaflet on the front end, FastAPI on the back end, PostgreSQL + PostGIS for ward and flood-spot geography. The intelligence engine uses standard, explainable methods: a lagged exposure model for leptospirosis, a climate-lag model for dengue and malaria, CDC-style EARS and Farrington checks for unusual spikes, and OR-Tools to place scarce teams. LLMs, if used, only translate and explain; they never produce numbers. Fill in the three links before submitting.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Impact: alerts in hours instead of weeks, inside the 72-hour prevention window, reaching the highest-risk wards first and focusing on the flood-prone slums where about 4 in 10 Mumbaikars live. Future scope: a one-ward pilot for one monsoon, then all 24 wards with BMC's data; the same pipeline works for any IDSP district and for heat, air-quality and platelet-demand warnings. Challenges are real and each has a concrete answer.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evidence. In July 2026 Santacruz recorded about 984 mm of rain in a week; streets flooded on 4 July; BMC's citywide advice came on the night of 6 July; leptospirosis cases went from 33 in June to 78 in July. Replayed on the real rain data, VARSHA's rules give a WATCH on 1 July and a WARNING by 5 July. Three research findings drive the design: cases follow floods by 7 to 12 days, official data is about 6 weeks late, and free weather maps miss cloudbursts, so we correct rain with real gauges.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jpe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10.png"/><Relationship Id="rId11" Type="http://schemas.openxmlformats.org/officeDocument/2006/relationships/image" Target="../media/image11.svg"/><Relationship Id="rId12" Type="http://schemas.openxmlformats.org/officeDocument/2006/relationships/image" Target="../media/image12.png"/><Relationship Id="rId13" Type="http://schemas.openxmlformats.org/officeDocument/2006/relationships/image" Target="../media/image13.svg"/><Relationship Id="rId14" Type="http://schemas.openxmlformats.org/officeDocument/2006/relationships/image" Target="../media/image14.png"/><Relationship Id="rId15" Type="http://schemas.openxmlformats.org/officeDocument/2006/relationships/image" Target="../media/image15.svg"/><Relationship Id="rId16" Type="http://schemas.openxmlformats.org/officeDocument/2006/relationships/image" Target="../media/image16.png"/><Relationship Id="rId17" Type="http://schemas.openxmlformats.org/officeDocument/2006/relationships/image" Target="../media/image17.svg"/><Relationship Id="rId18" Type="http://schemas.openxmlformats.org/officeDocument/2006/relationships/image" Target="../media/image18.png"/><Relationship Id="rId19" Type="http://schemas.openxmlformats.org/officeDocument/2006/relationships/image" Target="../media/image19.svg"/><Relationship Id="rId20" Type="http://schemas.openxmlformats.org/officeDocument/2006/relationships/image" Target="../media/image20.png"/><Relationship Id="rId21" Type="http://schemas.openxmlformats.org/officeDocument/2006/relationships/image" Target="../media/image21.svg"/><Relationship Id="rId22" Type="http://schemas.openxmlformats.org/officeDocument/2006/relationships/image" Target="../media/image22.png"/><Relationship Id="rId23" Type="http://schemas.openxmlformats.org/officeDocument/2006/relationships/image" Target="../media/image23.svg"/><Relationship Id="rId24" Type="http://schemas.openxmlformats.org/officeDocument/2006/relationships/image" Target="../media/image24.png"/><Relationship Id="rId25" Type="http://schemas.openxmlformats.org/officeDocument/2006/relationships/image" Target="../media/image25.svg"/><Relationship Id="rId26" Type="http://schemas.openxmlformats.org/officeDocument/2006/relationships/image" Target="../media/image26.png"/><Relationship Id="rId27" Type="http://schemas.openxmlformats.org/officeDocument/2006/relationships/image" Target="../media/image27.svg"/><Relationship Id="rId28" Type="http://schemas.openxmlformats.org/officeDocument/2006/relationships/image" Target="../media/image28.png"/><Relationship Id="rId29" Type="http://schemas.openxmlformats.org/officeDocument/2006/relationships/image" Target="../media/image2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jpe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svg"/><Relationship Id="rId12" Type="http://schemas.openxmlformats.org/officeDocument/2006/relationships/image" Target="../media/image34.png"/><Relationship Id="rId13" Type="http://schemas.openxmlformats.org/officeDocument/2006/relationships/image" Target="../media/image35.svg"/><Relationship Id="rId14" Type="http://schemas.openxmlformats.org/officeDocument/2006/relationships/image" Target="../media/image36.png"/><Relationship Id="rId15" Type="http://schemas.openxmlformats.org/officeDocument/2006/relationships/image" Target="../media/image37.svg"/><Relationship Id="rId16" Type="http://schemas.openxmlformats.org/officeDocument/2006/relationships/image" Target="../media/image38.png"/><Relationship Id="rId17" Type="http://schemas.openxmlformats.org/officeDocument/2006/relationships/image" Target="../media/image39.svg"/><Relationship Id="rId18" Type="http://schemas.openxmlformats.org/officeDocument/2006/relationships/image" Target="../media/image40.png"/><Relationship Id="rId19" Type="http://schemas.openxmlformats.org/officeDocument/2006/relationships/image" Target="../media/image41.svg"/><Relationship Id="rId20" Type="http://schemas.openxmlformats.org/officeDocument/2006/relationships/image" Target="../media/image42.png"/><Relationship Id="rId21" Type="http://schemas.openxmlformats.org/officeDocument/2006/relationships/image" Target="../media/image43.svg"/><Relationship Id="rId22" Type="http://schemas.openxmlformats.org/officeDocument/2006/relationships/image" Target="../media/image44.png"/><Relationship Id="rId23" Type="http://schemas.openxmlformats.org/officeDocument/2006/relationships/image" Target="../media/image45.svg"/><Relationship Id="rId24" Type="http://schemas.openxmlformats.org/officeDocument/2006/relationships/image" Target="../media/image46.png"/><Relationship Id="rId25" Type="http://schemas.openxmlformats.org/officeDocument/2006/relationships/image" Target="../media/image47.svg"/><Relationship Id="rId26" Type="http://schemas.openxmlformats.org/officeDocument/2006/relationships/image" Target="../media/image48.png"/><Relationship Id="rId27" Type="http://schemas.openxmlformats.org/officeDocument/2006/relationships/image" Target="../media/image49.svg"/><Relationship Id="rId28" Type="http://schemas.openxmlformats.org/officeDocument/2006/relationships/image" Target="../media/image50.png"/><Relationship Id="rId29" Type="http://schemas.openxmlformats.org/officeDocument/2006/relationships/image" Target="../media/image51.svg"/><Relationship Id="rId30" Type="http://schemas.openxmlformats.org/officeDocument/2006/relationships/image" Target="../media/image52.png"/><Relationship Id="rId31" Type="http://schemas.openxmlformats.org/officeDocument/2006/relationships/image" Target="../media/image53.svg"/><Relationship Id="rId32" Type="http://schemas.openxmlformats.org/officeDocument/2006/relationships/image" Target="../media/image95.png"/><Relationship Id="rId33" Type="http://schemas.openxmlformats.org/officeDocument/2006/relationships/image" Target="../media/image96.png"/><Relationship Id="rId34" Type="http://schemas.openxmlformats.org/officeDocument/2006/relationships/image" Target="../media/image97.png"/><Relationship Id="rId35" Type="http://schemas.openxmlformats.org/officeDocument/2006/relationships/image" Target="../media/image98.png"/><Relationship Id="rId36" Type="http://schemas.openxmlformats.org/officeDocument/2006/relationships/image" Target="../media/image9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7.jpe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svg"/><Relationship Id="rId17" Type="http://schemas.openxmlformats.org/officeDocument/2006/relationships/image" Target="../media/image63.png"/><Relationship Id="rId18" Type="http://schemas.openxmlformats.org/officeDocument/2006/relationships/image" Target="../media/image64.svg"/><Relationship Id="rId19" Type="http://schemas.openxmlformats.org/officeDocument/2006/relationships/image" Target="../media/image65.png"/><Relationship Id="rId20" Type="http://schemas.openxmlformats.org/officeDocument/2006/relationships/image" Target="../media/image66.svg"/><Relationship Id="rId21" Type="http://schemas.openxmlformats.org/officeDocument/2006/relationships/image" Target="../media/image67.png"/><Relationship Id="rId22" Type="http://schemas.openxmlformats.org/officeDocument/2006/relationships/image" Target="../media/image68.svg"/><Relationship Id="rId23" Type="http://schemas.openxmlformats.org/officeDocument/2006/relationships/image" Target="../media/image69.png"/><Relationship Id="rId24" Type="http://schemas.openxmlformats.org/officeDocument/2006/relationships/image" Target="../media/image7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jpe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image" Target="../media/image79.png"/><Relationship Id="rId17" Type="http://schemas.openxmlformats.org/officeDocument/2006/relationships/image" Target="../media/image80.svg"/><Relationship Id="rId18" Type="http://schemas.openxmlformats.org/officeDocument/2006/relationships/image" Target="../media/image81.png"/><Relationship Id="rId19" Type="http://schemas.openxmlformats.org/officeDocument/2006/relationships/image" Target="../media/image8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e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Relationship Id="rId14" Type="http://schemas.openxmlformats.org/officeDocument/2006/relationships/image" Target="../media/image89.png"/><Relationship Id="rId15" Type="http://schemas.openxmlformats.org/officeDocument/2006/relationships/image" Target="../media/image90.png"/><Relationship Id="rId16" Type="http://schemas.openxmlformats.org/officeDocument/2006/relationships/image" Target="../media/image91.png"/><Relationship Id="rId17" Type="http://schemas.openxmlformats.org/officeDocument/2006/relationships/image" Target="../media/image92.png"/><Relationship Id="rId18" Type="http://schemas.openxmlformats.org/officeDocument/2006/relationships/image" Target="../media/image93.png"/><Relationship Id="rId19" Type="http://schemas.openxmlformats.org/officeDocument/2006/relationships/image" Target="../media/image94.png"/><Relationship Id="rId20" Type="http://schemas.openxmlformats.org/officeDocument/2006/relationships/image" Target="../media/image10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titl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74207" y="-680723"/>
            <a:ext cx="8515350" cy="5676900"/>
            <a:chOff x="0" y="0"/>
            <a:chExt cx="11353800" cy="7569200"/>
          </a:xfrm>
        </p:grpSpPr>
        <p:sp>
          <p:nvSpPr>
            <p:cNvPr name="Freeform 11" id="11" descr="codeastra.png"/>
            <p:cNvSpPr/>
            <p:nvPr/>
          </p:nvSpPr>
          <p:spPr>
            <a:xfrm flipH="false" flipV="false" rot="0">
              <a:off x="0" y="0"/>
              <a:ext cx="11353800" cy="7569200"/>
            </a:xfrm>
            <a:custGeom>
              <a:avLst/>
              <a:gdLst/>
              <a:ahLst/>
              <a:cxnLst/>
              <a:rect r="r" b="b" t="t" l="l"/>
              <a:pathLst>
                <a:path h="75692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7569200"/>
                  </a:lnTo>
                  <a:lnTo>
                    <a:pt x="0" y="756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" t="0" r="-2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13832" y="3007614"/>
            <a:ext cx="640080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8943" y="4515355"/>
            <a:ext cx="10058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8943" y="5116068"/>
            <a:ext cx="10058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: BubbleSort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8943" y="5715505"/>
            <a:ext cx="10058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Leader Name : Amey Bauchkar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8943" y="6316218"/>
            <a:ext cx="100584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Chosen : </a:t>
            </a:r>
            <a:r>
              <a:rPr lang="en-US" sz="3399" b="true">
                <a:solidFill>
                  <a:srgbClr val="8EE6E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 &amp; Product Development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8943" y="6915655"/>
            <a:ext cx="100584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6400" y="7473058"/>
            <a:ext cx="96012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8EE6E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Outbreak Detection &amp; Alert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8943" y="8174098"/>
            <a:ext cx="102412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Solution:  </a:t>
            </a:r>
            <a:r>
              <a:rPr lang="en-US" sz="2100" b="true">
                <a:solidFill>
                  <a:srgbClr val="8EE6E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VARSHA</a:t>
            </a:r>
            <a:r>
              <a:rPr lang="en-US" sz="2100" i="true">
                <a:solidFill>
                  <a:srgbClr val="D6F5F3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 —  Vector-And-Rain-driven Surveillance for Health Alerts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242" y="0"/>
            <a:ext cx="18288000" cy="10425684"/>
            <a:chOff x="0" y="0"/>
            <a:chExt cx="24384000" cy="13900912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900913"/>
            </a:xfrm>
            <a:custGeom>
              <a:avLst/>
              <a:gdLst/>
              <a:ahLst/>
              <a:cxnLst/>
              <a:rect r="r" b="b" t="t" l="l"/>
              <a:pathLst>
                <a:path h="139009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900913"/>
                  </a:lnTo>
                  <a:lnTo>
                    <a:pt x="0" y="13900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01" t="0" r="-700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78808" y="30480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9306" y="2662114"/>
            <a:ext cx="4587878" cy="3051686"/>
            <a:chOff x="0" y="0"/>
            <a:chExt cx="6117171" cy="40689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17209" cy="4068953"/>
            </a:xfrm>
            <a:custGeom>
              <a:avLst/>
              <a:gdLst/>
              <a:ahLst/>
              <a:cxnLst/>
              <a:rect r="r" b="b" t="t" l="l"/>
              <a:pathLst>
                <a:path h="4068953" w="611720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5921121" y="0"/>
                  </a:lnTo>
                  <a:cubicBezTo>
                    <a:pt x="6029452" y="0"/>
                    <a:pt x="6117209" y="87757"/>
                    <a:pt x="6117209" y="196088"/>
                  </a:cubicBezTo>
                  <a:lnTo>
                    <a:pt x="6117209" y="3872865"/>
                  </a:lnTo>
                  <a:cubicBezTo>
                    <a:pt x="6117209" y="3981196"/>
                    <a:pt x="6029452" y="4068953"/>
                    <a:pt x="592112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2E3643"/>
            </a:solidFill>
            <a:ln w="15875" cap="sq">
              <a:solidFill>
                <a:srgbClr val="FCE4E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3544" y="2798064"/>
            <a:ext cx="475488" cy="475488"/>
            <a:chOff x="0" y="0"/>
            <a:chExt cx="633984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859"/>
                    <a:pt x="633984" y="316992"/>
                  </a:cubicBezTo>
                  <a:cubicBezTo>
                    <a:pt x="633984" y="492125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FBDCD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24186" y="2662114"/>
            <a:ext cx="5593718" cy="3051686"/>
            <a:chOff x="0" y="0"/>
            <a:chExt cx="7458291" cy="40689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58329" cy="4068953"/>
            </a:xfrm>
            <a:custGeom>
              <a:avLst/>
              <a:gdLst/>
              <a:ahLst/>
              <a:cxnLst/>
              <a:rect r="r" b="b" t="t" l="l"/>
              <a:pathLst>
                <a:path h="4068953" w="745832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7262241" y="0"/>
                  </a:lnTo>
                  <a:cubicBezTo>
                    <a:pt x="7370573" y="0"/>
                    <a:pt x="7458329" y="87757"/>
                    <a:pt x="7458329" y="196088"/>
                  </a:cubicBezTo>
                  <a:lnTo>
                    <a:pt x="7458329" y="3872865"/>
                  </a:lnTo>
                  <a:cubicBezTo>
                    <a:pt x="7458329" y="3981196"/>
                    <a:pt x="7370573" y="4068953"/>
                    <a:pt x="726224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2E3643"/>
            </a:solidFill>
            <a:ln w="15875" cap="sq">
              <a:solidFill>
                <a:srgbClr val="FFEDA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284906" y="2662114"/>
            <a:ext cx="6233798" cy="3051686"/>
            <a:chOff x="0" y="0"/>
            <a:chExt cx="8311731" cy="40689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11769" cy="4068953"/>
            </a:xfrm>
            <a:custGeom>
              <a:avLst/>
              <a:gdLst/>
              <a:ahLst/>
              <a:cxnLst/>
              <a:rect r="r" b="b" t="t" l="l"/>
              <a:pathLst>
                <a:path h="4068953" w="8311769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8115681" y="0"/>
                  </a:lnTo>
                  <a:cubicBezTo>
                    <a:pt x="8224013" y="0"/>
                    <a:pt x="8311769" y="87757"/>
                    <a:pt x="8311769" y="196088"/>
                  </a:cubicBezTo>
                  <a:lnTo>
                    <a:pt x="8311769" y="3872865"/>
                  </a:lnTo>
                  <a:cubicBezTo>
                    <a:pt x="8311769" y="3981196"/>
                    <a:pt x="8224013" y="4068953"/>
                    <a:pt x="8115681" y="4068953"/>
                  </a:cubicBezTo>
                  <a:lnTo>
                    <a:pt x="196088" y="4068953"/>
                  </a:lnTo>
                  <a:cubicBezTo>
                    <a:pt x="87757" y="4068953"/>
                    <a:pt x="0" y="3981069"/>
                    <a:pt x="0" y="3872865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77240" y="5870448"/>
            <a:ext cx="1975104" cy="512064"/>
            <a:chOff x="0" y="0"/>
            <a:chExt cx="2633472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DDEB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0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DEB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HEAVY RAIN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7240" y="6437376"/>
            <a:ext cx="1975104" cy="1517904"/>
            <a:chOff x="0" y="0"/>
            <a:chExt cx="2633472" cy="20238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47D76"/>
            </a:solidFill>
            <a:ln w="19050" cap="sq">
              <a:solidFill>
                <a:srgbClr val="DDEBD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77240" y="8083296"/>
            <a:ext cx="1975104" cy="1517904"/>
            <a:chOff x="0" y="0"/>
            <a:chExt cx="2633472" cy="20238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47D76"/>
            </a:solidFill>
            <a:ln w="19050" cap="sq">
              <a:solidFill>
                <a:srgbClr val="DDEBD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52344" y="7955280"/>
            <a:ext cx="274320" cy="148273"/>
            <a:chOff x="0" y="0"/>
            <a:chExt cx="243840" cy="1317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026664" y="5870448"/>
            <a:ext cx="1975104" cy="512064"/>
            <a:chOff x="0" y="0"/>
            <a:chExt cx="2633472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F6DC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0–3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6DC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EXPOSURE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026664" y="6437376"/>
            <a:ext cx="1975104" cy="1517904"/>
            <a:chOff x="0" y="0"/>
            <a:chExt cx="2633472" cy="20238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81767B"/>
            </a:solidFill>
            <a:ln w="19050" cap="sq">
              <a:solidFill>
                <a:srgbClr val="F6DCD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026664" y="8083296"/>
            <a:ext cx="1975104" cy="1517904"/>
            <a:chOff x="0" y="0"/>
            <a:chExt cx="2633472" cy="20238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81767B"/>
            </a:solidFill>
            <a:ln w="19050" cap="sq">
              <a:solidFill>
                <a:srgbClr val="F6DCD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276088" y="5870448"/>
            <a:ext cx="1975104" cy="512064"/>
            <a:chOff x="0" y="0"/>
            <a:chExt cx="2633472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FBE8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3–12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FBE8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SILENT SPREAD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276088" y="6437376"/>
            <a:ext cx="1975104" cy="3163824"/>
            <a:chOff x="0" y="0"/>
            <a:chExt cx="2633472" cy="4218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33472" cy="4218432"/>
            </a:xfrm>
            <a:custGeom>
              <a:avLst/>
              <a:gdLst/>
              <a:ahLst/>
              <a:cxnLst/>
              <a:rect r="r" b="b" t="t" l="l"/>
              <a:pathLst>
                <a:path h="421843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4072128"/>
                  </a:lnTo>
                  <a:cubicBezTo>
                    <a:pt x="2633472" y="4152900"/>
                    <a:pt x="2567940" y="4218432"/>
                    <a:pt x="2487168" y="4218432"/>
                  </a:cubicBezTo>
                  <a:lnTo>
                    <a:pt x="146304" y="4218432"/>
                  </a:lnTo>
                  <a:cubicBezTo>
                    <a:pt x="65532" y="4218432"/>
                    <a:pt x="0" y="4152900"/>
                    <a:pt x="0" y="4072128"/>
                  </a:cubicBezTo>
                  <a:close/>
                </a:path>
              </a:pathLst>
            </a:custGeom>
            <a:solidFill>
              <a:srgbClr val="847B6E"/>
            </a:solidFill>
            <a:ln w="19050" cap="sq">
              <a:solidFill>
                <a:srgbClr val="FBE8C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525512" y="5870448"/>
            <a:ext cx="1975104" cy="512064"/>
            <a:chOff x="0" y="0"/>
            <a:chExt cx="2633472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E8E0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7–12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E8E0F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SURGE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25512" y="6437376"/>
            <a:ext cx="1975104" cy="1517904"/>
            <a:chOff x="0" y="0"/>
            <a:chExt cx="2633472" cy="20238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97886"/>
            </a:solidFill>
            <a:ln w="19050" cap="sq">
              <a:solidFill>
                <a:srgbClr val="E8E0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525512" y="8083296"/>
            <a:ext cx="1975104" cy="1517904"/>
            <a:chOff x="0" y="0"/>
            <a:chExt cx="2633472" cy="20238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33472" cy="2023872"/>
            </a:xfrm>
            <a:custGeom>
              <a:avLst/>
              <a:gdLst/>
              <a:ahLst/>
              <a:cxnLst/>
              <a:rect r="r" b="b" t="t" l="l"/>
              <a:pathLst>
                <a:path h="202387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877568"/>
                  </a:lnTo>
                  <a:cubicBezTo>
                    <a:pt x="2633472" y="1958340"/>
                    <a:pt x="2567940" y="2023872"/>
                    <a:pt x="2487168" y="2023872"/>
                  </a:cubicBezTo>
                  <a:lnTo>
                    <a:pt x="146304" y="2023872"/>
                  </a:lnTo>
                  <a:cubicBezTo>
                    <a:pt x="65532" y="2023872"/>
                    <a:pt x="0" y="1958340"/>
                    <a:pt x="0" y="1877568"/>
                  </a:cubicBezTo>
                  <a:close/>
                </a:path>
              </a:pathLst>
            </a:custGeom>
            <a:solidFill>
              <a:srgbClr val="797886"/>
            </a:solidFill>
            <a:ln w="19050" cap="sq">
              <a:solidFill>
                <a:srgbClr val="E8E0F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74936" y="5870448"/>
            <a:ext cx="1975104" cy="512064"/>
            <a:chOff x="0" y="0"/>
            <a:chExt cx="2633472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33472" cy="682752"/>
            </a:xfrm>
            <a:custGeom>
              <a:avLst/>
              <a:gdLst/>
              <a:ahLst/>
              <a:cxnLst/>
              <a:rect r="r" b="b" t="t" l="l"/>
              <a:pathLst>
                <a:path h="68275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633472" cy="71132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b="true" sz="1100">
                  <a:solidFill>
                    <a:srgbClr val="D6E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WEEKS LATER</a:t>
              </a:r>
            </a:p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D6E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 RESPONSE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74936" y="6437376"/>
            <a:ext cx="1975104" cy="969264"/>
            <a:chOff x="0" y="0"/>
            <a:chExt cx="2633472" cy="12923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707D80"/>
            </a:solidFill>
            <a:ln w="19050" cap="sq">
              <a:solidFill>
                <a:srgbClr val="D6EEE8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774936" y="7534656"/>
            <a:ext cx="1975104" cy="969264"/>
            <a:chOff x="0" y="0"/>
            <a:chExt cx="2633472" cy="12923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707D80"/>
            </a:solidFill>
            <a:ln w="19050" cap="sq">
              <a:solidFill>
                <a:srgbClr val="D6EE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774936" y="8631936"/>
            <a:ext cx="1975104" cy="969264"/>
            <a:chOff x="0" y="0"/>
            <a:chExt cx="2633472" cy="12923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33472" cy="1292352"/>
            </a:xfrm>
            <a:custGeom>
              <a:avLst/>
              <a:gdLst/>
              <a:ahLst/>
              <a:cxnLst/>
              <a:rect r="r" b="b" t="t" l="l"/>
              <a:pathLst>
                <a:path h="1292352" w="263347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487168" y="0"/>
                  </a:lnTo>
                  <a:cubicBezTo>
                    <a:pt x="2567940" y="0"/>
                    <a:pt x="2633472" y="65532"/>
                    <a:pt x="2633472" y="146304"/>
                  </a:cubicBezTo>
                  <a:lnTo>
                    <a:pt x="2633472" y="1146048"/>
                  </a:lnTo>
                  <a:cubicBezTo>
                    <a:pt x="2633472" y="1226820"/>
                    <a:pt x="2567940" y="1292352"/>
                    <a:pt x="2487168" y="1292352"/>
                  </a:cubicBezTo>
                  <a:lnTo>
                    <a:pt x="146304" y="1292352"/>
                  </a:lnTo>
                  <a:cubicBezTo>
                    <a:pt x="65532" y="1292352"/>
                    <a:pt x="0" y="1226820"/>
                    <a:pt x="0" y="1146048"/>
                  </a:cubicBezTo>
                  <a:close/>
                </a:path>
              </a:pathLst>
            </a:custGeom>
            <a:solidFill>
              <a:srgbClr val="707D80"/>
            </a:solidFill>
            <a:ln w="19050" cap="sq">
              <a:solidFill>
                <a:srgbClr val="D6EEE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016426" y="6092190"/>
            <a:ext cx="5502278" cy="3516954"/>
            <a:chOff x="0" y="0"/>
            <a:chExt cx="7336371" cy="46892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36282" cy="4689188"/>
            </a:xfrm>
            <a:custGeom>
              <a:avLst/>
              <a:gdLst/>
              <a:ahLst/>
              <a:cxnLst/>
              <a:rect r="r" b="b" t="t" l="l"/>
              <a:pathLst>
                <a:path h="4689188" w="7336282">
                  <a:moveTo>
                    <a:pt x="0" y="183829"/>
                  </a:moveTo>
                  <a:cubicBezTo>
                    <a:pt x="0" y="82377"/>
                    <a:pt x="87757" y="0"/>
                    <a:pt x="195834" y="0"/>
                  </a:cubicBezTo>
                  <a:lnTo>
                    <a:pt x="7140448" y="0"/>
                  </a:lnTo>
                  <a:cubicBezTo>
                    <a:pt x="7248652" y="0"/>
                    <a:pt x="7336282" y="82377"/>
                    <a:pt x="7336282" y="183829"/>
                  </a:cubicBezTo>
                  <a:lnTo>
                    <a:pt x="7336282" y="4505359"/>
                  </a:lnTo>
                  <a:cubicBezTo>
                    <a:pt x="7336282" y="4606930"/>
                    <a:pt x="7248525" y="4689188"/>
                    <a:pt x="7140448" y="4689188"/>
                  </a:cubicBezTo>
                  <a:lnTo>
                    <a:pt x="195834" y="4689188"/>
                  </a:lnTo>
                  <a:cubicBezTo>
                    <a:pt x="87757" y="4689310"/>
                    <a:pt x="0" y="4606930"/>
                    <a:pt x="0" y="4505359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161520" y="6711696"/>
            <a:ext cx="2282342" cy="479146"/>
            <a:chOff x="0" y="0"/>
            <a:chExt cx="3043123" cy="63886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252960" y="6711696"/>
            <a:ext cx="2099462" cy="479146"/>
            <a:chOff x="0" y="0"/>
            <a:chExt cx="2799283" cy="6388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IHIP (govt health portal)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flipV="true">
            <a:off x="14443805" y="6887191"/>
            <a:ext cx="457257" cy="64078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3" id="63"/>
          <p:cNvGrpSpPr/>
          <p:nvPr/>
        </p:nvGrpSpPr>
        <p:grpSpPr>
          <a:xfrm rot="0">
            <a:off x="14901062" y="6711696"/>
            <a:ext cx="2472538" cy="479146"/>
            <a:chOff x="0" y="0"/>
            <a:chExt cx="3296717" cy="63886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992502" y="6711696"/>
            <a:ext cx="2289658" cy="479146"/>
            <a:chOff x="0" y="0"/>
            <a:chExt cx="3052877" cy="63886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Officials only; counts cases already seen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161520" y="7282282"/>
            <a:ext cx="2282342" cy="479146"/>
            <a:chOff x="0" y="0"/>
            <a:chExt cx="3043123" cy="63886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252960" y="7282282"/>
            <a:ext cx="2099462" cy="479146"/>
            <a:chOff x="0" y="0"/>
            <a:chExt cx="2799283" cy="63886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IDSP weekly reports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901062" y="7282282"/>
            <a:ext cx="2472538" cy="479146"/>
            <a:chOff x="0" y="0"/>
            <a:chExt cx="3296717" cy="63886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4992502" y="7282282"/>
            <a:ext cx="2289658" cy="479146"/>
            <a:chOff x="0" y="0"/>
            <a:chExt cx="3052877" cy="63886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 online ~6 weeks late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161520" y="7852867"/>
            <a:ext cx="2282342" cy="479146"/>
            <a:chOff x="0" y="0"/>
            <a:chExt cx="3043123" cy="63886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2252960" y="7852867"/>
            <a:ext cx="2099462" cy="479146"/>
            <a:chOff x="0" y="0"/>
            <a:chExt cx="2799283" cy="63886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Sentinel (AI news scan)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901062" y="7852867"/>
            <a:ext cx="2472538" cy="479146"/>
            <a:chOff x="0" y="0"/>
            <a:chExt cx="3296717" cy="63886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992502" y="7852867"/>
            <a:ext cx="2289658" cy="479146"/>
            <a:chOff x="0" y="0"/>
            <a:chExt cx="3052877" cy="63886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Alerts after people fall sick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161520" y="8423453"/>
            <a:ext cx="2282342" cy="479146"/>
            <a:chOff x="0" y="0"/>
            <a:chExt cx="3043123" cy="63886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2252960" y="8423453"/>
            <a:ext cx="2099462" cy="479146"/>
            <a:chOff x="0" y="0"/>
            <a:chExt cx="2799283" cy="63886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ARTPARK dengue forecast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901062" y="8423453"/>
            <a:ext cx="2472538" cy="479146"/>
            <a:chOff x="0" y="0"/>
            <a:chExt cx="3296717" cy="63886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4992502" y="8423453"/>
            <a:ext cx="2289658" cy="479146"/>
            <a:chOff x="0" y="0"/>
            <a:chExt cx="3052877" cy="63886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Dengue only; Karnataka, not Mumbai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161520" y="8994038"/>
            <a:ext cx="2282342" cy="479146"/>
            <a:chOff x="0" y="0"/>
            <a:chExt cx="3043123" cy="63886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043047" cy="638810"/>
            </a:xfrm>
            <a:custGeom>
              <a:avLst/>
              <a:gdLst/>
              <a:ahLst/>
              <a:cxnLst/>
              <a:rect r="r" b="b" t="t" l="l"/>
              <a:pathLst>
                <a:path h="638810" w="3043047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723642" y="0"/>
                  </a:lnTo>
                  <a:cubicBezTo>
                    <a:pt x="2900045" y="0"/>
                    <a:pt x="3043047" y="143002"/>
                    <a:pt x="3043047" y="319405"/>
                  </a:cubicBezTo>
                  <a:cubicBezTo>
                    <a:pt x="3043047" y="495808"/>
                    <a:pt x="2900172" y="638810"/>
                    <a:pt x="2723642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756966"/>
            </a:solidFill>
            <a:ln w="19050" cap="sq">
              <a:solidFill>
                <a:srgbClr val="FCDDB8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252960" y="8994038"/>
            <a:ext cx="2099462" cy="479146"/>
            <a:chOff x="0" y="0"/>
            <a:chExt cx="2799283" cy="63886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99283" cy="638860"/>
            </a:xfrm>
            <a:custGeom>
              <a:avLst/>
              <a:gdLst/>
              <a:ahLst/>
              <a:cxnLst/>
              <a:rect r="r" b="b" t="t" l="l"/>
              <a:pathLst>
                <a:path h="638860" w="2799283">
                  <a:moveTo>
                    <a:pt x="0" y="0"/>
                  </a:moveTo>
                  <a:lnTo>
                    <a:pt x="2799283" y="0"/>
                  </a:lnTo>
                  <a:lnTo>
                    <a:pt x="2799283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377" r="0" b="-3537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2799283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CDD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BMC advisories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901062" y="8994038"/>
            <a:ext cx="2472538" cy="479146"/>
            <a:chOff x="0" y="0"/>
            <a:chExt cx="3296717" cy="63886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296666" cy="638810"/>
            </a:xfrm>
            <a:custGeom>
              <a:avLst/>
              <a:gdLst/>
              <a:ahLst/>
              <a:cxnLst/>
              <a:rect r="r" b="b" t="t" l="l"/>
              <a:pathLst>
                <a:path h="638810" w="3296666">
                  <a:moveTo>
                    <a:pt x="0" y="319405"/>
                  </a:moveTo>
                  <a:cubicBezTo>
                    <a:pt x="0" y="143002"/>
                    <a:pt x="143002" y="0"/>
                    <a:pt x="319405" y="0"/>
                  </a:cubicBezTo>
                  <a:lnTo>
                    <a:pt x="2977261" y="0"/>
                  </a:lnTo>
                  <a:cubicBezTo>
                    <a:pt x="3153664" y="0"/>
                    <a:pt x="3296666" y="143002"/>
                    <a:pt x="3296666" y="319405"/>
                  </a:cubicBezTo>
                  <a:cubicBezTo>
                    <a:pt x="3296666" y="495808"/>
                    <a:pt x="3153664" y="638810"/>
                    <a:pt x="2977261" y="638810"/>
                  </a:cubicBezTo>
                  <a:lnTo>
                    <a:pt x="319405" y="638810"/>
                  </a:lnTo>
                  <a:cubicBezTo>
                    <a:pt x="143002" y="638810"/>
                    <a:pt x="0" y="495808"/>
                    <a:pt x="0" y="319405"/>
                  </a:cubicBezTo>
                  <a:close/>
                </a:path>
              </a:pathLst>
            </a:custGeom>
            <a:solidFill>
              <a:srgbClr val="6B4E3B"/>
            </a:solidFill>
            <a:ln w="19050" cap="sq">
              <a:solidFill>
                <a:srgbClr val="F6A863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992502" y="8994038"/>
            <a:ext cx="2289658" cy="479146"/>
            <a:chOff x="0" y="0"/>
            <a:chExt cx="3052877" cy="63886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052876" cy="638860"/>
            </a:xfrm>
            <a:custGeom>
              <a:avLst/>
              <a:gdLst/>
              <a:ahLst/>
              <a:cxnLst/>
              <a:rect r="r" b="b" t="t" l="l"/>
              <a:pathLst>
                <a:path h="638860" w="3052876">
                  <a:moveTo>
                    <a:pt x="0" y="0"/>
                  </a:moveTo>
                  <a:lnTo>
                    <a:pt x="3052876" y="0"/>
                  </a:lnTo>
                  <a:lnTo>
                    <a:pt x="3052876" y="638860"/>
                  </a:lnTo>
                  <a:lnTo>
                    <a:pt x="0" y="6388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111" r="0" b="-4311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3052877" cy="6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00"/>
                </a:lnSpc>
              </a:pPr>
              <a:r>
                <a:rPr lang="en-US" b="true" sz="1250">
                  <a:solidFill>
                    <a:srgbClr val="F6A8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Citywide, days after the flood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1028700" y="2907430"/>
            <a:ext cx="250185" cy="225166"/>
          </a:xfrm>
          <a:custGeom>
            <a:avLst/>
            <a:gdLst/>
            <a:ahLst/>
            <a:cxnLst/>
            <a:rect r="r" b="b" t="t" l="l"/>
            <a:pathLst>
              <a:path h="225166" w="250185">
                <a:moveTo>
                  <a:pt x="0" y="0"/>
                </a:moveTo>
                <a:lnTo>
                  <a:pt x="250185" y="0"/>
                </a:lnTo>
                <a:lnTo>
                  <a:pt x="250185" y="225166"/>
                </a:lnTo>
                <a:lnTo>
                  <a:pt x="0" y="225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5660136" y="2822067"/>
            <a:ext cx="475488" cy="475488"/>
            <a:chOff x="0" y="0"/>
            <a:chExt cx="633984" cy="6339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33984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">
                  <a:moveTo>
                    <a:pt x="0" y="316992"/>
                  </a:moveTo>
                  <a:cubicBezTo>
                    <a:pt x="0" y="141859"/>
                    <a:pt x="141859" y="0"/>
                    <a:pt x="316992" y="0"/>
                  </a:cubicBezTo>
                  <a:cubicBezTo>
                    <a:pt x="492125" y="0"/>
                    <a:pt x="633984" y="141859"/>
                    <a:pt x="633984" y="316992"/>
                  </a:cubicBezTo>
                  <a:cubicBezTo>
                    <a:pt x="633984" y="492125"/>
                    <a:pt x="492125" y="633984"/>
                    <a:pt x="316992" y="633984"/>
                  </a:cubicBezTo>
                  <a:cubicBezTo>
                    <a:pt x="141859" y="633984"/>
                    <a:pt x="0" y="492125"/>
                    <a:pt x="0" y="316992"/>
                  </a:cubicBezTo>
                  <a:close/>
                </a:path>
              </a:pathLst>
            </a:custGeom>
            <a:solidFill>
              <a:srgbClr val="FFEDA4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5765292" y="2931433"/>
            <a:ext cx="250185" cy="225166"/>
          </a:xfrm>
          <a:custGeom>
            <a:avLst/>
            <a:gdLst/>
            <a:ahLst/>
            <a:cxnLst/>
            <a:rect r="r" b="b" t="t" l="l"/>
            <a:pathLst>
              <a:path h="225166" w="250185">
                <a:moveTo>
                  <a:pt x="0" y="0"/>
                </a:moveTo>
                <a:lnTo>
                  <a:pt x="250185" y="0"/>
                </a:lnTo>
                <a:lnTo>
                  <a:pt x="250185" y="225166"/>
                </a:lnTo>
                <a:lnTo>
                  <a:pt x="0" y="225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11276962" y="2635953"/>
            <a:ext cx="6233798" cy="466344"/>
            <a:chOff x="0" y="0"/>
            <a:chExt cx="8311731" cy="62179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311731" cy="621792"/>
            </a:xfrm>
            <a:custGeom>
              <a:avLst/>
              <a:gdLst/>
              <a:ahLst/>
              <a:cxnLst/>
              <a:rect r="r" b="b" t="t" l="l"/>
              <a:pathLst>
                <a:path h="621792" w="8311731">
                  <a:moveTo>
                    <a:pt x="0" y="310896"/>
                  </a:moveTo>
                  <a:cubicBezTo>
                    <a:pt x="0" y="139192"/>
                    <a:pt x="71080" y="0"/>
                    <a:pt x="158763" y="0"/>
                  </a:cubicBezTo>
                  <a:lnTo>
                    <a:pt x="8152967" y="0"/>
                  </a:lnTo>
                  <a:cubicBezTo>
                    <a:pt x="8240650" y="0"/>
                    <a:pt x="8311731" y="139192"/>
                    <a:pt x="8311731" y="310896"/>
                  </a:cubicBezTo>
                  <a:cubicBezTo>
                    <a:pt x="8311731" y="482600"/>
                    <a:pt x="8240650" y="621792"/>
                    <a:pt x="8152967" y="621792"/>
                  </a:cubicBezTo>
                  <a:lnTo>
                    <a:pt x="158763" y="621792"/>
                  </a:lnTo>
                  <a:cubicBezTo>
                    <a:pt x="7108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4992624" y="7955280"/>
            <a:ext cx="274320" cy="148273"/>
            <a:chOff x="0" y="0"/>
            <a:chExt cx="243840" cy="13179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7296912" y="7955280"/>
            <a:ext cx="274320" cy="148273"/>
            <a:chOff x="0" y="0"/>
            <a:chExt cx="243840" cy="1317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473184" y="7955280"/>
            <a:ext cx="274320" cy="148273"/>
            <a:chOff x="0" y="0"/>
            <a:chExt cx="243840" cy="13179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43840" cy="131798"/>
            </a:xfrm>
            <a:custGeom>
              <a:avLst/>
              <a:gdLst/>
              <a:ahLst/>
              <a:cxnLst/>
              <a:rect r="r" b="b" t="t" l="l"/>
              <a:pathLst>
                <a:path h="131798" w="243840">
                  <a:moveTo>
                    <a:pt x="0" y="32950"/>
                  </a:moveTo>
                  <a:lnTo>
                    <a:pt x="121920" y="32950"/>
                  </a:lnTo>
                  <a:lnTo>
                    <a:pt x="121920" y="0"/>
                  </a:lnTo>
                  <a:lnTo>
                    <a:pt x="243840" y="65899"/>
                  </a:lnTo>
                  <a:lnTo>
                    <a:pt x="121920" y="131798"/>
                  </a:lnTo>
                  <a:lnTo>
                    <a:pt x="121920" y="98849"/>
                  </a:lnTo>
                  <a:lnTo>
                    <a:pt x="0" y="98849"/>
                  </a:lnTo>
                  <a:close/>
                </a:path>
              </a:pathLst>
            </a:custGeom>
            <a:solidFill>
              <a:srgbClr val="9AA5B1"/>
            </a:solid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847948" y="6541242"/>
            <a:ext cx="305845" cy="249263"/>
          </a:xfrm>
          <a:custGeom>
            <a:avLst/>
            <a:gdLst/>
            <a:ahLst/>
            <a:cxnLst/>
            <a:rect r="r" b="b" t="t" l="l"/>
            <a:pathLst>
              <a:path h="249263" w="305845">
                <a:moveTo>
                  <a:pt x="0" y="0"/>
                </a:moveTo>
                <a:lnTo>
                  <a:pt x="305844" y="0"/>
                </a:lnTo>
                <a:lnTo>
                  <a:pt x="305844" y="249264"/>
                </a:lnTo>
                <a:lnTo>
                  <a:pt x="0" y="2492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861689" y="8188452"/>
            <a:ext cx="278362" cy="237999"/>
          </a:xfrm>
          <a:custGeom>
            <a:avLst/>
            <a:gdLst/>
            <a:ahLst/>
            <a:cxnLst/>
            <a:rect r="r" b="b" t="t" l="l"/>
            <a:pathLst>
              <a:path h="237999" w="278362">
                <a:moveTo>
                  <a:pt x="0" y="0"/>
                </a:moveTo>
                <a:lnTo>
                  <a:pt x="278362" y="0"/>
                </a:lnTo>
                <a:lnTo>
                  <a:pt x="278362" y="237999"/>
                </a:lnTo>
                <a:lnTo>
                  <a:pt x="0" y="2379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3101536" y="8188452"/>
            <a:ext cx="213067" cy="223107"/>
          </a:xfrm>
          <a:custGeom>
            <a:avLst/>
            <a:gdLst/>
            <a:ahLst/>
            <a:cxnLst/>
            <a:rect r="r" b="b" t="t" l="l"/>
            <a:pathLst>
              <a:path h="223107" w="213067">
                <a:moveTo>
                  <a:pt x="0" y="0"/>
                </a:moveTo>
                <a:lnTo>
                  <a:pt x="213067" y="0"/>
                </a:lnTo>
                <a:lnTo>
                  <a:pt x="213067" y="223107"/>
                </a:lnTo>
                <a:lnTo>
                  <a:pt x="0" y="2231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7622667" y="8159176"/>
            <a:ext cx="231968" cy="231968"/>
          </a:xfrm>
          <a:custGeom>
            <a:avLst/>
            <a:gdLst/>
            <a:ahLst/>
            <a:cxnLst/>
            <a:rect r="r" b="b" t="t" l="l"/>
            <a:pathLst>
              <a:path h="231968" w="231968">
                <a:moveTo>
                  <a:pt x="0" y="0"/>
                </a:moveTo>
                <a:lnTo>
                  <a:pt x="231968" y="0"/>
                </a:lnTo>
                <a:lnTo>
                  <a:pt x="231968" y="231968"/>
                </a:lnTo>
                <a:lnTo>
                  <a:pt x="0" y="2319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3118104" y="6548526"/>
            <a:ext cx="200352" cy="200352"/>
          </a:xfrm>
          <a:custGeom>
            <a:avLst/>
            <a:gdLst/>
            <a:ahLst/>
            <a:cxnLst/>
            <a:rect r="r" b="b" t="t" l="l"/>
            <a:pathLst>
              <a:path h="200352" w="200352">
                <a:moveTo>
                  <a:pt x="0" y="0"/>
                </a:moveTo>
                <a:lnTo>
                  <a:pt x="200352" y="0"/>
                </a:lnTo>
                <a:lnTo>
                  <a:pt x="200352" y="200352"/>
                </a:lnTo>
                <a:lnTo>
                  <a:pt x="0" y="2003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9862566" y="6510528"/>
            <a:ext cx="263032" cy="207795"/>
          </a:xfrm>
          <a:custGeom>
            <a:avLst/>
            <a:gdLst/>
            <a:ahLst/>
            <a:cxnLst/>
            <a:rect r="r" b="b" t="t" l="l"/>
            <a:pathLst>
              <a:path h="207795" w="263032">
                <a:moveTo>
                  <a:pt x="0" y="0"/>
                </a:moveTo>
                <a:lnTo>
                  <a:pt x="263032" y="0"/>
                </a:lnTo>
                <a:lnTo>
                  <a:pt x="263032" y="207795"/>
                </a:lnTo>
                <a:lnTo>
                  <a:pt x="0" y="20779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9891141" y="8714537"/>
            <a:ext cx="196291" cy="196291"/>
          </a:xfrm>
          <a:custGeom>
            <a:avLst/>
            <a:gdLst/>
            <a:ahLst/>
            <a:cxnLst/>
            <a:rect r="r" b="b" t="t" l="l"/>
            <a:pathLst>
              <a:path h="196291" w="196291">
                <a:moveTo>
                  <a:pt x="0" y="0"/>
                </a:moveTo>
                <a:lnTo>
                  <a:pt x="196291" y="0"/>
                </a:lnTo>
                <a:lnTo>
                  <a:pt x="196291" y="196291"/>
                </a:lnTo>
                <a:lnTo>
                  <a:pt x="0" y="19629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5357184" y="6565888"/>
            <a:ext cx="264852" cy="275888"/>
          </a:xfrm>
          <a:custGeom>
            <a:avLst/>
            <a:gdLst/>
            <a:ahLst/>
            <a:cxnLst/>
            <a:rect r="r" b="b" t="t" l="l"/>
            <a:pathLst>
              <a:path h="275888" w="264852">
                <a:moveTo>
                  <a:pt x="0" y="0"/>
                </a:moveTo>
                <a:lnTo>
                  <a:pt x="264852" y="0"/>
                </a:lnTo>
                <a:lnTo>
                  <a:pt x="264852" y="275888"/>
                </a:lnTo>
                <a:lnTo>
                  <a:pt x="0" y="2758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7616952" y="6519672"/>
            <a:ext cx="283323" cy="301407"/>
          </a:xfrm>
          <a:custGeom>
            <a:avLst/>
            <a:gdLst/>
            <a:ahLst/>
            <a:cxnLst/>
            <a:rect r="r" b="b" t="t" l="l"/>
            <a:pathLst>
              <a:path h="301407" w="283323">
                <a:moveTo>
                  <a:pt x="0" y="0"/>
                </a:moveTo>
                <a:lnTo>
                  <a:pt x="283323" y="0"/>
                </a:lnTo>
                <a:lnTo>
                  <a:pt x="283323" y="301407"/>
                </a:lnTo>
                <a:lnTo>
                  <a:pt x="0" y="30140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9896941" y="7599967"/>
            <a:ext cx="194282" cy="271723"/>
          </a:xfrm>
          <a:custGeom>
            <a:avLst/>
            <a:gdLst/>
            <a:ahLst/>
            <a:cxnLst/>
            <a:rect r="r" b="b" t="t" l="l"/>
            <a:pathLst>
              <a:path h="271723" w="194282">
                <a:moveTo>
                  <a:pt x="0" y="0"/>
                </a:moveTo>
                <a:lnTo>
                  <a:pt x="194282" y="0"/>
                </a:lnTo>
                <a:lnTo>
                  <a:pt x="194282" y="271723"/>
                </a:lnTo>
                <a:lnTo>
                  <a:pt x="0" y="2717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0" id="130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Analysis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4477007" y="1946148"/>
            <a:ext cx="13170913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EE6E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Mumbai's monsoon outbreaks are predictable. The response isn't.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5769864" y="3345180"/>
            <a:ext cx="512064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catch leptospirosis on predictable days: when they wade through floodwater. BMC says preventive care must start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within 72 hours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 But today: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Advice is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citywide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and comes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days after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the flood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Official outbreak reports go online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~6 weeks later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 tools read the news only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people fall sick</a:t>
            </a:r>
          </a:p>
          <a:p>
            <a:pPr algn="l" marL="180975" indent="-90488" lvl="1">
              <a:lnSpc>
                <a:spcPts val="1800"/>
              </a:lnSpc>
            </a:pPr>
            <a:r>
              <a:rPr lang="en-US" b="true" sz="1500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Result:</a:t>
            </a:r>
            <a:r>
              <a:rPr lang="en-US" sz="1500">
                <a:solidFill>
                  <a:srgbClr val="FBDCD9"/>
                </a:solidFill>
                <a:latin typeface="Calibri (MS)"/>
                <a:ea typeface="Calibri (MS)"/>
                <a:cs typeface="Calibri (MS)"/>
                <a:sym typeface="Calibri (MS)"/>
              </a:rPr>
              <a:t> the warning comes after the window has closed.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2024360" y="3272028"/>
            <a:ext cx="5321808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Families in flood-prone slums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About 4 in 10 Mumbaikars live in slums, many next to chronic flood spots.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2024360" y="4052316"/>
            <a:ext cx="5321808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BMC health teams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Must spread limited fever camps, doctors and spray teams over 24 wards, without knowing where cases will hit.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2024360" y="4832604"/>
            <a:ext cx="532180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Hospitals &amp; blood banks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Get sudden fever surges; dengue patients need platelets that last only 5 days.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5665470" y="6556248"/>
            <a:ext cx="15361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BE8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NOBODY IS WARNED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5358384" y="7022973"/>
            <a:ext cx="1810512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symptoms yet (germs incubate up to 2 weeks)</a:t>
            </a:r>
          </a:p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Mosquitoes breed in stagnant water</a:t>
            </a:r>
          </a:p>
          <a:p>
            <a:pPr algn="l" marL="162878" indent="-81439" lvl="1">
              <a:lnSpc>
                <a:spcPts val="1620"/>
              </a:lnSpc>
              <a:buFont typeface="Arial"/>
              <a:buChar char="•"/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 ward-level warning goes out</a:t>
            </a:r>
          </a:p>
          <a:p>
            <a:pPr algn="l" marL="162878" indent="-81439" lvl="1">
              <a:lnSpc>
                <a:spcPts val="1620"/>
              </a:lnSpc>
            </a:pPr>
            <a:r>
              <a:rPr lang="en-US" b="true" sz="1350">
                <a:solidFill>
                  <a:srgbClr val="FFEDA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Result:</a:t>
            </a:r>
            <a:r>
              <a:rPr lang="en-US" sz="1350">
                <a:solidFill>
                  <a:srgbClr val="FFEDA4"/>
                </a:solidFill>
                <a:latin typeface="Calibri (MS)"/>
                <a:ea typeface="Calibri (MS)"/>
                <a:cs typeface="Calibri (MS)"/>
                <a:sym typeface="Calibri (MS)"/>
              </a:rPr>
              <a:t> people fall sick before anyone warns them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7978766" y="6548283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E8E0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HOSPITALS FILL UP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7616952" y="6858616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Fever cases jump; late treatment makes leptospirosis deadly.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7914894" y="8138763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E8E0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BLOOD RUSH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640574" y="8420481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Dengue patients need platelets, which last only 5 days.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0158984" y="6472428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6EEE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CITYWIDE ADVICE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9866376" y="680199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One message for all wards, days later.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0189076" y="7605979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6EEE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OFFICIAL REPORTS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9866376" y="789927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IDSP outbreak data goes online ~6 weeks later.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0158984" y="8666988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6EEE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NEWS-BASED AI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9866376" y="8996553"/>
            <a:ext cx="1810512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Flags outbreaks only after media reports.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2161520" y="6353937"/>
            <a:ext cx="228234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EXISTS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4901062" y="6353937"/>
            <a:ext cx="247253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b="true" sz="1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IT MISSES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777240" y="9627489"/>
            <a:ext cx="1673352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i="true">
                <a:solidFill>
                  <a:srgbClr val="5B657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Sources: BMC data via Free Press Journal (2025–26) · Supe et al., Natl Med J India (2018) · IDSP/NCDC weekly outbreak reports · Wadhwani AI Health Sentinel (2025) · ARTPARK–BBMP · Census 2011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014984" y="3345180"/>
            <a:ext cx="4114800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Every monsoon, floods spread leptospirosis, dengue and malaria across Mumbai.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66 suspected deaths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from these 3 diseases in 2025 (BMC review)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8× jump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in leptospirosis after the 26 July 2005 deluge</a:t>
            </a:r>
          </a:p>
          <a:p>
            <a:pPr algn="l" marL="180975" indent="-90488" lvl="1">
              <a:lnSpc>
                <a:spcPts val="1800"/>
              </a:lnSpc>
              <a:buFont typeface="Arial"/>
              <a:buChar char="•"/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July 2026: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leptospirosis cases more than doubled, </a:t>
            </a: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 → 78</a:t>
            </a: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after a week of heavy rain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216152" y="6510426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DE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CLOUDBURST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875157" y="6911581"/>
            <a:ext cx="1810512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Up to ~944 mm of rain in a single day (26 Jul 2005).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233297" y="8188119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DDEBD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FLOODED STREETS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873252" y="8562594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BMC lists 386 flood spots (2022); people wade through to get home.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3416046" y="6510147"/>
            <a:ext cx="153619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6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INFECTION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3122676" y="6911581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Germs from rat urine in floodwater enter through cuts and wet skin.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3398423" y="8167211"/>
            <a:ext cx="155381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F6DCD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72-HOUR WINDOW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3122676" y="8513635"/>
            <a:ext cx="1810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BMC advice: start preventive care within 24–72 hours.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527048" y="2821500"/>
            <a:ext cx="24505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lang="en-US" b="true" sz="2199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EAL-</a:t>
            </a:r>
            <a:r>
              <a:rPr lang="en-US" b="true" sz="2199">
                <a:solidFill>
                  <a:srgbClr val="FBDC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WORLD ISSUE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6332220" y="2845498"/>
            <a:ext cx="434232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EDA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KEEPS HAPPENING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2947206" y="2714957"/>
            <a:ext cx="27945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IS AFFECTED</a:t>
            </a:r>
          </a:p>
        </p:txBody>
      </p:sp>
      <p:grpSp>
        <p:nvGrpSpPr>
          <p:cNvPr name="Group 163" id="163"/>
          <p:cNvGrpSpPr/>
          <p:nvPr/>
        </p:nvGrpSpPr>
        <p:grpSpPr>
          <a:xfrm rot="0">
            <a:off x="12016426" y="5859018"/>
            <a:ext cx="5502278" cy="466344"/>
            <a:chOff x="0" y="0"/>
            <a:chExt cx="7336371" cy="62179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336371" cy="621792"/>
            </a:xfrm>
            <a:custGeom>
              <a:avLst/>
              <a:gdLst/>
              <a:ahLst/>
              <a:cxnLst/>
              <a:rect r="r" b="b" t="t" l="l"/>
              <a:pathLst>
                <a:path h="621792" w="7336371">
                  <a:moveTo>
                    <a:pt x="0" y="310896"/>
                  </a:moveTo>
                  <a:cubicBezTo>
                    <a:pt x="0" y="139192"/>
                    <a:pt x="62739" y="0"/>
                    <a:pt x="140133" y="0"/>
                  </a:cubicBezTo>
                  <a:lnTo>
                    <a:pt x="7196238" y="0"/>
                  </a:lnTo>
                  <a:cubicBezTo>
                    <a:pt x="7273632" y="0"/>
                    <a:pt x="7336371" y="139192"/>
                    <a:pt x="7336371" y="310896"/>
                  </a:cubicBezTo>
                  <a:cubicBezTo>
                    <a:pt x="7336371" y="482600"/>
                    <a:pt x="7273632" y="621792"/>
                    <a:pt x="7196238" y="621792"/>
                  </a:cubicBezTo>
                  <a:lnTo>
                    <a:pt x="140133" y="621792"/>
                  </a:lnTo>
                  <a:cubicBezTo>
                    <a:pt x="62739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TextBox 165" id="165"/>
          <p:cNvSpPr txBox="true"/>
          <p:nvPr/>
        </p:nvSpPr>
        <p:spPr>
          <a:xfrm rot="0">
            <a:off x="12159796" y="5938022"/>
            <a:ext cx="523563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EXISTING SOLUTIONS &amp; THEIR GAPS</a:t>
            </a:r>
          </a:p>
        </p:txBody>
      </p:sp>
      <p:grpSp>
        <p:nvGrpSpPr>
          <p:cNvPr name="Group 166" id="166"/>
          <p:cNvGrpSpPr/>
          <p:nvPr/>
        </p:nvGrpSpPr>
        <p:grpSpPr>
          <a:xfrm rot="0">
            <a:off x="11430035" y="3340744"/>
            <a:ext cx="377816" cy="377816"/>
            <a:chOff x="0" y="0"/>
            <a:chExt cx="812800" cy="81280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6F9"/>
            </a:solidFill>
          </p:spPr>
        </p:sp>
        <p:sp>
          <p:nvSpPr>
            <p:cNvPr name="TextBox 168" id="16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69" id="169"/>
          <p:cNvSpPr txBox="true"/>
          <p:nvPr/>
        </p:nvSpPr>
        <p:spPr>
          <a:xfrm rot="0">
            <a:off x="11490774" y="3362965"/>
            <a:ext cx="2563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2E36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</a:p>
        </p:txBody>
      </p:sp>
      <p:grpSp>
        <p:nvGrpSpPr>
          <p:cNvPr name="Group 170" id="170"/>
          <p:cNvGrpSpPr/>
          <p:nvPr/>
        </p:nvGrpSpPr>
        <p:grpSpPr>
          <a:xfrm rot="0">
            <a:off x="11430035" y="4147668"/>
            <a:ext cx="377816" cy="377816"/>
            <a:chOff x="0" y="0"/>
            <a:chExt cx="812800" cy="8128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6F9"/>
            </a:solidFill>
          </p:spPr>
        </p:sp>
        <p:sp>
          <p:nvSpPr>
            <p:cNvPr name="TextBox 172" id="17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73" id="173"/>
          <p:cNvSpPr txBox="true"/>
          <p:nvPr/>
        </p:nvSpPr>
        <p:spPr>
          <a:xfrm rot="0">
            <a:off x="11490774" y="4169889"/>
            <a:ext cx="2563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2E36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</a:t>
            </a:r>
          </a:p>
        </p:txBody>
      </p:sp>
      <p:grpSp>
        <p:nvGrpSpPr>
          <p:cNvPr name="Group 174" id="174"/>
          <p:cNvGrpSpPr/>
          <p:nvPr/>
        </p:nvGrpSpPr>
        <p:grpSpPr>
          <a:xfrm rot="0">
            <a:off x="11430035" y="4954592"/>
            <a:ext cx="377816" cy="377816"/>
            <a:chOff x="0" y="0"/>
            <a:chExt cx="812800" cy="8128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E6F9"/>
            </a:solidFill>
          </p:spPr>
        </p:sp>
        <p:sp>
          <p:nvSpPr>
            <p:cNvPr name="TextBox 176" id="17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TextBox 177" id="177"/>
          <p:cNvSpPr txBox="true"/>
          <p:nvPr/>
        </p:nvSpPr>
        <p:spPr>
          <a:xfrm rot="0">
            <a:off x="11490774" y="4976812"/>
            <a:ext cx="25633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b="true" sz="1700">
                <a:solidFill>
                  <a:srgbClr val="2E36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</a:p>
        </p:txBody>
      </p:sp>
      <p:sp>
        <p:nvSpPr>
          <p:cNvPr name="AutoShape 178" id="178"/>
          <p:cNvSpPr/>
          <p:nvPr/>
        </p:nvSpPr>
        <p:spPr>
          <a:xfrm flipV="true">
            <a:off x="14443805" y="7475080"/>
            <a:ext cx="457257" cy="4677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9" id="179"/>
          <p:cNvSpPr/>
          <p:nvPr/>
        </p:nvSpPr>
        <p:spPr>
          <a:xfrm>
            <a:off x="14443805" y="8092440"/>
            <a:ext cx="416218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0" id="180"/>
          <p:cNvSpPr/>
          <p:nvPr/>
        </p:nvSpPr>
        <p:spPr>
          <a:xfrm flipV="true">
            <a:off x="14443805" y="8663026"/>
            <a:ext cx="457257" cy="51511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1" id="181"/>
          <p:cNvSpPr/>
          <p:nvPr/>
        </p:nvSpPr>
        <p:spPr>
          <a:xfrm>
            <a:off x="14443805" y="9233611"/>
            <a:ext cx="45725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69306" y="2662114"/>
            <a:ext cx="4039238" cy="4624454"/>
            <a:chOff x="0" y="0"/>
            <a:chExt cx="5385651" cy="61659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85562" cy="6165796"/>
            </a:xfrm>
            <a:custGeom>
              <a:avLst/>
              <a:gdLst/>
              <a:ahLst/>
              <a:cxnLst/>
              <a:rect r="r" b="b" t="t" l="l"/>
              <a:pathLst>
                <a:path h="6165796" w="5385562">
                  <a:moveTo>
                    <a:pt x="0" y="316090"/>
                  </a:moveTo>
                  <a:cubicBezTo>
                    <a:pt x="0" y="141462"/>
                    <a:pt x="87757" y="0"/>
                    <a:pt x="196088" y="0"/>
                  </a:cubicBezTo>
                  <a:lnTo>
                    <a:pt x="5189474" y="0"/>
                  </a:lnTo>
                  <a:cubicBezTo>
                    <a:pt x="5297805" y="0"/>
                    <a:pt x="5385562" y="141462"/>
                    <a:pt x="5385562" y="316090"/>
                  </a:cubicBezTo>
                  <a:lnTo>
                    <a:pt x="5385562" y="5849706"/>
                  </a:lnTo>
                  <a:cubicBezTo>
                    <a:pt x="5385562" y="6024333"/>
                    <a:pt x="5297805" y="6165795"/>
                    <a:pt x="5189474" y="6165795"/>
                  </a:cubicBezTo>
                  <a:lnTo>
                    <a:pt x="196088" y="6165795"/>
                  </a:lnTo>
                  <a:cubicBezTo>
                    <a:pt x="87757" y="6165977"/>
                    <a:pt x="0" y="6024333"/>
                    <a:pt x="0" y="5849706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CFFF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20816" y="2871216"/>
            <a:ext cx="3154680" cy="475488"/>
            <a:chOff x="0" y="0"/>
            <a:chExt cx="420624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06240" cy="633984"/>
            </a:xfrm>
            <a:custGeom>
              <a:avLst/>
              <a:gdLst/>
              <a:ahLst/>
              <a:cxnLst/>
              <a:rect r="r" b="b" t="t" l="l"/>
              <a:pathLst>
                <a:path h="633984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9275" r="0" b="-79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2062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>
                  <a:solidFill>
                    <a:srgbClr val="D2F7E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9306" y="7398706"/>
            <a:ext cx="4039238" cy="2530478"/>
            <a:chOff x="0" y="0"/>
            <a:chExt cx="5385651" cy="33739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85689" cy="3374009"/>
            </a:xfrm>
            <a:custGeom>
              <a:avLst/>
              <a:gdLst/>
              <a:ahLst/>
              <a:cxnLst/>
              <a:rect r="r" b="b" t="t" l="l"/>
              <a:pathLst>
                <a:path h="3374009" w="5385689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5189347" y="0"/>
                  </a:lnTo>
                  <a:cubicBezTo>
                    <a:pt x="5297805" y="0"/>
                    <a:pt x="5385689" y="87884"/>
                    <a:pt x="5385689" y="196342"/>
                  </a:cubicBezTo>
                  <a:lnTo>
                    <a:pt x="5385689" y="3177667"/>
                  </a:lnTo>
                  <a:cubicBezTo>
                    <a:pt x="5385689" y="3286125"/>
                    <a:pt x="5297805" y="3374009"/>
                    <a:pt x="5189347" y="3374009"/>
                  </a:cubicBezTo>
                  <a:lnTo>
                    <a:pt x="196342" y="3374009"/>
                  </a:lnTo>
                  <a:cubicBezTo>
                    <a:pt x="87884" y="3374009"/>
                    <a:pt x="0" y="3286125"/>
                    <a:pt x="0" y="3177667"/>
                  </a:cubicBezTo>
                  <a:close/>
                </a:path>
              </a:pathLst>
            </a:custGeom>
            <a:solidFill>
              <a:srgbClr val="2E3643"/>
            </a:solidFill>
            <a:ln w="15875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7507224"/>
            <a:ext cx="457200" cy="457200"/>
            <a:chOff x="0" y="0"/>
            <a:chExt cx="609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9556" y="7612380"/>
            <a:ext cx="246888" cy="246888"/>
            <a:chOff x="0" y="0"/>
            <a:chExt cx="329184" cy="329184"/>
          </a:xfrm>
        </p:grpSpPr>
        <p:sp>
          <p:nvSpPr>
            <p:cNvPr name="Freeform 20" id="20" descr="EB44_FFFFFF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72184" y="7516368"/>
            <a:ext cx="3200400" cy="438912"/>
            <a:chOff x="0" y="0"/>
            <a:chExt cx="426720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2078" r="0" b="-920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C2E6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Levels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3544" y="8069580"/>
            <a:ext cx="1115568" cy="274320"/>
            <a:chOff x="0" y="0"/>
            <a:chExt cx="1487424" cy="365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E9E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3544" y="8069580"/>
            <a:ext cx="1115568" cy="274320"/>
            <a:chOff x="0" y="0"/>
            <a:chExt cx="1487424" cy="365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12264" y="8010144"/>
            <a:ext cx="2596896" cy="393192"/>
            <a:chOff x="0" y="0"/>
            <a:chExt cx="3462528" cy="5242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unusual rain · routine checks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3544" y="8481060"/>
            <a:ext cx="1115568" cy="274320"/>
            <a:chOff x="0" y="0"/>
            <a:chExt cx="1487424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E39B2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3544" y="8481060"/>
            <a:ext cx="1115568" cy="274320"/>
            <a:chOff x="0" y="0"/>
            <a:chExt cx="1487424" cy="365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WATCH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12264" y="8421624"/>
            <a:ext cx="2596896" cy="393192"/>
            <a:chOff x="0" y="0"/>
            <a:chExt cx="3462528" cy="5242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Heavy rain (≥64.5 mm) on flood-prone wards → clinics on standby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3544" y="8892540"/>
            <a:ext cx="1115568" cy="274320"/>
            <a:chOff x="0" y="0"/>
            <a:chExt cx="1487424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DD6A2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23544" y="8892540"/>
            <a:ext cx="1115568" cy="274320"/>
            <a:chOff x="0" y="0"/>
            <a:chExt cx="1487424" cy="365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WARNING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12264" y="8833104"/>
            <a:ext cx="2596896" cy="393192"/>
            <a:chOff x="0" y="0"/>
            <a:chExt cx="3462528" cy="5242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Very heavy rain (≥115.6 mm) + flooding → fever camps, SMS alerts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3544" y="9304020"/>
            <a:ext cx="1115568" cy="274320"/>
            <a:chOff x="0" y="0"/>
            <a:chExt cx="1487424" cy="365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304544" y="0"/>
                  </a:lnTo>
                  <a:cubicBezTo>
                    <a:pt x="1405509" y="0"/>
                    <a:pt x="1487424" y="81915"/>
                    <a:pt x="1487424" y="182880"/>
                  </a:cubicBezTo>
                  <a:cubicBezTo>
                    <a:pt x="1487424" y="283845"/>
                    <a:pt x="1405509" y="365760"/>
                    <a:pt x="1304544" y="365760"/>
                  </a:cubicBezTo>
                  <a:lnTo>
                    <a:pt x="182880" y="365760"/>
                  </a:ln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3544" y="9304020"/>
            <a:ext cx="1115568" cy="274320"/>
            <a:chOff x="0" y="0"/>
            <a:chExt cx="1487424" cy="365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87424" cy="365760"/>
            </a:xfrm>
            <a:custGeom>
              <a:avLst/>
              <a:gdLst/>
              <a:ahLst/>
              <a:cxnLst/>
              <a:rect r="r" b="b" t="t" l="l"/>
              <a:pathLst>
                <a:path h="365760" w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487424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EMERGENCY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12264" y="9244584"/>
            <a:ext cx="2596896" cy="393192"/>
            <a:chOff x="0" y="0"/>
            <a:chExt cx="3462528" cy="5242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62528" cy="524256"/>
            </a:xfrm>
            <a:custGeom>
              <a:avLst/>
              <a:gdLst/>
              <a:ahLst/>
              <a:cxnLst/>
              <a:rect r="r" b="b" t="t" l="l"/>
              <a:pathLst>
                <a:path h="5242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524256"/>
                  </a:lnTo>
                  <a:lnTo>
                    <a:pt x="0" y="5242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8691" r="0" b="-786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462528" cy="5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FC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Extreme rain (≥204.5 mm) or days of flooding → all-out response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975546" y="2662114"/>
            <a:ext cx="7376798" cy="2301878"/>
            <a:chOff x="0" y="0"/>
            <a:chExt cx="9835731" cy="30691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35769" cy="3069209"/>
            </a:xfrm>
            <a:custGeom>
              <a:avLst/>
              <a:gdLst/>
              <a:ahLst/>
              <a:cxnLst/>
              <a:rect r="r" b="b" t="t" l="l"/>
              <a:pathLst>
                <a:path h="3069209" w="9835769">
                  <a:moveTo>
                    <a:pt x="0" y="196469"/>
                  </a:moveTo>
                  <a:cubicBezTo>
                    <a:pt x="0" y="87884"/>
                    <a:pt x="87884" y="0"/>
                    <a:pt x="196469" y="0"/>
                  </a:cubicBezTo>
                  <a:lnTo>
                    <a:pt x="9639300" y="0"/>
                  </a:lnTo>
                  <a:cubicBezTo>
                    <a:pt x="9747758" y="0"/>
                    <a:pt x="9835769" y="87884"/>
                    <a:pt x="9835769" y="196469"/>
                  </a:cubicBezTo>
                  <a:lnTo>
                    <a:pt x="9835769" y="2872740"/>
                  </a:lnTo>
                  <a:cubicBezTo>
                    <a:pt x="9835769" y="2981198"/>
                    <a:pt x="9747885" y="3069209"/>
                    <a:pt x="9639300" y="3069209"/>
                  </a:cubicBezTo>
                  <a:lnTo>
                    <a:pt x="196469" y="3069209"/>
                  </a:lnTo>
                  <a:cubicBezTo>
                    <a:pt x="87884" y="3069209"/>
                    <a:pt x="0" y="2981198"/>
                    <a:pt x="0" y="2872740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3D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093208" y="2779776"/>
            <a:ext cx="548640" cy="548640"/>
            <a:chOff x="0" y="0"/>
            <a:chExt cx="7315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219395" y="2905963"/>
            <a:ext cx="296266" cy="296266"/>
            <a:chOff x="0" y="0"/>
            <a:chExt cx="395021" cy="395021"/>
          </a:xfrm>
        </p:grpSpPr>
        <p:sp>
          <p:nvSpPr>
            <p:cNvPr name="Freeform 61" id="61" descr="EA91_FFFFFF.png"/>
            <p:cNvSpPr/>
            <p:nvPr/>
          </p:nvSpPr>
          <p:spPr>
            <a:xfrm flipH="false" flipV="false" rot="0">
              <a:off x="0" y="0"/>
              <a:ext cx="394970" cy="394970"/>
            </a:xfrm>
            <a:custGeom>
              <a:avLst/>
              <a:gdLst/>
              <a:ahLst/>
              <a:cxnLst/>
              <a:rect r="r" b="b" t="t" l="l"/>
              <a:pathLst>
                <a:path h="394970" w="394970">
                  <a:moveTo>
                    <a:pt x="0" y="0"/>
                  </a:moveTo>
                  <a:lnTo>
                    <a:pt x="394970" y="0"/>
                  </a:lnTo>
                  <a:lnTo>
                    <a:pt x="394970" y="394970"/>
                  </a:lnTo>
                  <a:lnTo>
                    <a:pt x="0" y="394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2" b="-12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415016" y="2761488"/>
            <a:ext cx="658368" cy="658368"/>
            <a:chOff x="0" y="0"/>
            <a:chExt cx="877824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B83227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415016" y="2761488"/>
            <a:ext cx="658368" cy="658368"/>
            <a:chOff x="0" y="0"/>
            <a:chExt cx="877824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7782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72h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128248" y="2761488"/>
            <a:ext cx="1143000" cy="694944"/>
            <a:chOff x="0" y="0"/>
            <a:chExt cx="152400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240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8008" t="0" r="-2800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52400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B83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 get preventive care after floodwater contact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537921" y="4158653"/>
            <a:ext cx="183194" cy="47587"/>
            <a:chOff x="0" y="0"/>
            <a:chExt cx="244259" cy="6344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4221" cy="63500"/>
            </a:xfrm>
            <a:custGeom>
              <a:avLst/>
              <a:gdLst/>
              <a:ahLst/>
              <a:cxnLst/>
              <a:rect r="r" b="b" t="t" l="l"/>
              <a:pathLst>
                <a:path h="6350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824176" y="4096988"/>
            <a:ext cx="183194" cy="109252"/>
            <a:chOff x="0" y="0"/>
            <a:chExt cx="244259" cy="14566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4221" cy="145669"/>
            </a:xfrm>
            <a:custGeom>
              <a:avLst/>
              <a:gdLst/>
              <a:ahLst/>
              <a:cxnLst/>
              <a:rect r="r" b="b" t="t" l="l"/>
              <a:pathLst>
                <a:path h="145669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145669"/>
                  </a:lnTo>
                  <a:lnTo>
                    <a:pt x="0" y="145669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110421" y="3968296"/>
            <a:ext cx="183194" cy="237944"/>
            <a:chOff x="0" y="0"/>
            <a:chExt cx="244259" cy="3172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4221" cy="317246"/>
            </a:xfrm>
            <a:custGeom>
              <a:avLst/>
              <a:gdLst/>
              <a:ahLst/>
              <a:cxnLst/>
              <a:rect r="r" b="b" t="t" l="l"/>
              <a:pathLst>
                <a:path h="31724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317246"/>
                  </a:lnTo>
                  <a:lnTo>
                    <a:pt x="0" y="31724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396666" y="3847871"/>
            <a:ext cx="183194" cy="358369"/>
            <a:chOff x="0" y="0"/>
            <a:chExt cx="244259" cy="47782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4221" cy="477774"/>
            </a:xfrm>
            <a:custGeom>
              <a:avLst/>
              <a:gdLst/>
              <a:ahLst/>
              <a:cxnLst/>
              <a:rect r="r" b="b" t="t" l="l"/>
              <a:pathLst>
                <a:path h="47777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77774"/>
                  </a:lnTo>
                  <a:lnTo>
                    <a:pt x="0" y="477774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682911" y="3975745"/>
            <a:ext cx="183194" cy="230495"/>
            <a:chOff x="0" y="0"/>
            <a:chExt cx="244259" cy="30732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4221" cy="307340"/>
            </a:xfrm>
            <a:custGeom>
              <a:avLst/>
              <a:gdLst/>
              <a:ahLst/>
              <a:cxnLst/>
              <a:rect r="r" b="b" t="t" l="l"/>
              <a:pathLst>
                <a:path h="30734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307340"/>
                  </a:lnTo>
                  <a:lnTo>
                    <a:pt x="0" y="30734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969157" y="3991880"/>
            <a:ext cx="183194" cy="214360"/>
            <a:chOff x="0" y="0"/>
            <a:chExt cx="244259" cy="28581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4221" cy="285750"/>
            </a:xfrm>
            <a:custGeom>
              <a:avLst/>
              <a:gdLst/>
              <a:ahLst/>
              <a:cxnLst/>
              <a:rect r="r" b="b" t="t" l="l"/>
              <a:pathLst>
                <a:path h="28575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255402" y="3883047"/>
            <a:ext cx="183194" cy="323193"/>
            <a:chOff x="0" y="0"/>
            <a:chExt cx="244259" cy="4309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4221" cy="430911"/>
            </a:xfrm>
            <a:custGeom>
              <a:avLst/>
              <a:gdLst/>
              <a:ahLst/>
              <a:cxnLst/>
              <a:rect r="r" b="b" t="t" l="l"/>
              <a:pathLst>
                <a:path h="430911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30911"/>
                  </a:lnTo>
                  <a:lnTo>
                    <a:pt x="0" y="430911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541657" y="3639722"/>
            <a:ext cx="183194" cy="566518"/>
            <a:chOff x="0" y="0"/>
            <a:chExt cx="244259" cy="75535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4221" cy="755396"/>
            </a:xfrm>
            <a:custGeom>
              <a:avLst/>
              <a:gdLst/>
              <a:ahLst/>
              <a:cxnLst/>
              <a:rect r="r" b="b" t="t" l="l"/>
              <a:pathLst>
                <a:path h="75539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755396"/>
                  </a:lnTo>
                  <a:lnTo>
                    <a:pt x="0" y="755396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827902" y="3660829"/>
            <a:ext cx="183194" cy="545411"/>
            <a:chOff x="0" y="0"/>
            <a:chExt cx="244259" cy="72721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4221" cy="727202"/>
            </a:xfrm>
            <a:custGeom>
              <a:avLst/>
              <a:gdLst/>
              <a:ahLst/>
              <a:cxnLst/>
              <a:rect r="r" b="b" t="t" l="l"/>
              <a:pathLst>
                <a:path h="727202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727202"/>
                  </a:lnTo>
                  <a:lnTo>
                    <a:pt x="0" y="727202"/>
                  </a:lnTo>
                  <a:close/>
                </a:path>
              </a:pathLst>
            </a:custGeom>
            <a:solidFill>
              <a:srgbClr val="2A9DB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114147" y="3976983"/>
            <a:ext cx="183194" cy="229257"/>
            <a:chOff x="0" y="0"/>
            <a:chExt cx="244259" cy="30567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4221" cy="305689"/>
            </a:xfrm>
            <a:custGeom>
              <a:avLst/>
              <a:gdLst/>
              <a:ahLst/>
              <a:cxnLst/>
              <a:rect r="r" b="b" t="t" l="l"/>
              <a:pathLst>
                <a:path h="305689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305689"/>
                  </a:lnTo>
                  <a:lnTo>
                    <a:pt x="0" y="305689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400393" y="4099065"/>
            <a:ext cx="183194" cy="107175"/>
            <a:chOff x="0" y="0"/>
            <a:chExt cx="244259" cy="1429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4221" cy="142875"/>
            </a:xfrm>
            <a:custGeom>
              <a:avLst/>
              <a:gdLst/>
              <a:ahLst/>
              <a:cxnLst/>
              <a:rect r="r" b="b" t="t" l="l"/>
              <a:pathLst>
                <a:path h="142875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14287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686638" y="4187952"/>
            <a:ext cx="183194" cy="18288"/>
            <a:chOff x="0" y="0"/>
            <a:chExt cx="244259" cy="243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972883" y="4187952"/>
            <a:ext cx="183194" cy="18288"/>
            <a:chOff x="0" y="0"/>
            <a:chExt cx="244259" cy="243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259138" y="4174788"/>
            <a:ext cx="183194" cy="31452"/>
            <a:chOff x="0" y="0"/>
            <a:chExt cx="244259" cy="4193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4221" cy="41910"/>
            </a:xfrm>
            <a:custGeom>
              <a:avLst/>
              <a:gdLst/>
              <a:ahLst/>
              <a:cxnLst/>
              <a:rect r="r" b="b" t="t" l="l"/>
              <a:pathLst>
                <a:path h="4191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1910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45384" y="4174788"/>
            <a:ext cx="183194" cy="31452"/>
            <a:chOff x="0" y="0"/>
            <a:chExt cx="244259" cy="4193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4221" cy="41910"/>
            </a:xfrm>
            <a:custGeom>
              <a:avLst/>
              <a:gdLst/>
              <a:ahLst/>
              <a:cxnLst/>
              <a:rect r="r" b="b" t="t" l="l"/>
              <a:pathLst>
                <a:path h="41910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1910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831629" y="4187952"/>
            <a:ext cx="183194" cy="18288"/>
            <a:chOff x="0" y="0"/>
            <a:chExt cx="244259" cy="243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117874" y="4187952"/>
            <a:ext cx="183194" cy="18288"/>
            <a:chOff x="0" y="0"/>
            <a:chExt cx="244259" cy="2438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4221" cy="24384"/>
            </a:xfrm>
            <a:custGeom>
              <a:avLst/>
              <a:gdLst/>
              <a:ahLst/>
              <a:cxnLst/>
              <a:rect r="r" b="b" t="t" l="l"/>
              <a:pathLst>
                <a:path h="2438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404119" y="4140441"/>
            <a:ext cx="183194" cy="65799"/>
            <a:chOff x="0" y="0"/>
            <a:chExt cx="244259" cy="8773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4221" cy="87757"/>
            </a:xfrm>
            <a:custGeom>
              <a:avLst/>
              <a:gdLst/>
              <a:ahLst/>
              <a:cxnLst/>
              <a:rect r="r" b="b" t="t" l="l"/>
              <a:pathLst>
                <a:path h="87757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87757"/>
                  </a:lnTo>
                  <a:lnTo>
                    <a:pt x="0" y="87757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690365" y="4170236"/>
            <a:ext cx="183194" cy="36004"/>
            <a:chOff x="0" y="0"/>
            <a:chExt cx="244259" cy="4800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4221" cy="48006"/>
            </a:xfrm>
            <a:custGeom>
              <a:avLst/>
              <a:gdLst/>
              <a:ahLst/>
              <a:cxnLst/>
              <a:rect r="r" b="b" t="t" l="l"/>
              <a:pathLst>
                <a:path h="4800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48006"/>
                  </a:lnTo>
                  <a:lnTo>
                    <a:pt x="0" y="4800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976620" y="4138374"/>
            <a:ext cx="183194" cy="67866"/>
            <a:chOff x="0" y="0"/>
            <a:chExt cx="244259" cy="9048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4221" cy="90424"/>
            </a:xfrm>
            <a:custGeom>
              <a:avLst/>
              <a:gdLst/>
              <a:ahLst/>
              <a:cxnLst/>
              <a:rect r="r" b="b" t="t" l="l"/>
              <a:pathLst>
                <a:path h="90424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90424"/>
                  </a:lnTo>
                  <a:lnTo>
                    <a:pt x="0" y="90424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1262865" y="4139203"/>
            <a:ext cx="183194" cy="67037"/>
            <a:chOff x="0" y="0"/>
            <a:chExt cx="244259" cy="8938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4221" cy="89408"/>
            </a:xfrm>
            <a:custGeom>
              <a:avLst/>
              <a:gdLst/>
              <a:ahLst/>
              <a:cxnLst/>
              <a:rect r="r" b="b" t="t" l="l"/>
              <a:pathLst>
                <a:path h="89408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1549110" y="4069271"/>
            <a:ext cx="183194" cy="136970"/>
            <a:chOff x="0" y="0"/>
            <a:chExt cx="244259" cy="18262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4221" cy="182626"/>
            </a:xfrm>
            <a:custGeom>
              <a:avLst/>
              <a:gdLst/>
              <a:ahLst/>
              <a:cxnLst/>
              <a:rect r="r" b="b" t="t" l="l"/>
              <a:pathLst>
                <a:path h="18262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182626"/>
                  </a:lnTo>
                  <a:lnTo>
                    <a:pt x="0" y="18262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835355" y="3987327"/>
            <a:ext cx="183194" cy="218904"/>
            <a:chOff x="0" y="0"/>
            <a:chExt cx="244259" cy="29187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4221" cy="291846"/>
            </a:xfrm>
            <a:custGeom>
              <a:avLst/>
              <a:gdLst/>
              <a:ahLst/>
              <a:cxnLst/>
              <a:rect r="r" b="b" t="t" l="l"/>
              <a:pathLst>
                <a:path h="291846" w="244221">
                  <a:moveTo>
                    <a:pt x="0" y="0"/>
                  </a:moveTo>
                  <a:lnTo>
                    <a:pt x="244221" y="0"/>
                  </a:lnTo>
                  <a:lnTo>
                    <a:pt x="244221" y="291846"/>
                  </a:lnTo>
                  <a:lnTo>
                    <a:pt x="0" y="291846"/>
                  </a:lnTo>
                  <a:close/>
                </a:path>
              </a:pathLst>
            </a:custGeom>
            <a:solidFill>
              <a:srgbClr val="9ED3DC"/>
            </a:solidFill>
          </p:spPr>
        </p:sp>
      </p:grpSp>
      <p:sp>
        <p:nvSpPr>
          <p:cNvPr name="AutoShape 116" id="116"/>
          <p:cNvSpPr/>
          <p:nvPr/>
        </p:nvSpPr>
        <p:spPr>
          <a:xfrm rot="8280">
            <a:off x="5478456" y="4201478"/>
            <a:ext cx="6599577" cy="0"/>
          </a:xfrm>
          <a:prstGeom prst="line">
            <a:avLst/>
          </a:prstGeom>
          <a:ln cap="rnd" w="9525">
            <a:solidFill>
              <a:srgbClr val="8A97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6424260" y="3683279"/>
            <a:ext cx="128016" cy="128016"/>
            <a:chOff x="0" y="0"/>
            <a:chExt cx="170688" cy="1706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E39B2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569241" y="3474720"/>
            <a:ext cx="128016" cy="128016"/>
            <a:chOff x="0" y="0"/>
            <a:chExt cx="170688" cy="1706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70688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cubicBezTo>
                    <a:pt x="132461" y="0"/>
                    <a:pt x="170688" y="38227"/>
                    <a:pt x="170688" y="85344"/>
                  </a:cubicBezTo>
                  <a:cubicBezTo>
                    <a:pt x="170688" y="132461"/>
                    <a:pt x="132461" y="170688"/>
                    <a:pt x="85344" y="170688"/>
                  </a:cubicBezTo>
                  <a:cubicBezTo>
                    <a:pt x="38227" y="170688"/>
                    <a:pt x="0" y="132461"/>
                    <a:pt x="0" y="85344"/>
                  </a:cubicBezTo>
                  <a:close/>
                </a:path>
              </a:pathLst>
            </a:custGeom>
            <a:solidFill>
              <a:srgbClr val="DD6A2B"/>
            </a:solidFill>
          </p:spPr>
        </p:sp>
      </p:grpSp>
      <p:sp>
        <p:nvSpPr>
          <p:cNvPr name="AutoShape 121" id="121"/>
          <p:cNvSpPr/>
          <p:nvPr/>
        </p:nvSpPr>
        <p:spPr>
          <a:xfrm rot="5333400">
            <a:off x="7466143" y="4082415"/>
            <a:ext cx="1147153" cy="0"/>
          </a:xfrm>
          <a:prstGeom prst="line">
            <a:avLst/>
          </a:prstGeom>
          <a:ln cap="rnd" w="19050">
            <a:solidFill>
              <a:srgbClr val="B8322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2" id="122"/>
          <p:cNvGrpSpPr/>
          <p:nvPr/>
        </p:nvGrpSpPr>
        <p:grpSpPr>
          <a:xfrm rot="0">
            <a:off x="6345136" y="4407408"/>
            <a:ext cx="1431236" cy="246888"/>
            <a:chOff x="0" y="0"/>
            <a:chExt cx="1908315" cy="32918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908302" cy="329184"/>
            </a:xfrm>
            <a:custGeom>
              <a:avLst/>
              <a:gdLst/>
              <a:ahLst/>
              <a:cxnLst/>
              <a:rect r="r" b="b" t="t" l="l"/>
              <a:pathLst>
                <a:path h="329184" w="190830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1810766" y="0"/>
                  </a:lnTo>
                  <a:cubicBezTo>
                    <a:pt x="1864614" y="0"/>
                    <a:pt x="1908302" y="43688"/>
                    <a:pt x="1908302" y="97536"/>
                  </a:cubicBezTo>
                  <a:lnTo>
                    <a:pt x="1908302" y="231648"/>
                  </a:lnTo>
                  <a:cubicBezTo>
                    <a:pt x="1908302" y="285496"/>
                    <a:pt x="1864614" y="329184"/>
                    <a:pt x="1810766" y="329184"/>
                  </a:cubicBezTo>
                  <a:lnTo>
                    <a:pt x="97536" y="329184"/>
                  </a:lnTo>
                  <a:cubicBezTo>
                    <a:pt x="43688" y="329184"/>
                    <a:pt x="0" y="285496"/>
                    <a:pt x="0" y="231648"/>
                  </a:cubicBezTo>
                  <a:close/>
                </a:path>
              </a:pathLst>
            </a:custGeom>
            <a:solidFill>
              <a:srgbClr val="0E8C93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6345136" y="4407408"/>
            <a:ext cx="1431236" cy="246888"/>
            <a:chOff x="0" y="0"/>
            <a:chExt cx="1908315" cy="3291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08312" cy="329184"/>
            </a:xfrm>
            <a:custGeom>
              <a:avLst/>
              <a:gdLst/>
              <a:ahLst/>
              <a:cxnLst/>
              <a:rect r="r" b="b" t="t" l="l"/>
              <a:pathLst>
                <a:path h="329184" w="1908312">
                  <a:moveTo>
                    <a:pt x="0" y="0"/>
                  </a:moveTo>
                  <a:lnTo>
                    <a:pt x="1908312" y="0"/>
                  </a:lnTo>
                  <a:lnTo>
                    <a:pt x="190831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956" r="0" b="-6295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1908315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VARSHA alerts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8094583" y="4407408"/>
            <a:ext cx="1097280" cy="246888"/>
            <a:chOff x="0" y="0"/>
            <a:chExt cx="1463040" cy="32918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463040" cy="329184"/>
            </a:xfrm>
            <a:custGeom>
              <a:avLst/>
              <a:gdLst/>
              <a:ahLst/>
              <a:cxnLst/>
              <a:rect r="r" b="b" t="t" l="l"/>
              <a:pathLst>
                <a:path h="3291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1463040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B83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BMC advice, 6 Jul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207608" y="4407408"/>
            <a:ext cx="2862472" cy="246888"/>
            <a:chOff x="0" y="0"/>
            <a:chExt cx="3816629" cy="32918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816604" cy="329184"/>
            </a:xfrm>
            <a:custGeom>
              <a:avLst/>
              <a:gdLst/>
              <a:ahLst/>
              <a:cxnLst/>
              <a:rect r="r" b="b" t="t" l="l"/>
              <a:pathLst>
                <a:path h="329184" w="3816604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lnTo>
                    <a:pt x="3719068" y="0"/>
                  </a:lnTo>
                  <a:cubicBezTo>
                    <a:pt x="3772916" y="0"/>
                    <a:pt x="3816604" y="43688"/>
                    <a:pt x="3816604" y="97536"/>
                  </a:cubicBezTo>
                  <a:lnTo>
                    <a:pt x="3816604" y="231648"/>
                  </a:lnTo>
                  <a:cubicBezTo>
                    <a:pt x="3816604" y="285496"/>
                    <a:pt x="3772916" y="329184"/>
                    <a:pt x="3719068" y="329184"/>
                  </a:cubicBezTo>
                  <a:lnTo>
                    <a:pt x="97536" y="329184"/>
                  </a:lnTo>
                  <a:cubicBezTo>
                    <a:pt x="43688" y="329184"/>
                    <a:pt x="0" y="285496"/>
                    <a:pt x="0" y="231648"/>
                  </a:cubicBezTo>
                  <a:close/>
                </a:path>
              </a:pathLst>
            </a:custGeom>
            <a:solidFill>
              <a:srgbClr val="F7D0CC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207608" y="4407408"/>
            <a:ext cx="2862472" cy="246888"/>
            <a:chOff x="0" y="0"/>
            <a:chExt cx="3816629" cy="32918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816625" cy="329184"/>
            </a:xfrm>
            <a:custGeom>
              <a:avLst/>
              <a:gdLst/>
              <a:ahLst/>
              <a:cxnLst/>
              <a:rect r="r" b="b" t="t" l="l"/>
              <a:pathLst>
                <a:path h="329184" w="3816625">
                  <a:moveTo>
                    <a:pt x="0" y="0"/>
                  </a:moveTo>
                  <a:lnTo>
                    <a:pt x="3816625" y="0"/>
                  </a:lnTo>
                  <a:lnTo>
                    <a:pt x="3816625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75913" r="0" b="-175913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3816629" cy="357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B83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case wave (7–14 days later)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4983480" y="5074920"/>
            <a:ext cx="1371600" cy="3401568"/>
            <a:chOff x="0" y="0"/>
            <a:chExt cx="1828800" cy="4535424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49657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5074920" y="5843016"/>
            <a:ext cx="1371600" cy="310896"/>
            <a:chOff x="0" y="0"/>
            <a:chExt cx="1828800" cy="41452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6480810" y="5074920"/>
            <a:ext cx="1371600" cy="3401568"/>
            <a:chOff x="0" y="0"/>
            <a:chExt cx="1828800" cy="453542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476C7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6572250" y="5843016"/>
            <a:ext cx="1371600" cy="310896"/>
            <a:chOff x="0" y="0"/>
            <a:chExt cx="1828800" cy="41452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7978140" y="5074920"/>
            <a:ext cx="1371600" cy="3401568"/>
            <a:chOff x="0" y="0"/>
            <a:chExt cx="1828800" cy="453542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5C746D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75470" y="5074920"/>
            <a:ext cx="1371600" cy="3401568"/>
            <a:chOff x="0" y="0"/>
            <a:chExt cx="1828800" cy="453542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8D7851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10972800" y="5074920"/>
            <a:ext cx="1371600" cy="3401568"/>
            <a:chOff x="0" y="0"/>
            <a:chExt cx="1828800" cy="453542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828800" cy="4535424"/>
            </a:xfrm>
            <a:custGeom>
              <a:avLst/>
              <a:gdLst/>
              <a:ahLst/>
              <a:cxnLst/>
              <a:rect r="r" b="b" t="t" l="l"/>
              <a:pathLst>
                <a:path h="4535424" w="1828800">
                  <a:moveTo>
                    <a:pt x="914400" y="0"/>
                  </a:moveTo>
                  <a:cubicBezTo>
                    <a:pt x="1419352" y="0"/>
                    <a:pt x="1828800" y="409448"/>
                    <a:pt x="1828800" y="914400"/>
                  </a:cubicBezTo>
                  <a:lnTo>
                    <a:pt x="1828800" y="4425696"/>
                  </a:lnTo>
                  <a:cubicBezTo>
                    <a:pt x="1828800" y="4486275"/>
                    <a:pt x="1779651" y="4535424"/>
                    <a:pt x="1719072" y="4535424"/>
                  </a:cubicBezTo>
                  <a:lnTo>
                    <a:pt x="109728" y="4535424"/>
                  </a:lnTo>
                  <a:cubicBezTo>
                    <a:pt x="49149" y="4535424"/>
                    <a:pt x="0" y="4486275"/>
                    <a:pt x="0" y="4425696"/>
                  </a:cubicBezTo>
                  <a:lnTo>
                    <a:pt x="0" y="914400"/>
                  </a:lnTo>
                  <a:cubicBezTo>
                    <a:pt x="0" y="409448"/>
                    <a:pt x="409448" y="0"/>
                    <a:pt x="914400" y="0"/>
                  </a:cubicBezTo>
                  <a:close/>
                </a:path>
              </a:pathLst>
            </a:custGeom>
            <a:solidFill>
              <a:srgbClr val="67607B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9" id="149"/>
          <p:cNvGrpSpPr/>
          <p:nvPr/>
        </p:nvGrpSpPr>
        <p:grpSpPr>
          <a:xfrm rot="0">
            <a:off x="8545068" y="8476488"/>
            <a:ext cx="237744" cy="118872"/>
            <a:chOff x="0" y="0"/>
            <a:chExt cx="316992" cy="15849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16992" cy="158496"/>
            </a:xfrm>
            <a:custGeom>
              <a:avLst/>
              <a:gdLst/>
              <a:ahLst/>
              <a:cxnLst/>
              <a:rect r="r" b="b" t="t" l="l"/>
              <a:pathLst>
                <a:path h="158496" w="316992">
                  <a:moveTo>
                    <a:pt x="0" y="79248"/>
                  </a:moveTo>
                  <a:lnTo>
                    <a:pt x="79248" y="79248"/>
                  </a:lnTo>
                  <a:lnTo>
                    <a:pt x="79248" y="0"/>
                  </a:lnTo>
                  <a:lnTo>
                    <a:pt x="237744" y="0"/>
                  </a:lnTo>
                  <a:lnTo>
                    <a:pt x="237744" y="79248"/>
                  </a:lnTo>
                  <a:lnTo>
                    <a:pt x="316992" y="79248"/>
                  </a:lnTo>
                  <a:lnTo>
                    <a:pt x="158496" y="158496"/>
                  </a:lnTo>
                  <a:close/>
                </a:path>
              </a:pathLst>
            </a:custGeom>
            <a:solidFill>
              <a:srgbClr val="7C8796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983480" y="8595360"/>
            <a:ext cx="7360920" cy="1325880"/>
            <a:chOff x="0" y="0"/>
            <a:chExt cx="9814560" cy="17678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9814560" cy="1767840"/>
            </a:xfrm>
            <a:custGeom>
              <a:avLst/>
              <a:gdLst/>
              <a:ahLst/>
              <a:cxnLst/>
              <a:rect r="r" b="b" t="t" l="l"/>
              <a:pathLst>
                <a:path h="1767840" w="981456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643872" y="0"/>
                  </a:lnTo>
                  <a:cubicBezTo>
                    <a:pt x="9738106" y="0"/>
                    <a:pt x="9814560" y="76454"/>
                    <a:pt x="9814560" y="170688"/>
                  </a:cubicBezTo>
                  <a:lnTo>
                    <a:pt x="9814560" y="1597152"/>
                  </a:lnTo>
                  <a:cubicBezTo>
                    <a:pt x="9814560" y="1691386"/>
                    <a:pt x="9738106" y="1767840"/>
                    <a:pt x="9643872" y="1767840"/>
                  </a:cubicBezTo>
                  <a:lnTo>
                    <a:pt x="170688" y="1767840"/>
                  </a:lnTo>
                  <a:cubicBezTo>
                    <a:pt x="76454" y="1767840"/>
                    <a:pt x="0" y="1691386"/>
                    <a:pt x="0" y="1597152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5059423" y="8918191"/>
            <a:ext cx="1722625" cy="927097"/>
            <a:chOff x="0" y="0"/>
            <a:chExt cx="2296833" cy="1236129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6888223" y="8918191"/>
            <a:ext cx="1722625" cy="927097"/>
            <a:chOff x="0" y="0"/>
            <a:chExt cx="2296833" cy="1236129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7" id="157"/>
          <p:cNvGrpSpPr/>
          <p:nvPr/>
        </p:nvGrpSpPr>
        <p:grpSpPr>
          <a:xfrm rot="0">
            <a:off x="8717023" y="8918191"/>
            <a:ext cx="1722625" cy="927097"/>
            <a:chOff x="0" y="0"/>
            <a:chExt cx="2296833" cy="1236129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59" id="159"/>
          <p:cNvGrpSpPr/>
          <p:nvPr/>
        </p:nvGrpSpPr>
        <p:grpSpPr>
          <a:xfrm rot="0">
            <a:off x="10545823" y="8918191"/>
            <a:ext cx="1722625" cy="927097"/>
            <a:chOff x="0" y="0"/>
            <a:chExt cx="2296833" cy="1236129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296795" cy="1236091"/>
            </a:xfrm>
            <a:custGeom>
              <a:avLst/>
              <a:gdLst/>
              <a:ahLst/>
              <a:cxnLst/>
              <a:rect r="r" b="b" t="t" l="l"/>
              <a:pathLst>
                <a:path h="1236091" w="2296795">
                  <a:moveTo>
                    <a:pt x="0" y="123571"/>
                  </a:moveTo>
                  <a:cubicBezTo>
                    <a:pt x="0" y="55372"/>
                    <a:pt x="55372" y="0"/>
                    <a:pt x="123571" y="0"/>
                  </a:cubicBezTo>
                  <a:lnTo>
                    <a:pt x="2173224" y="0"/>
                  </a:lnTo>
                  <a:cubicBezTo>
                    <a:pt x="2241550" y="0"/>
                    <a:pt x="2296795" y="55372"/>
                    <a:pt x="2296795" y="123571"/>
                  </a:cubicBezTo>
                  <a:lnTo>
                    <a:pt x="2296795" y="1112520"/>
                  </a:lnTo>
                  <a:cubicBezTo>
                    <a:pt x="2296795" y="1180846"/>
                    <a:pt x="2241423" y="1236091"/>
                    <a:pt x="2173224" y="1236091"/>
                  </a:cubicBezTo>
                  <a:lnTo>
                    <a:pt x="123571" y="1236091"/>
                  </a:lnTo>
                  <a:cubicBezTo>
                    <a:pt x="55372" y="1236091"/>
                    <a:pt x="0" y="1180846"/>
                    <a:pt x="0" y="1112520"/>
                  </a:cubicBezTo>
                  <a:close/>
                </a:path>
              </a:pathLst>
            </a:custGeom>
            <a:solidFill>
              <a:srgbClr val="4A5278"/>
            </a:solidFill>
            <a:ln w="1270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12531723" y="2804962"/>
            <a:ext cx="5330384" cy="7116278"/>
            <a:chOff x="0" y="0"/>
            <a:chExt cx="1403887" cy="187424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403887" cy="1874246"/>
            </a:xfrm>
            <a:custGeom>
              <a:avLst/>
              <a:gdLst/>
              <a:ahLst/>
              <a:cxnLst/>
              <a:rect r="r" b="b" t="t" l="l"/>
              <a:pathLst>
                <a:path h="1874246" w="1403887">
                  <a:moveTo>
                    <a:pt x="0" y="0"/>
                  </a:moveTo>
                  <a:lnTo>
                    <a:pt x="1403887" y="0"/>
                  </a:lnTo>
                  <a:lnTo>
                    <a:pt x="1403887" y="1874246"/>
                  </a:lnTo>
                  <a:lnTo>
                    <a:pt x="0" y="1874246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  <p:sp>
          <p:nvSpPr>
            <p:cNvPr name="TextBox 163" id="163"/>
            <p:cNvSpPr txBox="true"/>
            <p:nvPr/>
          </p:nvSpPr>
          <p:spPr>
            <a:xfrm>
              <a:off x="0" y="-19050"/>
              <a:ext cx="1403887" cy="1893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2531723" y="2662114"/>
            <a:ext cx="5340325" cy="462554"/>
            <a:chOff x="0" y="0"/>
            <a:chExt cx="6750688" cy="58471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750688" cy="584713"/>
            </a:xfrm>
            <a:custGeom>
              <a:avLst/>
              <a:gdLst/>
              <a:ahLst/>
              <a:cxnLst/>
              <a:rect r="r" b="b" t="t" l="l"/>
              <a:pathLst>
                <a:path h="584713" w="6750688">
                  <a:moveTo>
                    <a:pt x="0" y="292357"/>
                  </a:moveTo>
                  <a:cubicBezTo>
                    <a:pt x="0" y="130892"/>
                    <a:pt x="157126" y="0"/>
                    <a:pt x="350953" y="0"/>
                  </a:cubicBezTo>
                  <a:lnTo>
                    <a:pt x="6399735" y="0"/>
                  </a:lnTo>
                  <a:cubicBezTo>
                    <a:pt x="6593561" y="0"/>
                    <a:pt x="6750688" y="130892"/>
                    <a:pt x="6750688" y="292357"/>
                  </a:cubicBezTo>
                  <a:cubicBezTo>
                    <a:pt x="6750688" y="453821"/>
                    <a:pt x="6593562" y="584713"/>
                    <a:pt x="6399735" y="584713"/>
                  </a:cubicBezTo>
                  <a:lnTo>
                    <a:pt x="350953" y="584713"/>
                  </a:lnTo>
                  <a:cubicBezTo>
                    <a:pt x="157126" y="584713"/>
                    <a:pt x="0" y="453821"/>
                    <a:pt x="0" y="292357"/>
                  </a:cubicBezTo>
                  <a:close/>
                </a:path>
              </a:pathLst>
            </a:custGeom>
            <a:solidFill>
              <a:srgbClr val="2D4675"/>
            </a:solidFill>
            <a:ln w="19050" cap="sq">
              <a:solidFill>
                <a:srgbClr val="A6DAF5"/>
              </a:solidFill>
              <a:prstDash val="solid"/>
              <a:miter/>
            </a:ln>
          </p:spPr>
        </p:sp>
      </p:grpSp>
      <p:grpSp>
        <p:nvGrpSpPr>
          <p:cNvPr name="Group 166" id="166"/>
          <p:cNvGrpSpPr/>
          <p:nvPr/>
        </p:nvGrpSpPr>
        <p:grpSpPr>
          <a:xfrm rot="0">
            <a:off x="12909364" y="3493833"/>
            <a:ext cx="4743628" cy="1058222"/>
            <a:chOff x="0" y="0"/>
            <a:chExt cx="2130850" cy="475356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130851" cy="475356"/>
            </a:xfrm>
            <a:custGeom>
              <a:avLst/>
              <a:gdLst/>
              <a:ahLst/>
              <a:cxnLst/>
              <a:rect r="r" b="b" t="t" l="l"/>
              <a:pathLst>
                <a:path h="475356" w="2130851">
                  <a:moveTo>
                    <a:pt x="27745" y="0"/>
                  </a:moveTo>
                  <a:lnTo>
                    <a:pt x="2103105" y="0"/>
                  </a:lnTo>
                  <a:cubicBezTo>
                    <a:pt x="2110464" y="0"/>
                    <a:pt x="2117521" y="2923"/>
                    <a:pt x="2122724" y="8126"/>
                  </a:cubicBezTo>
                  <a:cubicBezTo>
                    <a:pt x="2127927" y="13330"/>
                    <a:pt x="2130851" y="20387"/>
                    <a:pt x="2130851" y="27745"/>
                  </a:cubicBezTo>
                  <a:lnTo>
                    <a:pt x="2130851" y="447611"/>
                  </a:lnTo>
                  <a:cubicBezTo>
                    <a:pt x="2130851" y="454970"/>
                    <a:pt x="2127927" y="462027"/>
                    <a:pt x="2122724" y="467230"/>
                  </a:cubicBezTo>
                  <a:cubicBezTo>
                    <a:pt x="2117521" y="472433"/>
                    <a:pt x="2110464" y="475356"/>
                    <a:pt x="2103105" y="475356"/>
                  </a:cubicBezTo>
                  <a:lnTo>
                    <a:pt x="27745" y="475356"/>
                  </a:lnTo>
                  <a:cubicBezTo>
                    <a:pt x="20387" y="475356"/>
                    <a:pt x="13330" y="472433"/>
                    <a:pt x="8126" y="467230"/>
                  </a:cubicBezTo>
                  <a:cubicBezTo>
                    <a:pt x="2923" y="462027"/>
                    <a:pt x="0" y="454970"/>
                    <a:pt x="0" y="447611"/>
                  </a:cubicBezTo>
                  <a:lnTo>
                    <a:pt x="0" y="27745"/>
                  </a:lnTo>
                  <a:cubicBezTo>
                    <a:pt x="0" y="20387"/>
                    <a:pt x="2923" y="13330"/>
                    <a:pt x="8126" y="8126"/>
                  </a:cubicBezTo>
                  <a:cubicBezTo>
                    <a:pt x="13330" y="2923"/>
                    <a:pt x="20387" y="0"/>
                    <a:pt x="27745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2130850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2630284" y="3708280"/>
            <a:ext cx="629328" cy="629328"/>
            <a:chOff x="0" y="0"/>
            <a:chExt cx="812800" cy="8128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71" id="17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2934629" y="4792231"/>
            <a:ext cx="4718362" cy="1058222"/>
            <a:chOff x="0" y="0"/>
            <a:chExt cx="2119501" cy="4753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19501" cy="475356"/>
            </a:xfrm>
            <a:custGeom>
              <a:avLst/>
              <a:gdLst/>
              <a:ahLst/>
              <a:cxnLst/>
              <a:rect r="r" b="b" t="t" l="l"/>
              <a:pathLst>
                <a:path h="475356" w="2119501">
                  <a:moveTo>
                    <a:pt x="27894" y="0"/>
                  </a:moveTo>
                  <a:lnTo>
                    <a:pt x="2091607" y="0"/>
                  </a:lnTo>
                  <a:cubicBezTo>
                    <a:pt x="2099005" y="0"/>
                    <a:pt x="2106100" y="2939"/>
                    <a:pt x="2111331" y="8170"/>
                  </a:cubicBezTo>
                  <a:cubicBezTo>
                    <a:pt x="2116562" y="13401"/>
                    <a:pt x="2119501" y="20496"/>
                    <a:pt x="2119501" y="27894"/>
                  </a:cubicBezTo>
                  <a:lnTo>
                    <a:pt x="2119501" y="447463"/>
                  </a:lnTo>
                  <a:cubicBezTo>
                    <a:pt x="2119501" y="454860"/>
                    <a:pt x="2116562" y="461955"/>
                    <a:pt x="2111331" y="467186"/>
                  </a:cubicBezTo>
                  <a:cubicBezTo>
                    <a:pt x="2106100" y="472417"/>
                    <a:pt x="2099005" y="475356"/>
                    <a:pt x="2091607" y="475356"/>
                  </a:cubicBezTo>
                  <a:lnTo>
                    <a:pt x="27894" y="475356"/>
                  </a:lnTo>
                  <a:cubicBezTo>
                    <a:pt x="20496" y="475356"/>
                    <a:pt x="13401" y="472417"/>
                    <a:pt x="8170" y="467186"/>
                  </a:cubicBezTo>
                  <a:cubicBezTo>
                    <a:pt x="2939" y="461955"/>
                    <a:pt x="0" y="454860"/>
                    <a:pt x="0" y="447463"/>
                  </a:cubicBezTo>
                  <a:lnTo>
                    <a:pt x="0" y="27894"/>
                  </a:lnTo>
                  <a:cubicBezTo>
                    <a:pt x="0" y="20496"/>
                    <a:pt x="2939" y="13401"/>
                    <a:pt x="8170" y="8170"/>
                  </a:cubicBezTo>
                  <a:cubicBezTo>
                    <a:pt x="13401" y="2939"/>
                    <a:pt x="20496" y="0"/>
                    <a:pt x="27894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75" id="175"/>
            <p:cNvSpPr txBox="true"/>
            <p:nvPr/>
          </p:nvSpPr>
          <p:spPr>
            <a:xfrm>
              <a:off x="0" y="-19050"/>
              <a:ext cx="2119501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2655549" y="5006678"/>
            <a:ext cx="629328" cy="629328"/>
            <a:chOff x="0" y="0"/>
            <a:chExt cx="812800" cy="8128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78" id="17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2959895" y="6090629"/>
            <a:ext cx="4693097" cy="1058222"/>
            <a:chOff x="0" y="0"/>
            <a:chExt cx="2108152" cy="475356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108152" cy="475356"/>
            </a:xfrm>
            <a:custGeom>
              <a:avLst/>
              <a:gdLst/>
              <a:ahLst/>
              <a:cxnLst/>
              <a:rect r="r" b="b" t="t" l="l"/>
              <a:pathLst>
                <a:path h="475356" w="2108152">
                  <a:moveTo>
                    <a:pt x="28044" y="0"/>
                  </a:moveTo>
                  <a:lnTo>
                    <a:pt x="2080108" y="0"/>
                  </a:lnTo>
                  <a:cubicBezTo>
                    <a:pt x="2095596" y="0"/>
                    <a:pt x="2108152" y="12556"/>
                    <a:pt x="2108152" y="28044"/>
                  </a:cubicBezTo>
                  <a:lnTo>
                    <a:pt x="2108152" y="447312"/>
                  </a:lnTo>
                  <a:cubicBezTo>
                    <a:pt x="2108152" y="454750"/>
                    <a:pt x="2105197" y="461883"/>
                    <a:pt x="2099938" y="467142"/>
                  </a:cubicBezTo>
                  <a:cubicBezTo>
                    <a:pt x="2094679" y="472402"/>
                    <a:pt x="2087545" y="475356"/>
                    <a:pt x="2080108" y="475356"/>
                  </a:cubicBezTo>
                  <a:lnTo>
                    <a:pt x="28044" y="475356"/>
                  </a:lnTo>
                  <a:cubicBezTo>
                    <a:pt x="20606" y="475356"/>
                    <a:pt x="13473" y="472402"/>
                    <a:pt x="8214" y="467142"/>
                  </a:cubicBezTo>
                  <a:cubicBezTo>
                    <a:pt x="2955" y="461883"/>
                    <a:pt x="0" y="454750"/>
                    <a:pt x="0" y="447312"/>
                  </a:cubicBezTo>
                  <a:lnTo>
                    <a:pt x="0" y="28044"/>
                  </a:lnTo>
                  <a:cubicBezTo>
                    <a:pt x="0" y="20606"/>
                    <a:pt x="2955" y="13473"/>
                    <a:pt x="8214" y="8214"/>
                  </a:cubicBezTo>
                  <a:cubicBezTo>
                    <a:pt x="13473" y="2955"/>
                    <a:pt x="20606" y="0"/>
                    <a:pt x="28044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-19050"/>
              <a:ext cx="2108152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2680815" y="6305076"/>
            <a:ext cx="629328" cy="629328"/>
            <a:chOff x="0" y="0"/>
            <a:chExt cx="812800" cy="81280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85" id="18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2985161" y="7389027"/>
            <a:ext cx="4667831" cy="1058222"/>
            <a:chOff x="0" y="0"/>
            <a:chExt cx="2096802" cy="47535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096802" cy="475356"/>
            </a:xfrm>
            <a:custGeom>
              <a:avLst/>
              <a:gdLst/>
              <a:ahLst/>
              <a:cxnLst/>
              <a:rect r="r" b="b" t="t" l="l"/>
              <a:pathLst>
                <a:path h="475356" w="2096802">
                  <a:moveTo>
                    <a:pt x="28196" y="0"/>
                  </a:moveTo>
                  <a:lnTo>
                    <a:pt x="2068606" y="0"/>
                  </a:lnTo>
                  <a:cubicBezTo>
                    <a:pt x="2084178" y="0"/>
                    <a:pt x="2096802" y="12624"/>
                    <a:pt x="2096802" y="28196"/>
                  </a:cubicBezTo>
                  <a:lnTo>
                    <a:pt x="2096802" y="447161"/>
                  </a:lnTo>
                  <a:cubicBezTo>
                    <a:pt x="2096802" y="462733"/>
                    <a:pt x="2084178" y="475356"/>
                    <a:pt x="2068606" y="475356"/>
                  </a:cubicBezTo>
                  <a:lnTo>
                    <a:pt x="28196" y="475356"/>
                  </a:lnTo>
                  <a:cubicBezTo>
                    <a:pt x="12624" y="475356"/>
                    <a:pt x="0" y="462733"/>
                    <a:pt x="0" y="447161"/>
                  </a:cubicBezTo>
                  <a:lnTo>
                    <a:pt x="0" y="28196"/>
                  </a:lnTo>
                  <a:cubicBezTo>
                    <a:pt x="0" y="12624"/>
                    <a:pt x="12624" y="0"/>
                    <a:pt x="28196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89" id="189"/>
            <p:cNvSpPr txBox="true"/>
            <p:nvPr/>
          </p:nvSpPr>
          <p:spPr>
            <a:xfrm>
              <a:off x="0" y="-19050"/>
              <a:ext cx="2096802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2706081" y="7603474"/>
            <a:ext cx="629328" cy="629328"/>
            <a:chOff x="0" y="0"/>
            <a:chExt cx="812800" cy="81280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92" id="19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010427" y="8687425"/>
            <a:ext cx="4642565" cy="1058222"/>
            <a:chOff x="0" y="0"/>
            <a:chExt cx="2085453" cy="47535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085453" cy="475356"/>
            </a:xfrm>
            <a:custGeom>
              <a:avLst/>
              <a:gdLst/>
              <a:ahLst/>
              <a:cxnLst/>
              <a:rect r="r" b="b" t="t" l="l"/>
              <a:pathLst>
                <a:path h="475356" w="2085453">
                  <a:moveTo>
                    <a:pt x="28349" y="0"/>
                  </a:moveTo>
                  <a:lnTo>
                    <a:pt x="2057104" y="0"/>
                  </a:lnTo>
                  <a:cubicBezTo>
                    <a:pt x="2072760" y="0"/>
                    <a:pt x="2085453" y="12692"/>
                    <a:pt x="2085453" y="28349"/>
                  </a:cubicBezTo>
                  <a:lnTo>
                    <a:pt x="2085453" y="447007"/>
                  </a:lnTo>
                  <a:cubicBezTo>
                    <a:pt x="2085453" y="462664"/>
                    <a:pt x="2072760" y="475356"/>
                    <a:pt x="2057104" y="475356"/>
                  </a:cubicBezTo>
                  <a:lnTo>
                    <a:pt x="28349" y="475356"/>
                  </a:lnTo>
                  <a:cubicBezTo>
                    <a:pt x="12692" y="475356"/>
                    <a:pt x="0" y="462664"/>
                    <a:pt x="0" y="447007"/>
                  </a:cubicBezTo>
                  <a:lnTo>
                    <a:pt x="0" y="28349"/>
                  </a:lnTo>
                  <a:cubicBezTo>
                    <a:pt x="0" y="12692"/>
                    <a:pt x="12692" y="0"/>
                    <a:pt x="28349" y="0"/>
                  </a:cubicBezTo>
                  <a:close/>
                </a:path>
              </a:pathLst>
            </a:custGeom>
            <a:solidFill>
              <a:srgbClr val="4A5278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96" id="196"/>
            <p:cNvSpPr txBox="true"/>
            <p:nvPr/>
          </p:nvSpPr>
          <p:spPr>
            <a:xfrm>
              <a:off x="0" y="-19050"/>
              <a:ext cx="2085453" cy="49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2731347" y="8901872"/>
            <a:ext cx="629328" cy="629328"/>
            <a:chOff x="0" y="0"/>
            <a:chExt cx="812800" cy="81280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759B"/>
            </a:solidFill>
            <a:ln w="23812" cap="sq">
              <a:solidFill>
                <a:srgbClr val="D5DDFF"/>
              </a:solidFill>
              <a:prstDash val="solid"/>
              <a:miter/>
            </a:ln>
          </p:spPr>
        </p:sp>
        <p:sp>
          <p:nvSpPr>
            <p:cNvPr name="TextBox 199" id="19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959501" y="2906598"/>
            <a:ext cx="368284" cy="368147"/>
            <a:chOff x="0" y="0"/>
            <a:chExt cx="491045" cy="490863"/>
          </a:xfrm>
        </p:grpSpPr>
        <p:grpSp>
          <p:nvGrpSpPr>
            <p:cNvPr name="Group 202" id="202"/>
            <p:cNvGrpSpPr/>
            <p:nvPr/>
          </p:nvGrpSpPr>
          <p:grpSpPr>
            <a:xfrm rot="0">
              <a:off x="0" y="0"/>
              <a:ext cx="491045" cy="490863"/>
              <a:chOff x="0" y="0"/>
              <a:chExt cx="914739" cy="914400"/>
            </a:xfrm>
          </p:grpSpPr>
          <p:sp>
            <p:nvSpPr>
              <p:cNvPr name="Freeform 203" id="203"/>
              <p:cNvSpPr/>
              <p:nvPr/>
            </p:nvSpPr>
            <p:spPr>
              <a:xfrm flipH="false" flipV="false" rot="0">
                <a:off x="0" y="0"/>
                <a:ext cx="914739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14739">
                    <a:moveTo>
                      <a:pt x="0" y="457200"/>
                    </a:moveTo>
                    <a:cubicBezTo>
                      <a:pt x="0" y="204724"/>
                      <a:pt x="204800" y="0"/>
                      <a:pt x="457370" y="0"/>
                    </a:cubicBezTo>
                    <a:cubicBezTo>
                      <a:pt x="709939" y="0"/>
                      <a:pt x="914739" y="204724"/>
                      <a:pt x="914739" y="457200"/>
                    </a:cubicBezTo>
                    <a:cubicBezTo>
                      <a:pt x="914739" y="709676"/>
                      <a:pt x="709939" y="914400"/>
                      <a:pt x="457370" y="914400"/>
                    </a:cubicBezTo>
                    <a:cubicBezTo>
                      <a:pt x="204800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D2F7E2"/>
              </a:solidFill>
            </p:spPr>
          </p:sp>
        </p:grpSp>
        <p:grpSp>
          <p:nvGrpSpPr>
            <p:cNvPr name="Group 204" id="204"/>
            <p:cNvGrpSpPr/>
            <p:nvPr/>
          </p:nvGrpSpPr>
          <p:grpSpPr>
            <a:xfrm rot="0">
              <a:off x="112084" y="116267"/>
              <a:ext cx="262650" cy="262553"/>
              <a:chOff x="0" y="0"/>
              <a:chExt cx="512254" cy="512064"/>
            </a:xfrm>
          </p:grpSpPr>
          <p:sp>
            <p:nvSpPr>
              <p:cNvPr name="Freeform 205" id="205" descr="bulb.png"/>
              <p:cNvSpPr/>
              <p:nvPr/>
            </p:nvSpPr>
            <p:spPr>
              <a:xfrm flipH="false" flipV="false" rot="0">
                <a:off x="0" y="0"/>
                <a:ext cx="512254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512254">
                    <a:moveTo>
                      <a:pt x="0" y="0"/>
                    </a:moveTo>
                    <a:lnTo>
                      <a:pt x="512254" y="0"/>
                    </a:lnTo>
                    <a:lnTo>
                      <a:pt x="512254" y="512064"/>
                    </a:lnTo>
                    <a:lnTo>
                      <a:pt x="0" y="5120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2F7E2"/>
              </a:solidFill>
            </p:spPr>
          </p:sp>
        </p:grpSp>
        <p:sp>
          <p:nvSpPr>
            <p:cNvPr name="Freeform 206" id="206"/>
            <p:cNvSpPr/>
            <p:nvPr/>
          </p:nvSpPr>
          <p:spPr>
            <a:xfrm flipH="false" flipV="false" rot="0">
              <a:off x="100794" y="90641"/>
              <a:ext cx="289458" cy="309580"/>
            </a:xfrm>
            <a:custGeom>
              <a:avLst/>
              <a:gdLst/>
              <a:ahLst/>
              <a:cxnLst/>
              <a:rect r="r" b="b" t="t" l="l"/>
              <a:pathLst>
                <a:path h="309580" w="289458">
                  <a:moveTo>
                    <a:pt x="0" y="0"/>
                  </a:moveTo>
                  <a:lnTo>
                    <a:pt x="289457" y="0"/>
                  </a:lnTo>
                  <a:lnTo>
                    <a:pt x="289457" y="309581"/>
                  </a:lnTo>
                  <a:lnTo>
                    <a:pt x="0" y="309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8042148" y="5843016"/>
            <a:ext cx="1371600" cy="310896"/>
            <a:chOff x="0" y="0"/>
            <a:chExt cx="1828800" cy="414528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209" id="209"/>
          <p:cNvGrpSpPr/>
          <p:nvPr/>
        </p:nvGrpSpPr>
        <p:grpSpPr>
          <a:xfrm rot="0">
            <a:off x="9512046" y="5843016"/>
            <a:ext cx="1371600" cy="310896"/>
            <a:chOff x="0" y="0"/>
            <a:chExt cx="1828800" cy="41452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grpSp>
        <p:nvGrpSpPr>
          <p:cNvPr name="Group 211" id="211"/>
          <p:cNvGrpSpPr/>
          <p:nvPr/>
        </p:nvGrpSpPr>
        <p:grpSpPr>
          <a:xfrm rot="0">
            <a:off x="11046504" y="5850453"/>
            <a:ext cx="1371600" cy="310896"/>
            <a:chOff x="0" y="0"/>
            <a:chExt cx="1828800" cy="414528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1828800" cy="414528"/>
            </a:xfrm>
            <a:custGeom>
              <a:avLst/>
              <a:gdLst/>
              <a:ahLst/>
              <a:cxnLst/>
              <a:rect r="r" b="b" t="t" l="l"/>
              <a:pathLst>
                <a:path h="414528" w="1828800">
                  <a:moveTo>
                    <a:pt x="0" y="103632"/>
                  </a:moveTo>
                  <a:lnTo>
                    <a:pt x="1621536" y="103632"/>
                  </a:lnTo>
                  <a:lnTo>
                    <a:pt x="1621536" y="0"/>
                  </a:lnTo>
                  <a:lnTo>
                    <a:pt x="1828800" y="207264"/>
                  </a:lnTo>
                  <a:lnTo>
                    <a:pt x="1621536" y="414528"/>
                  </a:lnTo>
                  <a:lnTo>
                    <a:pt x="1621536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9525" cap="sq">
              <a:solidFill>
                <a:srgbClr val="0F2341"/>
              </a:solidFill>
              <a:prstDash val="solid"/>
              <a:miter/>
            </a:ln>
          </p:spPr>
        </p:sp>
      </p:grpSp>
      <p:sp>
        <p:nvSpPr>
          <p:cNvPr name="Freeform 213" id="213"/>
          <p:cNvSpPr/>
          <p:nvPr/>
        </p:nvSpPr>
        <p:spPr>
          <a:xfrm flipH="false" flipV="false" rot="0">
            <a:off x="5733288" y="8973466"/>
            <a:ext cx="234563" cy="243070"/>
          </a:xfrm>
          <a:custGeom>
            <a:avLst/>
            <a:gdLst/>
            <a:ahLst/>
            <a:cxnLst/>
            <a:rect r="r" b="b" t="t" l="l"/>
            <a:pathLst>
              <a:path h="243070" w="234563">
                <a:moveTo>
                  <a:pt x="0" y="0"/>
                </a:moveTo>
                <a:lnTo>
                  <a:pt x="234563" y="0"/>
                </a:lnTo>
                <a:lnTo>
                  <a:pt x="234563" y="243070"/>
                </a:lnTo>
                <a:lnTo>
                  <a:pt x="0" y="2430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4" id="214"/>
          <p:cNvSpPr/>
          <p:nvPr/>
        </p:nvSpPr>
        <p:spPr>
          <a:xfrm flipH="false" flipV="false" rot="0">
            <a:off x="9413748" y="8992362"/>
            <a:ext cx="246166" cy="246166"/>
          </a:xfrm>
          <a:custGeom>
            <a:avLst/>
            <a:gdLst/>
            <a:ahLst/>
            <a:cxnLst/>
            <a:rect r="r" b="b" t="t" l="l"/>
            <a:pathLst>
              <a:path h="246166" w="246166">
                <a:moveTo>
                  <a:pt x="0" y="0"/>
                </a:moveTo>
                <a:lnTo>
                  <a:pt x="246166" y="0"/>
                </a:lnTo>
                <a:lnTo>
                  <a:pt x="246166" y="246166"/>
                </a:lnTo>
                <a:lnTo>
                  <a:pt x="0" y="2461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5" id="215"/>
          <p:cNvSpPr/>
          <p:nvPr/>
        </p:nvSpPr>
        <p:spPr>
          <a:xfrm flipH="false" flipV="false" rot="0">
            <a:off x="11239748" y="8975884"/>
            <a:ext cx="249160" cy="250412"/>
          </a:xfrm>
          <a:custGeom>
            <a:avLst/>
            <a:gdLst/>
            <a:ahLst/>
            <a:cxnLst/>
            <a:rect r="r" b="b" t="t" l="l"/>
            <a:pathLst>
              <a:path h="250412" w="249160">
                <a:moveTo>
                  <a:pt x="0" y="0"/>
                </a:moveTo>
                <a:lnTo>
                  <a:pt x="249160" y="0"/>
                </a:lnTo>
                <a:lnTo>
                  <a:pt x="249160" y="250412"/>
                </a:lnTo>
                <a:lnTo>
                  <a:pt x="0" y="2504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6" id="216"/>
          <p:cNvSpPr/>
          <p:nvPr/>
        </p:nvSpPr>
        <p:spPr>
          <a:xfrm flipH="false" flipV="false" rot="0">
            <a:off x="5464223" y="5354517"/>
            <a:ext cx="330598" cy="395926"/>
          </a:xfrm>
          <a:custGeom>
            <a:avLst/>
            <a:gdLst/>
            <a:ahLst/>
            <a:cxnLst/>
            <a:rect r="r" b="b" t="t" l="l"/>
            <a:pathLst>
              <a:path h="395926" w="330598">
                <a:moveTo>
                  <a:pt x="0" y="0"/>
                </a:moveTo>
                <a:lnTo>
                  <a:pt x="330599" y="0"/>
                </a:lnTo>
                <a:lnTo>
                  <a:pt x="330599" y="395926"/>
                </a:lnTo>
                <a:lnTo>
                  <a:pt x="0" y="3959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7" id="217"/>
          <p:cNvSpPr/>
          <p:nvPr/>
        </p:nvSpPr>
        <p:spPr>
          <a:xfrm flipH="false" flipV="false" rot="0">
            <a:off x="6920961" y="5287969"/>
            <a:ext cx="442092" cy="488499"/>
          </a:xfrm>
          <a:custGeom>
            <a:avLst/>
            <a:gdLst/>
            <a:ahLst/>
            <a:cxnLst/>
            <a:rect r="r" b="b" t="t" l="l"/>
            <a:pathLst>
              <a:path h="488499" w="442092">
                <a:moveTo>
                  <a:pt x="0" y="0"/>
                </a:moveTo>
                <a:lnTo>
                  <a:pt x="442092" y="0"/>
                </a:lnTo>
                <a:lnTo>
                  <a:pt x="442092" y="488499"/>
                </a:lnTo>
                <a:lnTo>
                  <a:pt x="0" y="4884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8" id="218"/>
          <p:cNvSpPr/>
          <p:nvPr/>
        </p:nvSpPr>
        <p:spPr>
          <a:xfrm flipH="false" flipV="false" rot="0">
            <a:off x="8437630" y="5321342"/>
            <a:ext cx="498016" cy="430784"/>
          </a:xfrm>
          <a:custGeom>
            <a:avLst/>
            <a:gdLst/>
            <a:ahLst/>
            <a:cxnLst/>
            <a:rect r="r" b="b" t="t" l="l"/>
            <a:pathLst>
              <a:path h="430784" w="498016">
                <a:moveTo>
                  <a:pt x="0" y="0"/>
                </a:moveTo>
                <a:lnTo>
                  <a:pt x="498016" y="0"/>
                </a:lnTo>
                <a:lnTo>
                  <a:pt x="498016" y="430784"/>
                </a:lnTo>
                <a:lnTo>
                  <a:pt x="0" y="43078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9" id="219"/>
          <p:cNvSpPr/>
          <p:nvPr/>
        </p:nvSpPr>
        <p:spPr>
          <a:xfrm flipH="false" flipV="false" rot="0">
            <a:off x="11409045" y="5363885"/>
            <a:ext cx="502920" cy="377190"/>
          </a:xfrm>
          <a:custGeom>
            <a:avLst/>
            <a:gdLst/>
            <a:ahLst/>
            <a:cxnLst/>
            <a:rect r="r" b="b" t="t" l="l"/>
            <a:pathLst>
              <a:path h="377190" w="502920">
                <a:moveTo>
                  <a:pt x="0" y="0"/>
                </a:moveTo>
                <a:lnTo>
                  <a:pt x="502920" y="0"/>
                </a:lnTo>
                <a:lnTo>
                  <a:pt x="502920" y="377190"/>
                </a:lnTo>
                <a:lnTo>
                  <a:pt x="0" y="37719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0" id="220"/>
          <p:cNvSpPr/>
          <p:nvPr/>
        </p:nvSpPr>
        <p:spPr>
          <a:xfrm flipH="false" flipV="false" rot="0">
            <a:off x="9843401" y="5328134"/>
            <a:ext cx="548947" cy="417199"/>
          </a:xfrm>
          <a:custGeom>
            <a:avLst/>
            <a:gdLst/>
            <a:ahLst/>
            <a:cxnLst/>
            <a:rect r="r" b="b" t="t" l="l"/>
            <a:pathLst>
              <a:path h="417199" w="548947">
                <a:moveTo>
                  <a:pt x="0" y="0"/>
                </a:moveTo>
                <a:lnTo>
                  <a:pt x="548946" y="0"/>
                </a:lnTo>
                <a:lnTo>
                  <a:pt x="548946" y="417199"/>
                </a:lnTo>
                <a:lnTo>
                  <a:pt x="0" y="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1" id="221"/>
          <p:cNvSpPr/>
          <p:nvPr/>
        </p:nvSpPr>
        <p:spPr>
          <a:xfrm flipH="false" flipV="false" rot="0">
            <a:off x="7580112" y="8969032"/>
            <a:ext cx="289478" cy="247504"/>
          </a:xfrm>
          <a:custGeom>
            <a:avLst/>
            <a:gdLst/>
            <a:ahLst/>
            <a:cxnLst/>
            <a:rect r="r" b="b" t="t" l="l"/>
            <a:pathLst>
              <a:path h="247504" w="289478">
                <a:moveTo>
                  <a:pt x="0" y="0"/>
                </a:moveTo>
                <a:lnTo>
                  <a:pt x="289478" y="0"/>
                </a:lnTo>
                <a:lnTo>
                  <a:pt x="289478" y="247504"/>
                </a:lnTo>
                <a:lnTo>
                  <a:pt x="0" y="24750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2" id="222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 &amp; Key Features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7415527" y="1946148"/>
            <a:ext cx="10232393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EE6E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VARSHA: which wards, when, and what to do, before the fever wave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960120" y="3401568"/>
            <a:ext cx="3657600" cy="379476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8EE6E0"/>
                </a:solidFill>
                <a:latin typeface="Calibri (MS) Bold"/>
              </a:rPr>
              <a:t>VARSHA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 is a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disease early-warning system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 for Mumbai's monsoon. It turns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live rainfall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 and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flood hotspots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 into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ward-level alerts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 for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leptospirosis, dengue and malaria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F4F7FB"/>
                </a:solidFill>
                <a:latin typeface="Calibri (MS)"/>
              </a:rPr>
              <a:t>Built on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100% real public data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 (17 years of IDSP outbreak records, IMD &amp; NOAA rain gauges, live forecasts, BMC flood spots and Census ward data), it:</a:t>
            </a:r>
          </a:p>
          <a:p>
            <a:pPr algn="l" marL="176348" indent="-176348">
              <a:lnSpc>
                <a:spcPct val="100000"/>
              </a:lnSpc>
              <a:spcAft>
                <a:spcPts val="200"/>
              </a:spcAft>
              <a:buClr>
                <a:srgbClr val="8EE6E0"/>
              </a:buClr>
              <a:buFont typeface="Arial"/>
              <a:buChar char="•"/>
            </a:pPr>
            <a:r>
              <a:rPr sz="1350" b="0">
                <a:solidFill>
                  <a:srgbClr val="F4F7FB"/>
                </a:solidFill>
                <a:latin typeface="Calibri (MS)"/>
              </a:rPr>
              <a:t>predicts outbreaks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1–2 weeks before cases peak</a:t>
            </a:r>
          </a:p>
          <a:p>
            <a:pPr algn="l" marL="176348" indent="-176348">
              <a:lnSpc>
                <a:spcPct val="100000"/>
              </a:lnSpc>
              <a:spcAft>
                <a:spcPts val="200"/>
              </a:spcAft>
              <a:buClr>
                <a:srgbClr val="8EE6E0"/>
              </a:buClr>
              <a:buFont typeface="Arial"/>
              <a:buChar char="•"/>
            </a:pPr>
            <a:r>
              <a:rPr sz="1350" b="0">
                <a:solidFill>
                  <a:srgbClr val="F4F7FB"/>
                </a:solidFill>
                <a:latin typeface="Calibri (MS)"/>
              </a:rPr>
              <a:t>alerts people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inside the 72-hour window</a:t>
            </a:r>
          </a:p>
          <a:p>
            <a:pPr algn="l" marL="176348" indent="-176348">
              <a:lnSpc>
                <a:spcPct val="100000"/>
              </a:lnSpc>
              <a:spcAft>
                <a:spcPts val="200"/>
              </a:spcAft>
              <a:buClr>
                <a:srgbClr val="8EE6E0"/>
              </a:buClr>
              <a:buFont typeface="Arial"/>
              <a:buChar char="•"/>
            </a:pPr>
            <a:r>
              <a:rPr sz="1350" b="0">
                <a:solidFill>
                  <a:srgbClr val="F4F7FB"/>
                </a:solidFill>
                <a:latin typeface="Calibri (MS)"/>
              </a:rPr>
              <a:t>shows BMC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which wards to act in first</a:t>
            </a:r>
          </a:p>
          <a:p>
            <a:pPr algn="l" marL="176348" indent="-176348">
              <a:lnSpc>
                <a:spcPct val="100000"/>
              </a:lnSpc>
              <a:buClr>
                <a:srgbClr val="8EE6E0"/>
              </a:buClr>
              <a:buFont typeface="Arial"/>
              <a:buChar char="•"/>
            </a:pPr>
            <a:r>
              <a:rPr sz="1350" b="0">
                <a:solidFill>
                  <a:srgbClr val="F4F7FB"/>
                </a:solidFill>
                <a:latin typeface="Calibri (MS)"/>
              </a:rPr>
              <a:t>speaks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Marathi, Hindi &amp; English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923544" y="9646158"/>
            <a:ext cx="3749040" cy="2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i="true">
                <a:solidFill>
                  <a:srgbClr val="CCCDC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Rain levels = IMD's official 24-hour rainfall categories</a:t>
            </a:r>
          </a:p>
        </p:txBody>
      </p:sp>
      <p:sp>
        <p:nvSpPr>
          <p:cNvPr name="TextBox 226" id="226"/>
          <p:cNvSpPr txBox="true"/>
          <p:nvPr/>
        </p:nvSpPr>
        <p:spPr>
          <a:xfrm rot="0">
            <a:off x="5733288" y="2714625"/>
            <a:ext cx="448056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F23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Mumbai, July 2026: ~984 mm of rain in 7 days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1B2333"/>
                </a:solidFill>
                <a:latin typeface="Calibri (MS)"/>
                <a:ea typeface="Calibri (MS)"/>
                <a:cs typeface="Calibri (MS)"/>
                <a:sym typeface="Calibri (MS)"/>
              </a:rPr>
              <a:t>Leptospirosis: </a:t>
            </a:r>
            <a:r>
              <a:rPr lang="en-US" sz="1250" b="true">
                <a:solidFill>
                  <a:srgbClr val="1B2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33 cases (June) → 78 (July)</a:t>
            </a:r>
          </a:p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B832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BMC's citywide advice: 6 Jul, 10:39 PM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5263763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28 Jun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6122508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1 Jul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8984971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11 Jul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11561197" y="4196334"/>
            <a:ext cx="731520" cy="2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B6577"/>
                </a:solidFill>
                <a:latin typeface="Calibri (MS)"/>
                <a:ea typeface="Calibri (MS)"/>
                <a:cs typeface="Calibri (MS)"/>
                <a:sym typeface="Calibri (MS)"/>
              </a:rPr>
              <a:t>20 Jul</a:t>
            </a:r>
          </a:p>
        </p:txBody>
      </p:sp>
      <p:sp>
        <p:nvSpPr>
          <p:cNvPr name="TextBox 231" id="231"/>
          <p:cNvSpPr txBox="true"/>
          <p:nvPr/>
        </p:nvSpPr>
        <p:spPr>
          <a:xfrm rot="0">
            <a:off x="9966960" y="3547110"/>
            <a:ext cx="2103120" cy="22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i="true">
                <a:solidFill>
                  <a:srgbClr val="5B657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Daily rain, mm (Open-Meteo, real data)</a:t>
            </a:r>
          </a:p>
        </p:txBody>
      </p:sp>
      <p:sp>
        <p:nvSpPr>
          <p:cNvPr name="TextBox 232" id="232"/>
          <p:cNvSpPr txBox="true"/>
          <p:nvPr/>
        </p:nvSpPr>
        <p:spPr>
          <a:xfrm rot="0">
            <a:off x="5528148" y="3572408"/>
            <a:ext cx="868680" cy="22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 b="true">
                <a:solidFill>
                  <a:srgbClr val="E39B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WATCH 1 Jul</a:t>
            </a:r>
          </a:p>
        </p:txBody>
      </p:sp>
      <p:sp>
        <p:nvSpPr>
          <p:cNvPr name="TextBox 233" id="233"/>
          <p:cNvSpPr txBox="true"/>
          <p:nvPr/>
        </p:nvSpPr>
        <p:spPr>
          <a:xfrm rot="0">
            <a:off x="6426241" y="3363849"/>
            <a:ext cx="1115568" cy="22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 b="true">
                <a:solidFill>
                  <a:srgbClr val="DD6A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WARNING 5 Jul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5166360" y="4634865"/>
            <a:ext cx="6995160" cy="284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 b="true">
                <a:solidFill>
                  <a:srgbClr val="0E8C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Real-data check: on 26 Jul 2005 a free weather map showed ~70 mm, gauges ~944 mm. So VARSHA uses real gauges.</a:t>
            </a:r>
          </a:p>
        </p:txBody>
      </p:sp>
      <p:sp>
        <p:nvSpPr>
          <p:cNvPr name="TextBox 235" id="235"/>
          <p:cNvSpPr txBox="true"/>
          <p:nvPr/>
        </p:nvSpPr>
        <p:spPr>
          <a:xfrm rot="0">
            <a:off x="4983480" y="622458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Sources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5022885" y="6625971"/>
            <a:ext cx="124358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IDSP outbreaks (2009–26)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BMC reports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IMD &amp; NOAA gauges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Live forecasts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Flood spots &amp; census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6480810" y="621677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Ingestion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6544818" y="6595110"/>
            <a:ext cx="1243584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Auto-fetch: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rain hourly, outbreaks weekly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PDF reader: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IDSP tables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Rain fix: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forecast vs real gauges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 stamp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on every number</a:t>
            </a:r>
          </a:p>
        </p:txBody>
      </p:sp>
      <p:sp>
        <p:nvSpPr>
          <p:cNvPr name="TextBox 239" id="239"/>
          <p:cNvSpPr txBox="true"/>
          <p:nvPr/>
        </p:nvSpPr>
        <p:spPr>
          <a:xfrm rot="0">
            <a:off x="7978140" y="621677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sp>
        <p:nvSpPr>
          <p:cNvPr name="TextBox 240" id="240"/>
          <p:cNvSpPr txBox="true"/>
          <p:nvPr/>
        </p:nvSpPr>
        <p:spPr>
          <a:xfrm rot="0">
            <a:off x="8042148" y="6625971"/>
            <a:ext cx="1243584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24 wards: people &amp; slum share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386 flood spots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~200 Aapla Dawakhanas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29,433 outbreak records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PostGIS</a:t>
            </a:r>
          </a:p>
        </p:txBody>
      </p:sp>
      <p:sp>
        <p:nvSpPr>
          <p:cNvPr name="TextBox 241" id="241"/>
          <p:cNvSpPr txBox="true"/>
          <p:nvPr/>
        </p:nvSpPr>
        <p:spPr>
          <a:xfrm rot="0">
            <a:off x="9475470" y="621677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Analytics</a:t>
            </a:r>
          </a:p>
        </p:txBody>
      </p:sp>
      <p:sp>
        <p:nvSpPr>
          <p:cNvPr name="TextBox 242" id="242"/>
          <p:cNvSpPr txBox="true"/>
          <p:nvPr/>
        </p:nvSpPr>
        <p:spPr>
          <a:xfrm rot="0">
            <a:off x="9512046" y="6664071"/>
            <a:ext cx="124358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Exposure: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rain × floods × people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Lepto: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case wave in 7–14 days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Mosquito: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dengue &amp; malaria risk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Spikes: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unusual case jumps</a:t>
            </a:r>
          </a:p>
        </p:txBody>
      </p:sp>
      <p:sp>
        <p:nvSpPr>
          <p:cNvPr name="TextBox 243" id="243"/>
          <p:cNvSpPr txBox="true"/>
          <p:nvPr/>
        </p:nvSpPr>
        <p:spPr>
          <a:xfrm rot="0">
            <a:off x="10980744" y="6224587"/>
            <a:ext cx="1371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</a:t>
            </a:r>
          </a:p>
        </p:txBody>
      </p:sp>
      <p:sp>
        <p:nvSpPr>
          <p:cNvPr name="TextBox 244" id="244"/>
          <p:cNvSpPr txBox="true"/>
          <p:nvPr/>
        </p:nvSpPr>
        <p:spPr>
          <a:xfrm rot="0">
            <a:off x="11027664" y="6754368"/>
            <a:ext cx="124358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Ward risk map</a:t>
            </a:r>
          </a:p>
          <a:p>
            <a:pPr algn="ctr">
              <a:lnSpc>
                <a:spcPts val="143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 Machine:</a:t>
            </a: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replay past floods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Action Planner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“Why this alert?” panel</a:t>
            </a:r>
          </a:p>
        </p:txBody>
      </p:sp>
      <p:sp>
        <p:nvSpPr>
          <p:cNvPr name="TextBox 245" id="245"/>
          <p:cNvSpPr txBox="true"/>
          <p:nvPr/>
        </p:nvSpPr>
        <p:spPr>
          <a:xfrm rot="0">
            <a:off x="4983480" y="8594217"/>
            <a:ext cx="736092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b="true" sz="1350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 &amp; Alerts</a:t>
            </a:r>
          </a:p>
        </p:txBody>
      </p:sp>
      <p:sp>
        <p:nvSpPr>
          <p:cNvPr name="TextBox 246" id="246"/>
          <p:cNvSpPr txBox="true"/>
          <p:nvPr/>
        </p:nvSpPr>
        <p:spPr>
          <a:xfrm rot="0">
            <a:off x="51114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Ward Action Sheet</a:t>
            </a:r>
          </a:p>
        </p:txBody>
      </p:sp>
      <p:sp>
        <p:nvSpPr>
          <p:cNvPr name="TextBox 247" id="247"/>
          <p:cNvSpPr txBox="true"/>
          <p:nvPr/>
        </p:nvSpPr>
        <p:spPr>
          <a:xfrm rot="0">
            <a:off x="5120640" y="9435465"/>
            <a:ext cx="1600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PDF plan for each health officer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69402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Citizen Alerts</a:t>
            </a:r>
          </a:p>
        </p:txBody>
      </p:sp>
      <p:sp>
        <p:nvSpPr>
          <p:cNvPr name="TextBox 249" id="249"/>
          <p:cNvSpPr txBox="true"/>
          <p:nvPr/>
        </p:nvSpPr>
        <p:spPr>
          <a:xfrm rot="0">
            <a:off x="6949440" y="9464040"/>
            <a:ext cx="16002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Nirmala UI"/>
                <a:ea typeface="Nirmala UI"/>
                <a:cs typeface="Nirmala UI"/>
                <a:sym typeface="Nirmala UI"/>
              </a:rPr>
              <a:t>SMS / WhatsApp: मराठी · हिंदी · English</a:t>
            </a:r>
          </a:p>
        </p:txBody>
      </p:sp>
      <p:sp>
        <p:nvSpPr>
          <p:cNvPr name="TextBox 250" id="250"/>
          <p:cNvSpPr txBox="true"/>
          <p:nvPr/>
        </p:nvSpPr>
        <p:spPr>
          <a:xfrm rot="0">
            <a:off x="87690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Doctor Alerts</a:t>
            </a:r>
          </a:p>
        </p:txBody>
      </p:sp>
      <p:sp>
        <p:nvSpPr>
          <p:cNvPr name="TextBox 251" id="251"/>
          <p:cNvSpPr txBox="true"/>
          <p:nvPr/>
        </p:nvSpPr>
        <p:spPr>
          <a:xfrm rot="0">
            <a:off x="8778240" y="9435465"/>
            <a:ext cx="1600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Expect cases: treat fever early</a:t>
            </a:r>
          </a:p>
        </p:txBody>
      </p:sp>
      <p:sp>
        <p:nvSpPr>
          <p:cNvPr name="TextBox 252" id="252"/>
          <p:cNvSpPr txBox="true"/>
          <p:nvPr/>
        </p:nvSpPr>
        <p:spPr>
          <a:xfrm rot="0">
            <a:off x="10597896" y="9225153"/>
            <a:ext cx="1618488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9"/>
              </a:lnSpc>
            </a:pPr>
            <a:r>
              <a:rPr lang="en-US" b="true" sz="1149">
                <a:solidFill>
                  <a:srgbClr val="C2E6F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Weekly Bulletin</a:t>
            </a:r>
          </a:p>
        </p:txBody>
      </p:sp>
      <p:sp>
        <p:nvSpPr>
          <p:cNvPr name="TextBox 253" id="253"/>
          <p:cNvSpPr txBox="true"/>
          <p:nvPr/>
        </p:nvSpPr>
        <p:spPr>
          <a:xfrm rot="0">
            <a:off x="10607040" y="9435465"/>
            <a:ext cx="1600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Auto-drafted, officer-approved</a:t>
            </a:r>
          </a:p>
        </p:txBody>
      </p:sp>
      <p:sp>
        <p:nvSpPr>
          <p:cNvPr name="TextBox 254" id="254"/>
          <p:cNvSpPr txBox="true"/>
          <p:nvPr/>
        </p:nvSpPr>
        <p:spPr>
          <a:xfrm rot="0">
            <a:off x="13514832" y="3527608"/>
            <a:ext cx="3977639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ontserrat Bold"/>
              </a:rPr>
              <a:t>Ward Risk Map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D5DDFF"/>
                </a:solidFill>
                <a:latin typeface="Montserrat"/>
              </a:rPr>
              <a:t>Rain × flood spots × people, scored for all 24 wards</a:t>
            </a:r>
          </a:p>
        </p:txBody>
      </p:sp>
      <p:sp>
        <p:nvSpPr>
          <p:cNvPr name="TextBox 255" id="255"/>
          <p:cNvSpPr txBox="true"/>
          <p:nvPr/>
        </p:nvSpPr>
        <p:spPr>
          <a:xfrm rot="0">
            <a:off x="12750473" y="2726703"/>
            <a:ext cx="518792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</a:t>
            </a:r>
          </a:p>
        </p:txBody>
      </p:sp>
      <p:sp>
        <p:nvSpPr>
          <p:cNvPr name="TextBox 256" id="256"/>
          <p:cNvSpPr txBox="true"/>
          <p:nvPr/>
        </p:nvSpPr>
        <p:spPr>
          <a:xfrm rot="0">
            <a:off x="13514832" y="4826006"/>
            <a:ext cx="3977639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ontserrat Bold"/>
              </a:rPr>
              <a:t>Outbreak Forecast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D5DDFF"/>
                </a:solidFill>
                <a:latin typeface="Montserrat"/>
              </a:rPr>
              <a:t>Leptospirosis 7–14 days ahead; dengue &amp; malaria weeks ahead</a:t>
            </a:r>
          </a:p>
        </p:txBody>
      </p:sp>
      <p:sp>
        <p:nvSpPr>
          <p:cNvPr name="TextBox 257" id="257"/>
          <p:cNvSpPr txBox="true"/>
          <p:nvPr/>
        </p:nvSpPr>
        <p:spPr>
          <a:xfrm rot="0">
            <a:off x="13514832" y="6124404"/>
            <a:ext cx="3977639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ontserrat Bold"/>
              </a:rPr>
              <a:t>Time Machine Replay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D5DDFF"/>
                </a:solidFill>
                <a:latin typeface="Montserrat"/>
              </a:rPr>
              <a:t>Tests VARSHA on real past floods (2005, 2025, 2026)</a:t>
            </a:r>
          </a:p>
        </p:txBody>
      </p:sp>
      <p:sp>
        <p:nvSpPr>
          <p:cNvPr name="TextBox 258" id="258"/>
          <p:cNvSpPr txBox="true"/>
          <p:nvPr/>
        </p:nvSpPr>
        <p:spPr>
          <a:xfrm rot="0">
            <a:off x="13514832" y="7422802"/>
            <a:ext cx="3977639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ontserrat Bold"/>
              </a:rPr>
              <a:t>Smart Action Planner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D5DDFF"/>
                </a:solidFill>
                <a:latin typeface="Montserrat"/>
              </a:rPr>
              <a:t>Puts fever camps &amp; spray teams in top-risk wards first</a:t>
            </a:r>
          </a:p>
        </p:txBody>
      </p:sp>
      <p:sp>
        <p:nvSpPr>
          <p:cNvPr name="TextBox 259" id="259"/>
          <p:cNvSpPr txBox="true"/>
          <p:nvPr/>
        </p:nvSpPr>
        <p:spPr>
          <a:xfrm rot="0">
            <a:off x="13514832" y="8721200"/>
            <a:ext cx="3977639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ontserrat Bold"/>
              </a:rPr>
              <a:t>72-Hour Citizen Alerts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D5DDFF"/>
                </a:solidFill>
                <a:latin typeface="Montserrat"/>
              </a:rPr>
              <a:t>SMS / WhatsApp in Marathi, Hindi &amp; English</a:t>
            </a:r>
          </a:p>
        </p:txBody>
      </p:sp>
      <p:pic>
        <p:nvPicPr>
          <p:cNvPr id="260" name="Feature icon: Ward Risk Map" descr="E800_E6ECFF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752923" y="3830920"/>
            <a:ext cx="384048" cy="384048"/>
          </a:xfrm>
          <a:prstGeom prst="rect">
            <a:avLst/>
          </a:prstGeom>
        </p:spPr>
      </p:pic>
      <p:pic>
        <p:nvPicPr>
          <p:cNvPr id="261" name="Feature icon: Outbreak Forecast" descr="E9D2_E6ECFF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778189" y="5129318"/>
            <a:ext cx="384048" cy="384048"/>
          </a:xfrm>
          <a:prstGeom prst="rect">
            <a:avLst/>
          </a:prstGeom>
        </p:spPr>
      </p:pic>
      <p:pic>
        <p:nvPicPr>
          <p:cNvPr id="262" name="Feature icon: Time Machine Replay" descr="E81C_E6ECFF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803455" y="6427716"/>
            <a:ext cx="384048" cy="384048"/>
          </a:xfrm>
          <a:prstGeom prst="rect">
            <a:avLst/>
          </a:prstGeom>
        </p:spPr>
      </p:pic>
      <p:pic>
        <p:nvPicPr>
          <p:cNvPr id="263" name="Feature icon: Smart Action Planner" descr="F272_E6ECFF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828721" y="7726114"/>
            <a:ext cx="384048" cy="384048"/>
          </a:xfrm>
          <a:prstGeom prst="rect">
            <a:avLst/>
          </a:prstGeom>
        </p:spPr>
      </p:pic>
      <p:pic>
        <p:nvPicPr>
          <p:cNvPr id="264" name="Feature icon: 72-Hour Citizen Alerts" descr="E8BD_E6ECFF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2853986" y="902451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7240" y="3291840"/>
            <a:ext cx="7387865" cy="932688"/>
            <a:chOff x="0" y="0"/>
            <a:chExt cx="9850487" cy="1243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32688" y="3474720"/>
            <a:ext cx="566928" cy="566928"/>
            <a:chOff x="0" y="0"/>
            <a:chExt cx="755904" cy="7559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63085" y="3605117"/>
            <a:ext cx="306143" cy="306143"/>
            <a:chOff x="0" y="0"/>
            <a:chExt cx="408191" cy="408191"/>
          </a:xfrm>
        </p:grpSpPr>
        <p:sp>
          <p:nvSpPr>
            <p:cNvPr name="Freeform 15" id="15" descr="E800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77240" y="4370832"/>
            <a:ext cx="7387865" cy="932688"/>
            <a:chOff x="0" y="0"/>
            <a:chExt cx="9850487" cy="1243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32688" y="4553712"/>
            <a:ext cx="566928" cy="566928"/>
            <a:chOff x="0" y="0"/>
            <a:chExt cx="755904" cy="7559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63085" y="4684109"/>
            <a:ext cx="306143" cy="306143"/>
            <a:chOff x="0" y="0"/>
            <a:chExt cx="408191" cy="408191"/>
          </a:xfrm>
        </p:grpSpPr>
        <p:sp>
          <p:nvSpPr>
            <p:cNvPr name="Freeform 21" id="21" descr="E943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-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77240" y="5449824"/>
            <a:ext cx="7387865" cy="932688"/>
            <a:chOff x="0" y="0"/>
            <a:chExt cx="9850487" cy="12435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" y="5632704"/>
            <a:ext cx="566928" cy="566928"/>
            <a:chOff x="0" y="0"/>
            <a:chExt cx="755904" cy="7559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63085" y="5763101"/>
            <a:ext cx="306143" cy="306143"/>
            <a:chOff x="0" y="0"/>
            <a:chExt cx="408191" cy="408191"/>
          </a:xfrm>
        </p:grpSpPr>
        <p:sp>
          <p:nvSpPr>
            <p:cNvPr name="Freeform 27" id="27" descr="EEA1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3" b="-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7240" y="6528816"/>
            <a:ext cx="7387865" cy="932688"/>
            <a:chOff x="0" y="0"/>
            <a:chExt cx="9850487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50487" cy="1243584"/>
            </a:xfrm>
            <a:custGeom>
              <a:avLst/>
              <a:gdLst/>
              <a:ahLst/>
              <a:cxnLst/>
              <a:rect r="r" b="b" t="t" l="l"/>
              <a:pathLst>
                <a:path h="1243584" w="9850487">
                  <a:moveTo>
                    <a:pt x="0" y="146304"/>
                  </a:moveTo>
                  <a:cubicBezTo>
                    <a:pt x="0" y="65532"/>
                    <a:pt x="70595" y="0"/>
                    <a:pt x="157608" y="0"/>
                  </a:cubicBezTo>
                  <a:lnTo>
                    <a:pt x="9692879" y="0"/>
                  </a:lnTo>
                  <a:cubicBezTo>
                    <a:pt x="9779892" y="0"/>
                    <a:pt x="9850487" y="65532"/>
                    <a:pt x="9850487" y="146304"/>
                  </a:cubicBezTo>
                  <a:lnTo>
                    <a:pt x="9850487" y="1097280"/>
                  </a:lnTo>
                  <a:cubicBezTo>
                    <a:pt x="9850487" y="1178052"/>
                    <a:pt x="9779892" y="1243584"/>
                    <a:pt x="9692879" y="1243584"/>
                  </a:cubicBezTo>
                  <a:lnTo>
                    <a:pt x="157608" y="1243584"/>
                  </a:lnTo>
                  <a:cubicBezTo>
                    <a:pt x="70595" y="1243584"/>
                    <a:pt x="0" y="1178052"/>
                    <a:pt x="0" y="1097280"/>
                  </a:cubicBez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D7EE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" y="6711696"/>
            <a:ext cx="566928" cy="566928"/>
            <a:chOff x="0" y="0"/>
            <a:chExt cx="755904" cy="7559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" cy="755904"/>
            </a:xfrm>
            <a:custGeom>
              <a:avLst/>
              <a:gdLst/>
              <a:ahLst/>
              <a:cxnLst/>
              <a:rect r="r" b="b" t="t" l="l"/>
              <a:pathLst>
                <a:path h="755904" w="755904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cubicBezTo>
                    <a:pt x="586740" y="0"/>
                    <a:pt x="755904" y="169164"/>
                    <a:pt x="755904" y="377952"/>
                  </a:cubicBezTo>
                  <a:cubicBezTo>
                    <a:pt x="755904" y="586740"/>
                    <a:pt x="586740" y="755904"/>
                    <a:pt x="377952" y="755904"/>
                  </a:cubicBez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63085" y="6842093"/>
            <a:ext cx="306143" cy="306143"/>
            <a:chOff x="0" y="0"/>
            <a:chExt cx="408191" cy="408191"/>
          </a:xfrm>
        </p:grpSpPr>
        <p:sp>
          <p:nvSpPr>
            <p:cNvPr name="Freeform 33" id="33" descr="EA18_FFFFFF.png"/>
            <p:cNvSpPr/>
            <p:nvPr/>
          </p:nvSpPr>
          <p:spPr>
            <a:xfrm flipH="false" flipV="false" rot="0">
              <a:off x="0" y="0"/>
              <a:ext cx="408178" cy="408178"/>
            </a:xfrm>
            <a:custGeom>
              <a:avLst/>
              <a:gdLst/>
              <a:ahLst/>
              <a:cxnLst/>
              <a:rect r="r" b="b" t="t" l="l"/>
              <a:pathLst>
                <a:path h="408178" w="408178">
                  <a:moveTo>
                    <a:pt x="0" y="0"/>
                  </a:moveTo>
                  <a:lnTo>
                    <a:pt x="408178" y="0"/>
                  </a:lnTo>
                  <a:lnTo>
                    <a:pt x="408178" y="408178"/>
                  </a:lnTo>
                  <a:lnTo>
                    <a:pt x="0" y="408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3" b="-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9306" y="7581586"/>
            <a:ext cx="7395800" cy="1113158"/>
            <a:chOff x="0" y="0"/>
            <a:chExt cx="9861066" cy="14842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861104" cy="1484249"/>
            </a:xfrm>
            <a:custGeom>
              <a:avLst/>
              <a:gdLst/>
              <a:ahLst/>
              <a:cxnLst/>
              <a:rect r="r" b="b" t="t" l="l"/>
              <a:pathLst>
                <a:path h="1484249" w="9861104">
                  <a:moveTo>
                    <a:pt x="0" y="148463"/>
                  </a:moveTo>
                  <a:cubicBezTo>
                    <a:pt x="0" y="66421"/>
                    <a:pt x="71464" y="0"/>
                    <a:pt x="159736" y="0"/>
                  </a:cubicBezTo>
                  <a:lnTo>
                    <a:pt x="9701371" y="0"/>
                  </a:lnTo>
                  <a:cubicBezTo>
                    <a:pt x="9789506" y="0"/>
                    <a:pt x="9861104" y="66421"/>
                    <a:pt x="9861104" y="148463"/>
                  </a:cubicBezTo>
                  <a:lnTo>
                    <a:pt x="9861104" y="1335786"/>
                  </a:lnTo>
                  <a:cubicBezTo>
                    <a:pt x="9861104" y="1417701"/>
                    <a:pt x="9789644" y="1484249"/>
                    <a:pt x="9701371" y="1484249"/>
                  </a:cubicBezTo>
                  <a:lnTo>
                    <a:pt x="159736" y="1484249"/>
                  </a:lnTo>
                  <a:cubicBezTo>
                    <a:pt x="71464" y="1484249"/>
                    <a:pt x="0" y="1417701"/>
                    <a:pt x="0" y="1335786"/>
                  </a:cubicBezTo>
                  <a:close/>
                </a:path>
              </a:pathLst>
            </a:custGeom>
            <a:solidFill>
              <a:srgbClr val="4A5278"/>
            </a:solidFill>
            <a:ln w="15875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05256" y="7671816"/>
            <a:ext cx="347472" cy="347472"/>
            <a:chOff x="0" y="0"/>
            <a:chExt cx="463296" cy="463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3296" cy="463296"/>
            </a:xfrm>
            <a:custGeom>
              <a:avLst/>
              <a:gdLst/>
              <a:ahLst/>
              <a:cxnLst/>
              <a:rect r="r" b="b" t="t" l="l"/>
              <a:pathLst>
                <a:path h="463296" w="463296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cubicBezTo>
                    <a:pt x="359537" y="0"/>
                    <a:pt x="463296" y="103759"/>
                    <a:pt x="463296" y="231648"/>
                  </a:cubicBezTo>
                  <a:cubicBezTo>
                    <a:pt x="463296" y="359537"/>
                    <a:pt x="359537" y="463296"/>
                    <a:pt x="231648" y="463296"/>
                  </a:cubicBezTo>
                  <a:cubicBezTo>
                    <a:pt x="103759" y="463296"/>
                    <a:pt x="0" y="359537"/>
                    <a:pt x="0" y="231648"/>
                  </a:cubicBezTo>
                  <a:close/>
                </a:path>
              </a:pathLst>
            </a:custGeom>
            <a:solidFill>
              <a:srgbClr val="0F2341"/>
            </a:solidFill>
            <a:ln w="9525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5171" y="7751731"/>
            <a:ext cx="187633" cy="187633"/>
            <a:chOff x="0" y="0"/>
            <a:chExt cx="250177" cy="250177"/>
          </a:xfrm>
        </p:grpSpPr>
        <p:sp>
          <p:nvSpPr>
            <p:cNvPr name="Freeform 39" id="39" descr="E71B_FFFFFF.png"/>
            <p:cNvSpPr/>
            <p:nvPr/>
          </p:nvSpPr>
          <p:spPr>
            <a:xfrm flipH="false" flipV="false" rot="0">
              <a:off x="0" y="0"/>
              <a:ext cx="250190" cy="250190"/>
            </a:xfrm>
            <a:custGeom>
              <a:avLst/>
              <a:gdLst/>
              <a:ahLst/>
              <a:cxnLst/>
              <a:rect r="r" b="b" t="t" l="l"/>
              <a:pathLst>
                <a:path h="250190" w="250190">
                  <a:moveTo>
                    <a:pt x="0" y="0"/>
                  </a:moveTo>
                  <a:lnTo>
                    <a:pt x="250190" y="0"/>
                  </a:lnTo>
                  <a:lnTo>
                    <a:pt x="250190" y="250190"/>
                  </a:lnTo>
                  <a:lnTo>
                    <a:pt x="0" y="250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5" b="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25880" y="7671816"/>
            <a:ext cx="1828800" cy="347472"/>
            <a:chOff x="0" y="0"/>
            <a:chExt cx="2438400" cy="4632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463296"/>
            </a:xfrm>
            <a:custGeom>
              <a:avLst/>
              <a:gdLst/>
              <a:ahLst/>
              <a:cxnLst/>
              <a:rect r="r" b="b" t="t" l="l"/>
              <a:pathLst>
                <a:path h="46329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438400" cy="50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E2D9F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70887" y="8808463"/>
            <a:ext cx="701164" cy="396745"/>
            <a:chOff x="0" y="0"/>
            <a:chExt cx="934885" cy="5289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4974" cy="528955"/>
            </a:xfrm>
            <a:custGeom>
              <a:avLst/>
              <a:gdLst/>
              <a:ahLst/>
              <a:cxnLst/>
              <a:rect r="r" b="b" t="t" l="l"/>
              <a:pathLst>
                <a:path h="528955" w="93497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70433" y="0"/>
                  </a:lnTo>
                  <a:cubicBezTo>
                    <a:pt x="816483" y="0"/>
                    <a:pt x="934974" y="118364"/>
                    <a:pt x="934974" y="264541"/>
                  </a:cubicBezTo>
                  <a:cubicBezTo>
                    <a:pt x="934974" y="410718"/>
                    <a:pt x="816483" y="528955"/>
                    <a:pt x="670433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E9F7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77240" y="8814816"/>
            <a:ext cx="688467" cy="384048"/>
            <a:chOff x="0" y="0"/>
            <a:chExt cx="917956" cy="512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7956" cy="512064"/>
            </a:xfrm>
            <a:custGeom>
              <a:avLst/>
              <a:gdLst/>
              <a:ahLst/>
              <a:cxnLst/>
              <a:rect r="r" b="b" t="t" l="l"/>
              <a:pathLst>
                <a:path h="512064" w="917956">
                  <a:moveTo>
                    <a:pt x="0" y="0"/>
                  </a:moveTo>
                  <a:lnTo>
                    <a:pt x="917956" y="0"/>
                  </a:lnTo>
                  <a:lnTo>
                    <a:pt x="91795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1571" t="0" r="-2157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91795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50794" y="8808463"/>
            <a:ext cx="722062" cy="396745"/>
            <a:chOff x="0" y="0"/>
            <a:chExt cx="962749" cy="5289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2787" cy="528955"/>
            </a:xfrm>
            <a:custGeom>
              <a:avLst/>
              <a:gdLst/>
              <a:ahLst/>
              <a:cxnLst/>
              <a:rect r="r" b="b" t="t" l="l"/>
              <a:pathLst>
                <a:path h="528955" w="962787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98246" y="0"/>
                  </a:lnTo>
                  <a:cubicBezTo>
                    <a:pt x="844296" y="0"/>
                    <a:pt x="962787" y="118364"/>
                    <a:pt x="962787" y="264541"/>
                  </a:cubicBezTo>
                  <a:cubicBezTo>
                    <a:pt x="962787" y="410718"/>
                    <a:pt x="844296" y="528955"/>
                    <a:pt x="698246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DF3EE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557147" y="8814816"/>
            <a:ext cx="709365" cy="384048"/>
            <a:chOff x="0" y="0"/>
            <a:chExt cx="94582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5816" cy="512064"/>
            </a:xfrm>
            <a:custGeom>
              <a:avLst/>
              <a:gdLst/>
              <a:ahLst/>
              <a:cxnLst/>
              <a:rect r="r" b="b" t="t" l="l"/>
              <a:pathLst>
                <a:path h="512064" w="945816">
                  <a:moveTo>
                    <a:pt x="0" y="0"/>
                  </a:moveTo>
                  <a:lnTo>
                    <a:pt x="945816" y="0"/>
                  </a:lnTo>
                  <a:lnTo>
                    <a:pt x="9458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19463" t="0" r="-1946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9458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51599" y="8808463"/>
            <a:ext cx="608457" cy="396745"/>
            <a:chOff x="0" y="0"/>
            <a:chExt cx="811276" cy="52899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1276" cy="528955"/>
            </a:xfrm>
            <a:custGeom>
              <a:avLst/>
              <a:gdLst/>
              <a:ahLst/>
              <a:cxnLst/>
              <a:rect r="r" b="b" t="t" l="l"/>
              <a:pathLst>
                <a:path h="528955" w="81127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546735" y="0"/>
                  </a:lnTo>
                  <a:cubicBezTo>
                    <a:pt x="692785" y="0"/>
                    <a:pt x="811276" y="118364"/>
                    <a:pt x="811276" y="264541"/>
                  </a:cubicBezTo>
                  <a:cubicBezTo>
                    <a:pt x="811276" y="410718"/>
                    <a:pt x="692912" y="528955"/>
                    <a:pt x="54673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EFF8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2357952" y="8814816"/>
            <a:ext cx="595760" cy="384048"/>
            <a:chOff x="0" y="0"/>
            <a:chExt cx="794347" cy="5120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94343" cy="512064"/>
            </a:xfrm>
            <a:custGeom>
              <a:avLst/>
              <a:gdLst/>
              <a:ahLst/>
              <a:cxnLst/>
              <a:rect r="r" b="b" t="t" l="l"/>
              <a:pathLst>
                <a:path h="512064" w="794343">
                  <a:moveTo>
                    <a:pt x="0" y="0"/>
                  </a:moveTo>
                  <a:lnTo>
                    <a:pt x="794343" y="0"/>
                  </a:lnTo>
                  <a:lnTo>
                    <a:pt x="79434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32709" t="0" r="-3270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79434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038799" y="8808463"/>
            <a:ext cx="682752" cy="396745"/>
            <a:chOff x="0" y="0"/>
            <a:chExt cx="910336" cy="5289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0336" cy="528955"/>
            </a:xfrm>
            <a:custGeom>
              <a:avLst/>
              <a:gdLst/>
              <a:ahLst/>
              <a:cxnLst/>
              <a:rect r="r" b="b" t="t" l="l"/>
              <a:pathLst>
                <a:path h="528955" w="91033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45795" y="0"/>
                  </a:lnTo>
                  <a:cubicBezTo>
                    <a:pt x="791845" y="0"/>
                    <a:pt x="910336" y="118364"/>
                    <a:pt x="910336" y="264541"/>
                  </a:cubicBezTo>
                  <a:cubicBezTo>
                    <a:pt x="910336" y="410718"/>
                    <a:pt x="791972" y="528955"/>
                    <a:pt x="64579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3F2DC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3045142" y="8814816"/>
            <a:ext cx="670055" cy="384048"/>
            <a:chOff x="0" y="0"/>
            <a:chExt cx="893407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3403" cy="512064"/>
            </a:xfrm>
            <a:custGeom>
              <a:avLst/>
              <a:gdLst/>
              <a:ahLst/>
              <a:cxnLst/>
              <a:rect r="r" b="b" t="t" l="l"/>
              <a:pathLst>
                <a:path h="512064" w="893403">
                  <a:moveTo>
                    <a:pt x="0" y="0"/>
                  </a:moveTo>
                  <a:lnTo>
                    <a:pt x="893403" y="0"/>
                  </a:lnTo>
                  <a:lnTo>
                    <a:pt x="89340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3538" t="0" r="-2353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89340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Leaflet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800284" y="8808463"/>
            <a:ext cx="1566034" cy="396745"/>
            <a:chOff x="0" y="0"/>
            <a:chExt cx="2088045" cy="5289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88134" cy="529082"/>
            </a:xfrm>
            <a:custGeom>
              <a:avLst/>
              <a:gdLst/>
              <a:ahLst/>
              <a:cxnLst/>
              <a:rect r="r" b="b" t="t" l="l"/>
              <a:pathLst>
                <a:path h="529082" w="208813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823593" y="0"/>
                  </a:lnTo>
                  <a:cubicBezTo>
                    <a:pt x="1969643" y="0"/>
                    <a:pt x="2088134" y="118364"/>
                    <a:pt x="2088134" y="264541"/>
                  </a:cubicBezTo>
                  <a:cubicBezTo>
                    <a:pt x="2088134" y="410718"/>
                    <a:pt x="1969770" y="529082"/>
                    <a:pt x="1823593" y="529082"/>
                  </a:cubicBezTo>
                  <a:lnTo>
                    <a:pt x="264541" y="529082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FE7F3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3806638" y="8814816"/>
            <a:ext cx="1553337" cy="384048"/>
            <a:chOff x="0" y="0"/>
            <a:chExt cx="2071116" cy="5120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71116" cy="512064"/>
            </a:xfrm>
            <a:custGeom>
              <a:avLst/>
              <a:gdLst/>
              <a:ahLst/>
              <a:cxnLst/>
              <a:rect r="r" b="b" t="t" l="l"/>
              <a:pathLst>
                <a:path h="512064" w="2071116">
                  <a:moveTo>
                    <a:pt x="0" y="0"/>
                  </a:moveTo>
                  <a:lnTo>
                    <a:pt x="2071116" y="0"/>
                  </a:lnTo>
                  <a:lnTo>
                    <a:pt x="20711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28810" r="0" b="-288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07111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 + PostGIS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45062" y="8808463"/>
            <a:ext cx="705612" cy="396745"/>
            <a:chOff x="0" y="0"/>
            <a:chExt cx="940816" cy="52899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40816" cy="528955"/>
            </a:xfrm>
            <a:custGeom>
              <a:avLst/>
              <a:gdLst/>
              <a:ahLst/>
              <a:cxnLst/>
              <a:rect r="r" b="b" t="t" l="l"/>
              <a:pathLst>
                <a:path h="528955" w="94081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76275" y="0"/>
                  </a:lnTo>
                  <a:cubicBezTo>
                    <a:pt x="822325" y="0"/>
                    <a:pt x="940816" y="118364"/>
                    <a:pt x="940816" y="264541"/>
                  </a:cubicBezTo>
                  <a:cubicBezTo>
                    <a:pt x="940816" y="410718"/>
                    <a:pt x="822452" y="528955"/>
                    <a:pt x="67627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7E4F7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5451415" y="8814816"/>
            <a:ext cx="692915" cy="384048"/>
            <a:chOff x="0" y="0"/>
            <a:chExt cx="923887" cy="5120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23883" cy="512064"/>
            </a:xfrm>
            <a:custGeom>
              <a:avLst/>
              <a:gdLst/>
              <a:ahLst/>
              <a:cxnLst/>
              <a:rect r="r" b="b" t="t" l="l"/>
              <a:pathLst>
                <a:path h="512064" w="923883">
                  <a:moveTo>
                    <a:pt x="0" y="0"/>
                  </a:moveTo>
                  <a:lnTo>
                    <a:pt x="923883" y="0"/>
                  </a:lnTo>
                  <a:lnTo>
                    <a:pt x="92388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1112" t="0" r="-2111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2388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Pandas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229417" y="8808463"/>
            <a:ext cx="1013584" cy="396745"/>
            <a:chOff x="0" y="0"/>
            <a:chExt cx="1351445" cy="52899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51534" cy="528955"/>
            </a:xfrm>
            <a:custGeom>
              <a:avLst/>
              <a:gdLst/>
              <a:ahLst/>
              <a:cxnLst/>
              <a:rect r="r" b="b" t="t" l="l"/>
              <a:pathLst>
                <a:path h="528955" w="135153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086993" y="0"/>
                  </a:lnTo>
                  <a:cubicBezTo>
                    <a:pt x="1233043" y="0"/>
                    <a:pt x="1351534" y="118364"/>
                    <a:pt x="1351534" y="264541"/>
                  </a:cubicBezTo>
                  <a:cubicBezTo>
                    <a:pt x="1351534" y="410718"/>
                    <a:pt x="1233043" y="528955"/>
                    <a:pt x="1086993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AE7F2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6235770" y="8814816"/>
            <a:ext cx="1000887" cy="384048"/>
            <a:chOff x="0" y="0"/>
            <a:chExt cx="1334516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34516" cy="512064"/>
            </a:xfrm>
            <a:custGeom>
              <a:avLst/>
              <a:gdLst/>
              <a:ahLst/>
              <a:cxnLst/>
              <a:rect r="r" b="b" t="t" l="l"/>
              <a:pathLst>
                <a:path h="512064" w="1334516">
                  <a:moveTo>
                    <a:pt x="0" y="0"/>
                  </a:moveTo>
                  <a:lnTo>
                    <a:pt x="1334516" y="0"/>
                  </a:lnTo>
                  <a:lnTo>
                    <a:pt x="13345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780" r="0" b="-78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33451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Statsmodels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70887" y="9283951"/>
            <a:ext cx="866899" cy="396745"/>
            <a:chOff x="0" y="0"/>
            <a:chExt cx="1155865" cy="5289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55954" cy="528955"/>
            </a:xfrm>
            <a:custGeom>
              <a:avLst/>
              <a:gdLst/>
              <a:ahLst/>
              <a:cxnLst/>
              <a:rect r="r" b="b" t="t" l="l"/>
              <a:pathLst>
                <a:path h="528955" w="115595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891413" y="0"/>
                  </a:lnTo>
                  <a:cubicBezTo>
                    <a:pt x="1037463" y="0"/>
                    <a:pt x="1155954" y="118364"/>
                    <a:pt x="1155954" y="264541"/>
                  </a:cubicBezTo>
                  <a:cubicBezTo>
                    <a:pt x="1155954" y="410718"/>
                    <a:pt x="1037463" y="528955"/>
                    <a:pt x="891413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E5F1DD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777240" y="9290304"/>
            <a:ext cx="854202" cy="384048"/>
            <a:chOff x="0" y="0"/>
            <a:chExt cx="1138936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38936" cy="512064"/>
            </a:xfrm>
            <a:custGeom>
              <a:avLst/>
              <a:gdLst/>
              <a:ahLst/>
              <a:cxnLst/>
              <a:rect r="r" b="b" t="t" l="l"/>
              <a:pathLst>
                <a:path h="512064" w="1138936">
                  <a:moveTo>
                    <a:pt x="0" y="0"/>
                  </a:moveTo>
                  <a:lnTo>
                    <a:pt x="1138936" y="0"/>
                  </a:lnTo>
                  <a:lnTo>
                    <a:pt x="113893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7685" t="0" r="-7685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13893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LightGBM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16529" y="9283951"/>
            <a:ext cx="1106929" cy="396745"/>
            <a:chOff x="0" y="0"/>
            <a:chExt cx="1475905" cy="52899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75994" cy="529082"/>
            </a:xfrm>
            <a:custGeom>
              <a:avLst/>
              <a:gdLst/>
              <a:ahLst/>
              <a:cxnLst/>
              <a:rect r="r" b="b" t="t" l="l"/>
              <a:pathLst>
                <a:path h="529082" w="1475994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211453" y="0"/>
                  </a:lnTo>
                  <a:cubicBezTo>
                    <a:pt x="1357503" y="0"/>
                    <a:pt x="1475994" y="118364"/>
                    <a:pt x="1475994" y="264541"/>
                  </a:cubicBezTo>
                  <a:cubicBezTo>
                    <a:pt x="1475994" y="410718"/>
                    <a:pt x="1357630" y="529082"/>
                    <a:pt x="1211453" y="529082"/>
                  </a:cubicBezTo>
                  <a:lnTo>
                    <a:pt x="264541" y="529082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DE7F5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722882" y="9290304"/>
            <a:ext cx="1094232" cy="384048"/>
            <a:chOff x="0" y="0"/>
            <a:chExt cx="1458976" cy="5120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58976" cy="512064"/>
            </a:xfrm>
            <a:custGeom>
              <a:avLst/>
              <a:gdLst/>
              <a:ahLst/>
              <a:cxnLst/>
              <a:rect r="r" b="b" t="t" l="l"/>
              <a:pathLst>
                <a:path h="512064" w="1458976">
                  <a:moveTo>
                    <a:pt x="0" y="0"/>
                  </a:moveTo>
                  <a:lnTo>
                    <a:pt x="1458976" y="0"/>
                  </a:lnTo>
                  <a:lnTo>
                    <a:pt x="14589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5516" r="0" b="-551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458976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 surveillance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902201" y="9283951"/>
            <a:ext cx="818007" cy="396745"/>
            <a:chOff x="0" y="0"/>
            <a:chExt cx="1090676" cy="52899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0676" cy="528955"/>
            </a:xfrm>
            <a:custGeom>
              <a:avLst/>
              <a:gdLst/>
              <a:ahLst/>
              <a:cxnLst/>
              <a:rect r="r" b="b" t="t" l="l"/>
              <a:pathLst>
                <a:path h="528955" w="109067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826135" y="0"/>
                  </a:lnTo>
                  <a:cubicBezTo>
                    <a:pt x="972185" y="0"/>
                    <a:pt x="1090676" y="118364"/>
                    <a:pt x="1090676" y="264541"/>
                  </a:cubicBezTo>
                  <a:cubicBezTo>
                    <a:pt x="1090676" y="410718"/>
                    <a:pt x="972312" y="528955"/>
                    <a:pt x="82613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FBEBD6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2908554" y="9290304"/>
            <a:ext cx="805310" cy="384048"/>
            <a:chOff x="0" y="0"/>
            <a:chExt cx="1073747" cy="51206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3743" cy="512064"/>
            </a:xfrm>
            <a:custGeom>
              <a:avLst/>
              <a:gdLst/>
              <a:ahLst/>
              <a:cxnLst/>
              <a:rect r="r" b="b" t="t" l="l"/>
              <a:pathLst>
                <a:path h="512064" w="1073743">
                  <a:moveTo>
                    <a:pt x="0" y="0"/>
                  </a:moveTo>
                  <a:lnTo>
                    <a:pt x="1073743" y="0"/>
                  </a:lnTo>
                  <a:lnTo>
                    <a:pt x="107374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11187" t="0" r="-1118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07374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OR-Tools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3798951" y="9283951"/>
            <a:ext cx="696087" cy="396745"/>
            <a:chOff x="0" y="0"/>
            <a:chExt cx="928116" cy="52899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28116" cy="528955"/>
            </a:xfrm>
            <a:custGeom>
              <a:avLst/>
              <a:gdLst/>
              <a:ahLst/>
              <a:cxnLst/>
              <a:rect r="r" b="b" t="t" l="l"/>
              <a:pathLst>
                <a:path h="528955" w="928116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663575" y="0"/>
                  </a:lnTo>
                  <a:cubicBezTo>
                    <a:pt x="809625" y="0"/>
                    <a:pt x="928116" y="118364"/>
                    <a:pt x="928116" y="264541"/>
                  </a:cubicBezTo>
                  <a:cubicBezTo>
                    <a:pt x="928116" y="410718"/>
                    <a:pt x="809752" y="528955"/>
                    <a:pt x="663575" y="528955"/>
                  </a:cubicBezTo>
                  <a:lnTo>
                    <a:pt x="264541" y="528955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ECFA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3805304" y="9290304"/>
            <a:ext cx="683390" cy="384048"/>
            <a:chOff x="0" y="0"/>
            <a:chExt cx="911187" cy="51206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11183" cy="512064"/>
            </a:xfrm>
            <a:custGeom>
              <a:avLst/>
              <a:gdLst/>
              <a:ahLst/>
              <a:cxnLst/>
              <a:rect r="r" b="b" t="t" l="l"/>
              <a:pathLst>
                <a:path h="512064" w="911183">
                  <a:moveTo>
                    <a:pt x="0" y="0"/>
                  </a:moveTo>
                  <a:lnTo>
                    <a:pt x="911183" y="0"/>
                  </a:lnTo>
                  <a:lnTo>
                    <a:pt x="911183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2103" t="0" r="-2210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911187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73781" y="9283951"/>
            <a:ext cx="1073915" cy="396745"/>
            <a:chOff x="0" y="0"/>
            <a:chExt cx="1431887" cy="52899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31925" cy="529082"/>
            </a:xfrm>
            <a:custGeom>
              <a:avLst/>
              <a:gdLst/>
              <a:ahLst/>
              <a:cxnLst/>
              <a:rect r="r" b="b" t="t" l="l"/>
              <a:pathLst>
                <a:path h="529082" w="1431925">
                  <a:moveTo>
                    <a:pt x="0" y="264541"/>
                  </a:moveTo>
                  <a:cubicBezTo>
                    <a:pt x="0" y="118364"/>
                    <a:pt x="118364" y="0"/>
                    <a:pt x="264541" y="0"/>
                  </a:cubicBezTo>
                  <a:lnTo>
                    <a:pt x="1167384" y="0"/>
                  </a:lnTo>
                  <a:cubicBezTo>
                    <a:pt x="1313434" y="0"/>
                    <a:pt x="1431925" y="118364"/>
                    <a:pt x="1431925" y="264541"/>
                  </a:cubicBezTo>
                  <a:cubicBezTo>
                    <a:pt x="1431925" y="410718"/>
                    <a:pt x="1313561" y="529082"/>
                    <a:pt x="1167384" y="529082"/>
                  </a:cubicBezTo>
                  <a:lnTo>
                    <a:pt x="264541" y="529082"/>
                  </a:lnTo>
                  <a:cubicBezTo>
                    <a:pt x="118364" y="528955"/>
                    <a:pt x="0" y="410591"/>
                    <a:pt x="0" y="264541"/>
                  </a:cubicBezTo>
                  <a:close/>
                </a:path>
              </a:pathLst>
            </a:custGeom>
            <a:solidFill>
              <a:srgbClr val="DCF0FA"/>
            </a:solidFill>
            <a:ln w="12700" cap="sq">
              <a:solidFill>
                <a:srgbClr val="B9C6D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4580125" y="9290304"/>
            <a:ext cx="1061209" cy="384048"/>
            <a:chOff x="0" y="0"/>
            <a:chExt cx="1414945" cy="5120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14949" cy="512064"/>
            </a:xfrm>
            <a:custGeom>
              <a:avLst/>
              <a:gdLst/>
              <a:ahLst/>
              <a:cxnLst/>
              <a:rect r="r" b="b" t="t" l="l"/>
              <a:pathLst>
                <a:path h="512064" w="1414949">
                  <a:moveTo>
                    <a:pt x="0" y="0"/>
                  </a:moveTo>
                  <a:lnTo>
                    <a:pt x="1414949" y="0"/>
                  </a:lnTo>
                  <a:lnTo>
                    <a:pt x="141494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3841" r="0" b="-384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1414945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0F23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Telegram API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15459140" y="4325335"/>
            <a:ext cx="129157" cy="480751"/>
          </a:xfrm>
          <a:custGeom>
            <a:avLst/>
            <a:gdLst/>
            <a:ahLst/>
            <a:cxnLst/>
            <a:rect r="r" b="b" t="t" l="l"/>
            <a:pathLst>
              <a:path h="480751" w="129157">
                <a:moveTo>
                  <a:pt x="0" y="0"/>
                </a:moveTo>
                <a:lnTo>
                  <a:pt x="129157" y="0"/>
                </a:lnTo>
                <a:lnTo>
                  <a:pt x="129157" y="480751"/>
                </a:lnTo>
                <a:lnTo>
                  <a:pt x="0" y="4807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0659431" y="4325335"/>
            <a:ext cx="129157" cy="480751"/>
          </a:xfrm>
          <a:custGeom>
            <a:avLst/>
            <a:gdLst/>
            <a:ahLst/>
            <a:cxnLst/>
            <a:rect r="r" b="b" t="t" l="l"/>
            <a:pathLst>
              <a:path h="480751" w="129157">
                <a:moveTo>
                  <a:pt x="0" y="0"/>
                </a:moveTo>
                <a:lnTo>
                  <a:pt x="129157" y="0"/>
                </a:lnTo>
                <a:lnTo>
                  <a:pt x="129157" y="480751"/>
                </a:lnTo>
                <a:lnTo>
                  <a:pt x="0" y="4807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9349734" y="3664730"/>
            <a:ext cx="3726997" cy="1171443"/>
            <a:chOff x="0" y="0"/>
            <a:chExt cx="1521939" cy="47836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649994" y="3664730"/>
            <a:ext cx="3726997" cy="1171443"/>
            <a:chOff x="0" y="0"/>
            <a:chExt cx="1521939" cy="47836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879480" y="3865497"/>
            <a:ext cx="769909" cy="769909"/>
            <a:chOff x="0" y="0"/>
            <a:chExt cx="812800" cy="812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7100995" y="3865497"/>
            <a:ext cx="769909" cy="769909"/>
            <a:chOff x="0" y="0"/>
            <a:chExt cx="812800" cy="812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8908075" y="3894092"/>
            <a:ext cx="712720" cy="712720"/>
            <a:chOff x="0" y="0"/>
            <a:chExt cx="812800" cy="812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7129590" y="3894092"/>
            <a:ext cx="712720" cy="712720"/>
            <a:chOff x="0" y="0"/>
            <a:chExt cx="812800" cy="8128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23" id="123"/>
          <p:cNvSpPr/>
          <p:nvPr/>
        </p:nvSpPr>
        <p:spPr>
          <a:xfrm flipV="true">
            <a:off x="13121861" y="4336797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24" id="124"/>
          <p:cNvSpPr/>
          <p:nvPr/>
        </p:nvSpPr>
        <p:spPr>
          <a:xfrm flipH="false" flipV="false" rot="0">
            <a:off x="9063995" y="4063766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79"/>
                </a:lnTo>
                <a:lnTo>
                  <a:pt x="0" y="3547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17293508" y="4035336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9349734" y="4970628"/>
            <a:ext cx="3726997" cy="1171443"/>
            <a:chOff x="0" y="0"/>
            <a:chExt cx="1521939" cy="47836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649994" y="4970628"/>
            <a:ext cx="3726997" cy="1171443"/>
            <a:chOff x="0" y="0"/>
            <a:chExt cx="1521939" cy="47836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8879480" y="5171395"/>
            <a:ext cx="769909" cy="769909"/>
            <a:chOff x="0" y="0"/>
            <a:chExt cx="812800" cy="8128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7100995" y="5171395"/>
            <a:ext cx="769909" cy="769909"/>
            <a:chOff x="0" y="0"/>
            <a:chExt cx="812800" cy="8128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37" id="1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8908075" y="5199990"/>
            <a:ext cx="712720" cy="712720"/>
            <a:chOff x="0" y="0"/>
            <a:chExt cx="812800" cy="8128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40" id="1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7129590" y="5199990"/>
            <a:ext cx="712720" cy="712720"/>
            <a:chOff x="0" y="0"/>
            <a:chExt cx="812800" cy="8128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43" id="14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44" id="144"/>
          <p:cNvSpPr/>
          <p:nvPr/>
        </p:nvSpPr>
        <p:spPr>
          <a:xfrm flipV="true">
            <a:off x="13121861" y="5642695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45" id="145"/>
          <p:cNvSpPr/>
          <p:nvPr/>
        </p:nvSpPr>
        <p:spPr>
          <a:xfrm flipH="false" flipV="false" rot="0">
            <a:off x="9063995" y="5369664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17293508" y="5341234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7" id="147"/>
          <p:cNvGrpSpPr/>
          <p:nvPr/>
        </p:nvGrpSpPr>
        <p:grpSpPr>
          <a:xfrm rot="0">
            <a:off x="9349734" y="6276526"/>
            <a:ext cx="3726997" cy="1171443"/>
            <a:chOff x="0" y="0"/>
            <a:chExt cx="1521939" cy="478365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649994" y="6276526"/>
            <a:ext cx="3726997" cy="1171443"/>
            <a:chOff x="0" y="0"/>
            <a:chExt cx="1521939" cy="47836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8879480" y="6477293"/>
            <a:ext cx="769909" cy="769909"/>
            <a:chOff x="0" y="0"/>
            <a:chExt cx="812800" cy="8128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55" id="15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7100995" y="6477293"/>
            <a:ext cx="769909" cy="769909"/>
            <a:chOff x="0" y="0"/>
            <a:chExt cx="812800" cy="8128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8908075" y="6505888"/>
            <a:ext cx="712720" cy="712720"/>
            <a:chOff x="0" y="0"/>
            <a:chExt cx="812800" cy="8128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7129590" y="6505888"/>
            <a:ext cx="712720" cy="712720"/>
            <a:chOff x="0" y="0"/>
            <a:chExt cx="812800" cy="8128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64" id="16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65" id="165"/>
          <p:cNvSpPr/>
          <p:nvPr/>
        </p:nvSpPr>
        <p:spPr>
          <a:xfrm>
            <a:off x="13121861" y="6948593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66" id="166"/>
          <p:cNvSpPr/>
          <p:nvPr/>
        </p:nvSpPr>
        <p:spPr>
          <a:xfrm flipH="false" flipV="false" rot="0">
            <a:off x="9063995" y="6675562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17293508" y="6647132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9349734" y="7582425"/>
            <a:ext cx="3726997" cy="1171443"/>
            <a:chOff x="0" y="0"/>
            <a:chExt cx="1521939" cy="478365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3649994" y="7582425"/>
            <a:ext cx="3726997" cy="1171443"/>
            <a:chOff x="0" y="0"/>
            <a:chExt cx="1521939" cy="478365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73" id="173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8879480" y="7783192"/>
            <a:ext cx="769909" cy="769909"/>
            <a:chOff x="0" y="0"/>
            <a:chExt cx="812800" cy="8128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76" id="17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7100995" y="7783192"/>
            <a:ext cx="769909" cy="769909"/>
            <a:chOff x="0" y="0"/>
            <a:chExt cx="812800" cy="8128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179" id="17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8908075" y="7811786"/>
            <a:ext cx="712720" cy="712720"/>
            <a:chOff x="0" y="0"/>
            <a:chExt cx="812800" cy="8128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7129590" y="7811786"/>
            <a:ext cx="712720" cy="712720"/>
            <a:chOff x="0" y="0"/>
            <a:chExt cx="812800" cy="81280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85" id="18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86" id="186"/>
          <p:cNvSpPr/>
          <p:nvPr/>
        </p:nvSpPr>
        <p:spPr>
          <a:xfrm flipV="true">
            <a:off x="13121861" y="8254491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187" id="187"/>
          <p:cNvSpPr/>
          <p:nvPr/>
        </p:nvSpPr>
        <p:spPr>
          <a:xfrm flipH="false" flipV="false" rot="0">
            <a:off x="9063995" y="7981460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17293508" y="7953031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8"/>
                </a:lnTo>
                <a:lnTo>
                  <a:pt x="0" y="41163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0">
            <a:off x="9349734" y="8888323"/>
            <a:ext cx="3726997" cy="1171443"/>
            <a:chOff x="0" y="0"/>
            <a:chExt cx="1521939" cy="478365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191" id="191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13649994" y="8888323"/>
            <a:ext cx="3726997" cy="1171443"/>
            <a:chOff x="0" y="0"/>
            <a:chExt cx="1521939" cy="478365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521939" cy="478365"/>
            </a:xfrm>
            <a:custGeom>
              <a:avLst/>
              <a:gdLst/>
              <a:ahLst/>
              <a:cxnLst/>
              <a:rect r="r" b="b" t="t" l="l"/>
              <a:pathLst>
                <a:path h="478365" w="1521939">
                  <a:moveTo>
                    <a:pt x="0" y="0"/>
                  </a:moveTo>
                  <a:lnTo>
                    <a:pt x="1521939" y="0"/>
                  </a:lnTo>
                  <a:lnTo>
                    <a:pt x="1521939" y="478365"/>
                  </a:lnTo>
                  <a:lnTo>
                    <a:pt x="0" y="478365"/>
                  </a:ln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194" id="194"/>
            <p:cNvSpPr txBox="true"/>
            <p:nvPr/>
          </p:nvSpPr>
          <p:spPr>
            <a:xfrm>
              <a:off x="0" y="-28575"/>
              <a:ext cx="1521939" cy="5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8879480" y="9089090"/>
            <a:ext cx="769909" cy="769909"/>
            <a:chOff x="0" y="0"/>
            <a:chExt cx="812800" cy="8128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5CF"/>
            </a:solidFill>
            <a:ln w="19050" cap="sq">
              <a:solidFill>
                <a:srgbClr val="C96868"/>
              </a:solidFill>
              <a:prstDash val="solid"/>
              <a:miter/>
            </a:ln>
          </p:spPr>
        </p:sp>
        <p:sp>
          <p:nvSpPr>
            <p:cNvPr name="TextBox 197" id="19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7100995" y="9089090"/>
            <a:ext cx="769909" cy="769909"/>
            <a:chOff x="0" y="0"/>
            <a:chExt cx="812800" cy="81280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FF5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  <p:sp>
          <p:nvSpPr>
            <p:cNvPr name="TextBox 200" id="20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8908075" y="9117684"/>
            <a:ext cx="712720" cy="712720"/>
            <a:chOff x="0" y="0"/>
            <a:chExt cx="812800" cy="81280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881"/>
            </a:solidFill>
            <a:ln w="19050" cap="sq">
              <a:solidFill>
                <a:srgbClr val="FBDDDA"/>
              </a:solidFill>
              <a:prstDash val="solid"/>
              <a:miter/>
            </a:ln>
          </p:spPr>
        </p:sp>
        <p:sp>
          <p:nvSpPr>
            <p:cNvPr name="TextBox 203" id="20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17129590" y="9117684"/>
            <a:ext cx="712720" cy="712720"/>
            <a:chOff x="0" y="0"/>
            <a:chExt cx="812800" cy="81280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898A"/>
            </a:solidFill>
            <a:ln w="19050" cap="sq">
              <a:solidFill>
                <a:srgbClr val="EFFFF5"/>
              </a:solidFill>
              <a:prstDash val="solid"/>
              <a:miter/>
            </a:ln>
          </p:spPr>
        </p:sp>
        <p:sp>
          <p:nvSpPr>
            <p:cNvPr name="TextBox 206" id="20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207" id="207"/>
          <p:cNvSpPr/>
          <p:nvPr/>
        </p:nvSpPr>
        <p:spPr>
          <a:xfrm flipV="true">
            <a:off x="13121861" y="9560390"/>
            <a:ext cx="438631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208" id="208"/>
          <p:cNvSpPr/>
          <p:nvPr/>
        </p:nvSpPr>
        <p:spPr>
          <a:xfrm flipH="false" flipV="false" rot="0">
            <a:off x="9063995" y="9287358"/>
            <a:ext cx="400881" cy="354780"/>
          </a:xfrm>
          <a:custGeom>
            <a:avLst/>
            <a:gdLst/>
            <a:ahLst/>
            <a:cxnLst/>
            <a:rect r="r" b="b" t="t" l="l"/>
            <a:pathLst>
              <a:path h="354780" w="400881">
                <a:moveTo>
                  <a:pt x="0" y="0"/>
                </a:moveTo>
                <a:lnTo>
                  <a:pt x="400881" y="0"/>
                </a:lnTo>
                <a:lnTo>
                  <a:pt x="400881" y="354780"/>
                </a:lnTo>
                <a:lnTo>
                  <a:pt x="0" y="354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9" id="209"/>
          <p:cNvSpPr/>
          <p:nvPr/>
        </p:nvSpPr>
        <p:spPr>
          <a:xfrm flipH="false" flipV="false" rot="0">
            <a:off x="17293508" y="9258929"/>
            <a:ext cx="384882" cy="411639"/>
          </a:xfrm>
          <a:custGeom>
            <a:avLst/>
            <a:gdLst/>
            <a:ahLst/>
            <a:cxnLst/>
            <a:rect r="r" b="b" t="t" l="l"/>
            <a:pathLst>
              <a:path h="411639" w="384882">
                <a:moveTo>
                  <a:pt x="0" y="0"/>
                </a:moveTo>
                <a:lnTo>
                  <a:pt x="384883" y="0"/>
                </a:lnTo>
                <a:lnTo>
                  <a:pt x="384883" y="411639"/>
                </a:lnTo>
                <a:lnTo>
                  <a:pt x="0" y="411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0" id="210"/>
          <p:cNvGrpSpPr/>
          <p:nvPr/>
        </p:nvGrpSpPr>
        <p:grpSpPr>
          <a:xfrm rot="0">
            <a:off x="8879480" y="2471211"/>
            <a:ext cx="8962829" cy="466344"/>
            <a:chOff x="0" y="0"/>
            <a:chExt cx="11950439" cy="621792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1950439" cy="621792"/>
            </a:xfrm>
            <a:custGeom>
              <a:avLst/>
              <a:gdLst/>
              <a:ahLst/>
              <a:cxnLst/>
              <a:rect r="r" b="b" t="t" l="l"/>
              <a:pathLst>
                <a:path h="621792" w="11950439">
                  <a:moveTo>
                    <a:pt x="0" y="310896"/>
                  </a:moveTo>
                  <a:cubicBezTo>
                    <a:pt x="0" y="139192"/>
                    <a:pt x="102198" y="0"/>
                    <a:pt x="228267" y="0"/>
                  </a:cubicBezTo>
                  <a:lnTo>
                    <a:pt x="11722172" y="0"/>
                  </a:lnTo>
                  <a:cubicBezTo>
                    <a:pt x="11848241" y="0"/>
                    <a:pt x="11950439" y="139192"/>
                    <a:pt x="11950439" y="310896"/>
                  </a:cubicBezTo>
                  <a:cubicBezTo>
                    <a:pt x="11950439" y="482600"/>
                    <a:pt x="11848241" y="621792"/>
                    <a:pt x="11722172" y="621792"/>
                  </a:cubicBezTo>
                  <a:lnTo>
                    <a:pt x="228267" y="621792"/>
                  </a:lnTo>
                  <a:cubicBezTo>
                    <a:pt x="102198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212" id="212"/>
          <p:cNvGrpSpPr/>
          <p:nvPr/>
        </p:nvGrpSpPr>
        <p:grpSpPr>
          <a:xfrm rot="0">
            <a:off x="769306" y="2478968"/>
            <a:ext cx="7395800" cy="466344"/>
            <a:chOff x="0" y="0"/>
            <a:chExt cx="9861066" cy="6217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9861066" cy="621792"/>
            </a:xfrm>
            <a:custGeom>
              <a:avLst/>
              <a:gdLst/>
              <a:ahLst/>
              <a:cxnLst/>
              <a:rect r="r" b="b" t="t" l="l"/>
              <a:pathLst>
                <a:path h="621792" w="9861066">
                  <a:moveTo>
                    <a:pt x="0" y="310896"/>
                  </a:moveTo>
                  <a:cubicBezTo>
                    <a:pt x="0" y="139192"/>
                    <a:pt x="84330" y="0"/>
                    <a:pt x="188357" y="0"/>
                  </a:cubicBezTo>
                  <a:lnTo>
                    <a:pt x="9672709" y="0"/>
                  </a:lnTo>
                  <a:cubicBezTo>
                    <a:pt x="9776737" y="0"/>
                    <a:pt x="9861066" y="139192"/>
                    <a:pt x="9861066" y="310896"/>
                  </a:cubicBezTo>
                  <a:cubicBezTo>
                    <a:pt x="9861066" y="482600"/>
                    <a:pt x="9776737" y="621792"/>
                    <a:pt x="9672709" y="621792"/>
                  </a:cubicBezTo>
                  <a:lnTo>
                    <a:pt x="188357" y="621792"/>
                  </a:lnTo>
                  <a:cubicBezTo>
                    <a:pt x="8433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Freeform 214" id="214"/>
          <p:cNvSpPr/>
          <p:nvPr/>
        </p:nvSpPr>
        <p:spPr>
          <a:xfrm flipH="false" flipV="false" rot="0">
            <a:off x="1247554" y="8028432"/>
            <a:ext cx="156651" cy="155085"/>
          </a:xfrm>
          <a:custGeom>
            <a:avLst/>
            <a:gdLst/>
            <a:ahLst/>
            <a:cxnLst/>
            <a:rect r="r" b="b" t="t" l="l"/>
            <a:pathLst>
              <a:path h="155085" w="156651">
                <a:moveTo>
                  <a:pt x="0" y="0"/>
                </a:moveTo>
                <a:lnTo>
                  <a:pt x="156652" y="0"/>
                </a:lnTo>
                <a:lnTo>
                  <a:pt x="156652" y="155085"/>
                </a:lnTo>
                <a:lnTo>
                  <a:pt x="0" y="1550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5" id="215"/>
          <p:cNvSpPr/>
          <p:nvPr/>
        </p:nvSpPr>
        <p:spPr>
          <a:xfrm flipH="false" flipV="false" rot="0">
            <a:off x="1247554" y="8238353"/>
            <a:ext cx="156651" cy="156651"/>
          </a:xfrm>
          <a:custGeom>
            <a:avLst/>
            <a:gdLst/>
            <a:ahLst/>
            <a:cxnLst/>
            <a:rect r="r" b="b" t="t" l="l"/>
            <a:pathLst>
              <a:path h="156651" w="156651">
                <a:moveTo>
                  <a:pt x="0" y="0"/>
                </a:moveTo>
                <a:lnTo>
                  <a:pt x="156652" y="0"/>
                </a:lnTo>
                <a:lnTo>
                  <a:pt x="156652" y="156651"/>
                </a:lnTo>
                <a:lnTo>
                  <a:pt x="0" y="1566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6" id="216"/>
          <p:cNvSpPr/>
          <p:nvPr/>
        </p:nvSpPr>
        <p:spPr>
          <a:xfrm flipH="false" flipV="false" rot="0">
            <a:off x="1247554" y="8453279"/>
            <a:ext cx="156651" cy="153518"/>
          </a:xfrm>
          <a:custGeom>
            <a:avLst/>
            <a:gdLst/>
            <a:ahLst/>
            <a:cxnLst/>
            <a:rect r="r" b="b" t="t" l="l"/>
            <a:pathLst>
              <a:path h="153518" w="156651">
                <a:moveTo>
                  <a:pt x="0" y="0"/>
                </a:moveTo>
                <a:lnTo>
                  <a:pt x="156652" y="0"/>
                </a:lnTo>
                <a:lnTo>
                  <a:pt x="156652" y="153518"/>
                </a:lnTo>
                <a:lnTo>
                  <a:pt x="0" y="15351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7" id="217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 &amp; Innovation</a:t>
            </a:r>
          </a:p>
        </p:txBody>
      </p:sp>
      <p:sp>
        <p:nvSpPr>
          <p:cNvPr name="TextBox 218" id="218"/>
          <p:cNvSpPr txBox="true"/>
          <p:nvPr/>
        </p:nvSpPr>
        <p:spPr>
          <a:xfrm rot="0">
            <a:off x="1645920" y="3345942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 &amp; Presentation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Nirmala UI"/>
                <a:ea typeface="Nirmala UI"/>
                <a:cs typeface="Nirmala UI"/>
                <a:sym typeface="Nirmala UI"/>
              </a:rPr>
              <a:t>React 18 + Vite · Tailwind CSS · Leaflet ward maps · Recharts · English / हिंदी / मराठी toggle</a:t>
            </a:r>
          </a:p>
        </p:txBody>
      </p:sp>
      <p:sp>
        <p:nvSpPr>
          <p:cNvPr name="TextBox 219" id="219"/>
          <p:cNvSpPr txBox="true"/>
          <p:nvPr/>
        </p:nvSpPr>
        <p:spPr>
          <a:xfrm rot="0">
            <a:off x="1645920" y="4424934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&amp; API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3.11 · FastAPI + Uvicorn · Pydantic v2 · scheduled jobs: rain every hour, outbreak data every week</a:t>
            </a:r>
          </a:p>
        </p:txBody>
      </p:sp>
      <p:sp>
        <p:nvSpPr>
          <p:cNvPr name="TextBox 220" id="220"/>
          <p:cNvSpPr txBox="true"/>
          <p:nvPr/>
        </p:nvSpPr>
        <p:spPr>
          <a:xfrm rot="0">
            <a:off x="1645920" y="5503926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Intelligence Engine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Pandas, NumPy, SciPy · Statsmodels lag model · LightGBM · R surveillance (EARS, Farrington) · OR-Tools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1645920" y="6582918"/>
            <a:ext cx="5897880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b="true" sz="15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Data, Hosting &amp; Security</a:t>
            </a:r>
          </a:p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PostGIS · Open-Meteo, IMD &amp; NOAA rain data · SHA-256 source stamps · Docker on one server</a:t>
            </a:r>
          </a:p>
        </p:txBody>
      </p:sp>
      <p:sp>
        <p:nvSpPr>
          <p:cNvPr name="TextBox 222" id="222"/>
          <p:cNvSpPr txBox="true"/>
          <p:nvPr/>
        </p:nvSpPr>
        <p:spPr>
          <a:xfrm rot="0">
            <a:off x="1490472" y="7999857"/>
            <a:ext cx="594360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Working Prototype ▸ </a:t>
            </a:r>
            <a:r>
              <a:rPr lang="en-US" sz="12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[add your prototype link]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1490472" y="8210169"/>
            <a:ext cx="594360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Code ▸ </a:t>
            </a:r>
            <a:r>
              <a:rPr lang="en-US" sz="12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[add your GitHub link]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1490472" y="8420481"/>
            <a:ext cx="5943600" cy="2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2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sources &amp; test log ▸ </a:t>
            </a:r>
            <a:r>
              <a:rPr lang="en-US" sz="1250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[add your link]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9704116" y="3769667"/>
            <a:ext cx="3178505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Waits for cases, then reacts</a:t>
            </a:r>
          </a:p>
        </p:txBody>
      </p:sp>
      <p:sp>
        <p:nvSpPr>
          <p:cNvPr name="TextBox 226" id="226"/>
          <p:cNvSpPr txBox="true"/>
          <p:nvPr/>
        </p:nvSpPr>
        <p:spPr>
          <a:xfrm rot="0">
            <a:off x="13794051" y="3788079"/>
            <a:ext cx="3335538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ontserrat Bold"/>
              </a:rPr>
              <a:t>Predicts from rain &amp; flood data, before cases rise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9704116" y="5075566"/>
            <a:ext cx="3178505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Outbreak reports arrive ~6 weeks late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13794051" y="5093977"/>
            <a:ext cx="3335538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ontserrat Bold"/>
              </a:rPr>
              <a:t>Live rain every hour; ward alert on the flood day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9704116" y="6381464"/>
            <a:ext cx="3178505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One advice for the whole city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13794051" y="6399875"/>
            <a:ext cx="3335538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ontserrat Bold"/>
              </a:rPr>
              <a:t>Separate risk score for each of Mumbai's 24 wards</a:t>
            </a:r>
          </a:p>
        </p:txBody>
      </p:sp>
      <p:sp>
        <p:nvSpPr>
          <p:cNvPr name="TextBox 231" id="231"/>
          <p:cNvSpPr txBox="true"/>
          <p:nvPr/>
        </p:nvSpPr>
        <p:spPr>
          <a:xfrm rot="0">
            <a:off x="9704116" y="7687362"/>
            <a:ext cx="3178505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Free weather maps miss cloudbursts</a:t>
            </a:r>
          </a:p>
        </p:txBody>
      </p:sp>
      <p:sp>
        <p:nvSpPr>
          <p:cNvPr name="TextBox 232" id="232"/>
          <p:cNvSpPr txBox="true"/>
          <p:nvPr/>
        </p:nvSpPr>
        <p:spPr>
          <a:xfrm rot="0">
            <a:off x="13794051" y="7705774"/>
            <a:ext cx="3335538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ontserrat Bold"/>
              </a:rPr>
              <a:t>Rain corrected with real IMD &amp; NOAA gauges</a:t>
            </a:r>
          </a:p>
        </p:txBody>
      </p:sp>
      <p:sp>
        <p:nvSpPr>
          <p:cNvPr name="TextBox 233" id="233"/>
          <p:cNvSpPr txBox="true"/>
          <p:nvPr/>
        </p:nvSpPr>
        <p:spPr>
          <a:xfrm rot="0">
            <a:off x="9704116" y="8993260"/>
            <a:ext cx="3178505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Camps &amp; teams placed by guesswork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13794051" y="9011672"/>
            <a:ext cx="3335538" cy="9144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ontserrat Bold"/>
              </a:rPr>
              <a:t>Planner sends teams to top-risk wards first</a:t>
            </a:r>
          </a:p>
        </p:txBody>
      </p:sp>
      <p:sp>
        <p:nvSpPr>
          <p:cNvPr name="TextBox 235" id="235"/>
          <p:cNvSpPr txBox="true"/>
          <p:nvPr/>
        </p:nvSpPr>
        <p:spPr>
          <a:xfrm rot="0">
            <a:off x="11963622" y="2550215"/>
            <a:ext cx="279454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sz="21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INNOVATION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9326880" y="3187919"/>
            <a:ext cx="3749039" cy="343462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 (MS) Bold"/>
              </a:rPr>
              <a:t>TRADITIONAL APPROACH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13670280" y="3187919"/>
            <a:ext cx="3703320" cy="343462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 (MS) Bold"/>
              </a:rPr>
              <a:t>WITH OUR SOLUTION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2703311" y="2557971"/>
            <a:ext cx="352778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5" id="5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" t="0" r="-11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7" id="7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9" id="9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9" r="-2" b="-1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0877" y="3443221"/>
            <a:ext cx="1798036" cy="3191513"/>
            <a:chOff x="0" y="0"/>
            <a:chExt cx="2438400" cy="4328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57D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32798" y="3551103"/>
            <a:ext cx="1654193" cy="593352"/>
            <a:chOff x="0" y="0"/>
            <a:chExt cx="2243328" cy="80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C2E6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Hours, Not Weeks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8759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Ward alerts go out on the flood day, not days later, and not 6 weeks later like official data.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3219" y="5600863"/>
            <a:ext cx="593352" cy="593352"/>
            <a:chOff x="0" y="0"/>
            <a:chExt cx="804672" cy="80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9692" y="5737336"/>
            <a:ext cx="320406" cy="320406"/>
            <a:chOff x="0" y="0"/>
            <a:chExt cx="434518" cy="434518"/>
          </a:xfrm>
        </p:grpSpPr>
        <p:sp>
          <p:nvSpPr>
            <p:cNvPr name="Freeform 19" id="19" descr="E823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1" b="-1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58585" y="3443221"/>
            <a:ext cx="1798036" cy="3191513"/>
            <a:chOff x="0" y="0"/>
            <a:chExt cx="2438400" cy="4328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7851"/>
            </a:solidFill>
            <a:ln w="19050" cap="sq">
              <a:solidFill>
                <a:srgbClr val="FFEDA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530507" y="3551103"/>
            <a:ext cx="1654193" cy="593352"/>
            <a:chOff x="0" y="0"/>
            <a:chExt cx="2243328" cy="804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FFED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Inside the 72-Hour Window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566467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exposed to floodwater are told to get free preventive care while it still works.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060927" y="5600863"/>
            <a:ext cx="593352" cy="593352"/>
            <a:chOff x="0" y="0"/>
            <a:chExt cx="804672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197400" y="5737336"/>
            <a:ext cx="320406" cy="320406"/>
            <a:chOff x="0" y="0"/>
            <a:chExt cx="434518" cy="434518"/>
          </a:xfrm>
        </p:grpSpPr>
        <p:sp>
          <p:nvSpPr>
            <p:cNvPr name="Freeform 29" id="29" descr="E916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1" b="-1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56293" y="3443221"/>
            <a:ext cx="1798036" cy="3191513"/>
            <a:chOff x="0" y="0"/>
            <a:chExt cx="2438400" cy="4328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746D"/>
            </a:solidFill>
            <a:ln w="19050" cap="sq">
              <a:solidFill>
                <a:srgbClr val="DCFFF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628215" y="3551103"/>
            <a:ext cx="1654193" cy="593352"/>
            <a:chOff x="0" y="0"/>
            <a:chExt cx="2243328" cy="8046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DCFF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 Ward, First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664176" y="4198396"/>
            <a:ext cx="158227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Fever camps, doctors and spray teams reach the highest-risk wards first, not spread thin.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158635" y="5600863"/>
            <a:ext cx="593352" cy="593352"/>
            <a:chOff x="0" y="0"/>
            <a:chExt cx="804672" cy="8046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295108" y="5737336"/>
            <a:ext cx="320406" cy="320406"/>
            <a:chOff x="0" y="0"/>
            <a:chExt cx="434518" cy="434518"/>
          </a:xfrm>
        </p:grpSpPr>
        <p:sp>
          <p:nvSpPr>
            <p:cNvPr name="Freeform 39" id="39" descr="ECAF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1" b="-1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52342" y="3443221"/>
            <a:ext cx="1798036" cy="3191513"/>
            <a:chOff x="0" y="0"/>
            <a:chExt cx="2438400" cy="4328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607B"/>
            </a:solidFill>
            <a:ln w="19050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725923" y="3551103"/>
            <a:ext cx="1654193" cy="593352"/>
            <a:chOff x="0" y="0"/>
            <a:chExt cx="2243328" cy="8046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E2D9F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Protects the Most Vulnerable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761884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Focuses on flood-prone slums, home to about 4 in 10 of Mumbai's 12.4 million people.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7256344" y="5600863"/>
            <a:ext cx="593352" cy="593352"/>
            <a:chOff x="0" y="0"/>
            <a:chExt cx="804672" cy="8046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392817" y="5737336"/>
            <a:ext cx="320406" cy="320406"/>
            <a:chOff x="0" y="0"/>
            <a:chExt cx="434518" cy="434518"/>
          </a:xfrm>
        </p:grpSpPr>
        <p:sp>
          <p:nvSpPr>
            <p:cNvPr name="Freeform 49" id="49" descr="E716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1" b="-1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12407" y="3443221"/>
            <a:ext cx="1798036" cy="3191513"/>
            <a:chOff x="0" y="0"/>
            <a:chExt cx="2438400" cy="4328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607B"/>
            </a:solidFill>
            <a:ln w="19050" cap="sq">
              <a:solidFill>
                <a:srgbClr val="E2D9F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884329" y="3551103"/>
            <a:ext cx="1654193" cy="593352"/>
            <a:chOff x="0" y="0"/>
            <a:chExt cx="2243328" cy="8046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E2D9F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Ward Pilot → Full City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920289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Pilot in one flood-prone ward for one monsoon, then scale to all 24 wards with BMC's data.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414749" y="5600863"/>
            <a:ext cx="593352" cy="593352"/>
            <a:chOff x="0" y="0"/>
            <a:chExt cx="804672" cy="8046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546884" y="5713038"/>
            <a:ext cx="329081" cy="329081"/>
            <a:chOff x="0" y="0"/>
            <a:chExt cx="434518" cy="434518"/>
          </a:xfrm>
        </p:grpSpPr>
        <p:sp>
          <p:nvSpPr>
            <p:cNvPr name="Freeform 59" id="59" descr="EC07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1" b="-11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910116" y="3443221"/>
            <a:ext cx="1798036" cy="3191513"/>
            <a:chOff x="0" y="0"/>
            <a:chExt cx="2438400" cy="43281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746D"/>
            </a:solidFill>
            <a:ln w="19050" cap="sq">
              <a:solidFill>
                <a:srgbClr val="DCFFF5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982037" y="3551103"/>
            <a:ext cx="1654193" cy="593352"/>
            <a:chOff x="0" y="0"/>
            <a:chExt cx="2243328" cy="8046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DCFF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 District in India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2017998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IDSP covers every district, so the same system can protect Chennai, Kolkata, Kerala and Assam.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512458" y="5600863"/>
            <a:ext cx="593352" cy="593352"/>
            <a:chOff x="0" y="0"/>
            <a:chExt cx="804672" cy="80467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644593" y="5713038"/>
            <a:ext cx="329081" cy="329081"/>
            <a:chOff x="0" y="0"/>
            <a:chExt cx="434518" cy="434518"/>
          </a:xfrm>
        </p:grpSpPr>
        <p:sp>
          <p:nvSpPr>
            <p:cNvPr name="Freeform 69" id="69" descr="E909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1" b="-11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007824" y="3443221"/>
            <a:ext cx="1798036" cy="3191513"/>
            <a:chOff x="0" y="0"/>
            <a:chExt cx="2438400" cy="43281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7851"/>
            </a:solidFill>
            <a:ln w="19050" cap="sq">
              <a:solidFill>
                <a:srgbClr val="FFEDA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079746" y="3551103"/>
            <a:ext cx="1654193" cy="593352"/>
            <a:chOff x="0" y="0"/>
            <a:chExt cx="2243328" cy="8046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FFEDA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Health Risks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115706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C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same pipeline can warn about heatstroke, polluted-air illness and water-borne disease.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4610166" y="5600863"/>
            <a:ext cx="593352" cy="593352"/>
            <a:chOff x="0" y="0"/>
            <a:chExt cx="804672" cy="8046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746376" y="5713038"/>
            <a:ext cx="329081" cy="329081"/>
            <a:chOff x="0" y="0"/>
            <a:chExt cx="434518" cy="434518"/>
          </a:xfrm>
        </p:grpSpPr>
        <p:sp>
          <p:nvSpPr>
            <p:cNvPr name="Freeform 79" id="79" descr="E95E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11" b="-1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105532" y="3443221"/>
            <a:ext cx="1798036" cy="3191513"/>
            <a:chOff x="0" y="0"/>
            <a:chExt cx="2438400" cy="43281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4328160"/>
            </a:xfrm>
            <a:custGeom>
              <a:avLst/>
              <a:gdLst/>
              <a:ahLst/>
              <a:cxnLst/>
              <a:rect r="r" b="b" t="t" l="l"/>
              <a:pathLst>
                <a:path h="432816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328160"/>
                  </a:lnTo>
                  <a:lnTo>
                    <a:pt x="1219200" y="3864864"/>
                  </a:lnTo>
                  <a:lnTo>
                    <a:pt x="0" y="4328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657D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6177454" y="3551103"/>
            <a:ext cx="1654193" cy="593352"/>
            <a:chOff x="0" y="0"/>
            <a:chExt cx="2243328" cy="8046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43328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">
                  <a:moveTo>
                    <a:pt x="0" y="0"/>
                  </a:moveTo>
                  <a:lnTo>
                    <a:pt x="2243328" y="0"/>
                  </a:lnTo>
                  <a:lnTo>
                    <a:pt x="2243328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21" r="0" b="-432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2243328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b="true" sz="1599">
                  <a:solidFill>
                    <a:srgbClr val="C2E6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Blood Banks Ready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6213415" y="4160296"/>
            <a:ext cx="1582271" cy="15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4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Warn blood banks before dengue peaks, since platelets last only 5 days.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6707874" y="5600863"/>
            <a:ext cx="593352" cy="593352"/>
            <a:chOff x="0" y="0"/>
            <a:chExt cx="804672" cy="8046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6852448" y="5705578"/>
            <a:ext cx="329081" cy="329081"/>
            <a:chOff x="0" y="0"/>
            <a:chExt cx="434518" cy="434518"/>
          </a:xfrm>
        </p:grpSpPr>
        <p:sp>
          <p:nvSpPr>
            <p:cNvPr name="Freeform 89" id="89" descr="EB42_FFFFFF.png"/>
            <p:cNvSpPr/>
            <p:nvPr/>
          </p:nvSpPr>
          <p:spPr>
            <a:xfrm flipH="false" flipV="false" rot="0">
              <a:off x="0" y="0"/>
              <a:ext cx="434467" cy="434467"/>
            </a:xfrm>
            <a:custGeom>
              <a:avLst/>
              <a:gdLst/>
              <a:ahLst/>
              <a:cxnLst/>
              <a:rect r="r" b="b" t="t" l="l"/>
              <a:pathLst>
                <a:path h="434467" w="434467">
                  <a:moveTo>
                    <a:pt x="0" y="0"/>
                  </a:moveTo>
                  <a:lnTo>
                    <a:pt x="434467" y="0"/>
                  </a:lnTo>
                  <a:lnTo>
                    <a:pt x="434467" y="434467"/>
                  </a:lnTo>
                  <a:lnTo>
                    <a:pt x="0" y="434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1" b="-11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&amp; Future Scope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544090" y="7628053"/>
            <a:ext cx="5349932" cy="2476483"/>
            <a:chOff x="0" y="0"/>
            <a:chExt cx="1812516" cy="83901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12516" cy="839013"/>
            </a:xfrm>
            <a:custGeom>
              <a:avLst/>
              <a:gdLst/>
              <a:ahLst/>
              <a:cxnLst/>
              <a:rect r="r" b="b" t="t" l="l"/>
              <a:pathLst>
                <a:path h="839013" w="1812516">
                  <a:moveTo>
                    <a:pt x="0" y="0"/>
                  </a:moveTo>
                  <a:lnTo>
                    <a:pt x="1812516" y="0"/>
                  </a:lnTo>
                  <a:lnTo>
                    <a:pt x="1812516" y="839013"/>
                  </a:lnTo>
                  <a:lnTo>
                    <a:pt x="0" y="839013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FBDCD9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19050"/>
              <a:ext cx="1812516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5"/>
                </a:lnSpc>
              </a:pP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279246" y="7460323"/>
            <a:ext cx="865686" cy="865686"/>
          </a:xfrm>
          <a:custGeom>
            <a:avLst/>
            <a:gdLst/>
            <a:ahLst/>
            <a:cxnLst/>
            <a:rect r="r" b="b" t="t" l="l"/>
            <a:pathLst>
              <a:path h="865686" w="865686">
                <a:moveTo>
                  <a:pt x="0" y="0"/>
                </a:moveTo>
                <a:lnTo>
                  <a:pt x="865686" y="0"/>
                </a:lnTo>
                <a:lnTo>
                  <a:pt x="865686" y="865686"/>
                </a:lnTo>
                <a:lnTo>
                  <a:pt x="0" y="8656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32168" t="-91600" r="-152357" b="-80451"/>
            </a:stretch>
          </a:blipFill>
          <a:ln w="19050" cap="rnd">
            <a:solidFill>
              <a:srgbClr val="FCE4E1"/>
            </a:solidFill>
            <a:prstDash val="solid"/>
            <a:round/>
          </a:ln>
        </p:spPr>
      </p:sp>
      <p:sp>
        <p:nvSpPr>
          <p:cNvPr name="Freeform 95" id="95"/>
          <p:cNvSpPr/>
          <p:nvPr/>
        </p:nvSpPr>
        <p:spPr>
          <a:xfrm flipH="false" flipV="false" rot="0">
            <a:off x="477779" y="7665385"/>
            <a:ext cx="455562" cy="455562"/>
          </a:xfrm>
          <a:custGeom>
            <a:avLst/>
            <a:gdLst/>
            <a:ahLst/>
            <a:cxnLst/>
            <a:rect r="r" b="b" t="t" l="l"/>
            <a:pathLst>
              <a:path h="455562" w="455562">
                <a:moveTo>
                  <a:pt x="0" y="0"/>
                </a:moveTo>
                <a:lnTo>
                  <a:pt x="455562" y="0"/>
                </a:lnTo>
                <a:lnTo>
                  <a:pt x="455562" y="455562"/>
                </a:lnTo>
                <a:lnTo>
                  <a:pt x="0" y="4555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1371025" y="7898278"/>
            <a:ext cx="106402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b="true" sz="3500">
                <a:solidFill>
                  <a:srgbClr val="FBDCD9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133957" y="7882127"/>
            <a:ext cx="3657600" cy="4572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BDCD9"/>
                </a:solidFill>
                <a:latin typeface="Poppins Bold"/>
              </a:rPr>
              <a:t>Technically Feasible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420098" y="8503920"/>
            <a:ext cx="4343400" cy="146304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FFFFFF"/>
                </a:solidFill>
                <a:latin typeface="Poppins"/>
              </a:rPr>
              <a:t>Uses </a:t>
            </a:r>
            <a:r>
              <a:rPr sz="1350" b="1">
                <a:solidFill>
                  <a:srgbClr val="FBDCD9"/>
                </a:solidFill>
                <a:latin typeface="Poppins Bold"/>
              </a:rPr>
              <a:t>free public data</a:t>
            </a:r>
            <a:r>
              <a:rPr sz="1350" b="0">
                <a:solidFill>
                  <a:srgbClr val="FFFFFF"/>
                </a:solidFill>
                <a:latin typeface="Poppins"/>
              </a:rPr>
              <a:t> (IDSP, IMD, NOAA, Open-Meteo) and </a:t>
            </a:r>
            <a:r>
              <a:rPr sz="1350" b="1">
                <a:solidFill>
                  <a:srgbClr val="FBDCD9"/>
                </a:solidFill>
                <a:latin typeface="Poppins Bold"/>
              </a:rPr>
              <a:t>open-source tools</a:t>
            </a:r>
            <a:r>
              <a:rPr sz="1350" b="0">
                <a:solidFill>
                  <a:srgbClr val="FFFFFF"/>
                </a:solidFill>
                <a:latin typeface="Poppins"/>
              </a:rPr>
              <a:t>. Runs on </a:t>
            </a:r>
            <a:r>
              <a:rPr sz="1350" b="1">
                <a:solidFill>
                  <a:srgbClr val="FBDCD9"/>
                </a:solidFill>
                <a:latin typeface="Poppins Bold"/>
              </a:rPr>
              <a:t>one server, no GPU</a:t>
            </a:r>
            <a:r>
              <a:rPr sz="1350" b="0">
                <a:solidFill>
                  <a:srgbClr val="FFFFFF"/>
                </a:solidFill>
                <a:latin typeface="Poppins"/>
              </a:rPr>
              <a:t>; prototype buildable in 24 hours.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6557925" y="7628053"/>
            <a:ext cx="5349932" cy="2476483"/>
            <a:chOff x="0" y="0"/>
            <a:chExt cx="1812516" cy="83901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12516" cy="839013"/>
            </a:xfrm>
            <a:custGeom>
              <a:avLst/>
              <a:gdLst/>
              <a:ahLst/>
              <a:cxnLst/>
              <a:rect r="r" b="b" t="t" l="l"/>
              <a:pathLst>
                <a:path h="839013" w="1812516">
                  <a:moveTo>
                    <a:pt x="0" y="0"/>
                  </a:moveTo>
                  <a:lnTo>
                    <a:pt x="1812516" y="0"/>
                  </a:lnTo>
                  <a:lnTo>
                    <a:pt x="1812516" y="839013"/>
                  </a:lnTo>
                  <a:lnTo>
                    <a:pt x="0" y="839013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FFEDA4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19050"/>
              <a:ext cx="1812516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5"/>
                </a:lnSpc>
              </a:pP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6293080" y="7460323"/>
            <a:ext cx="865686" cy="865686"/>
          </a:xfrm>
          <a:custGeom>
            <a:avLst/>
            <a:gdLst/>
            <a:ahLst/>
            <a:cxnLst/>
            <a:rect r="r" b="b" t="t" l="l"/>
            <a:pathLst>
              <a:path h="865686" w="865686">
                <a:moveTo>
                  <a:pt x="0" y="0"/>
                </a:moveTo>
                <a:lnTo>
                  <a:pt x="865686" y="0"/>
                </a:lnTo>
                <a:lnTo>
                  <a:pt x="865686" y="865686"/>
                </a:lnTo>
                <a:lnTo>
                  <a:pt x="0" y="8656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32168" t="-91600" r="-152357" b="-80451"/>
            </a:stretch>
          </a:blipFill>
          <a:ln w="19050" cap="rnd">
            <a:solidFill>
              <a:srgbClr val="FFEDA4"/>
            </a:solidFill>
            <a:prstDash val="solid"/>
            <a:round/>
          </a:ln>
        </p:spPr>
      </p:sp>
      <p:sp>
        <p:nvSpPr>
          <p:cNvPr name="Freeform 103" id="103"/>
          <p:cNvSpPr/>
          <p:nvPr/>
        </p:nvSpPr>
        <p:spPr>
          <a:xfrm flipH="false" flipV="false" rot="0">
            <a:off x="6491613" y="7665385"/>
            <a:ext cx="455562" cy="455562"/>
          </a:xfrm>
          <a:custGeom>
            <a:avLst/>
            <a:gdLst/>
            <a:ahLst/>
            <a:cxnLst/>
            <a:rect r="r" b="b" t="t" l="l"/>
            <a:pathLst>
              <a:path h="455562" w="455562">
                <a:moveTo>
                  <a:pt x="0" y="0"/>
                </a:moveTo>
                <a:lnTo>
                  <a:pt x="455562" y="0"/>
                </a:lnTo>
                <a:lnTo>
                  <a:pt x="455562" y="455562"/>
                </a:lnTo>
                <a:lnTo>
                  <a:pt x="0" y="4555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7558816" y="7898278"/>
            <a:ext cx="106402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b="true">
                <a:solidFill>
                  <a:srgbClr val="FFEDA4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8622836" y="7882127"/>
            <a:ext cx="3657600" cy="4572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EDA4"/>
                </a:solidFill>
                <a:latin typeface="Poppins Bold"/>
              </a:rPr>
              <a:t>Operationally Feasible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582356" y="8503920"/>
            <a:ext cx="4343400" cy="146304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FFFFFF"/>
                </a:solidFill>
                <a:latin typeface="Poppins"/>
              </a:rPr>
              <a:t>Fits </a:t>
            </a:r>
            <a:r>
              <a:rPr sz="1350" b="1">
                <a:solidFill>
                  <a:srgbClr val="FFEDA4"/>
                </a:solidFill>
                <a:latin typeface="Poppins Bold"/>
              </a:rPr>
              <a:t>BMC's existing system</a:t>
            </a:r>
            <a:r>
              <a:rPr sz="1350" b="0">
                <a:solidFill>
                  <a:srgbClr val="FFFFFF"/>
                </a:solidFill>
                <a:latin typeface="Poppins"/>
              </a:rPr>
              <a:t>: its 24 wards, Aapla Dawakhanas and its own advisories. </a:t>
            </a:r>
            <a:r>
              <a:rPr sz="1350" b="1">
                <a:solidFill>
                  <a:srgbClr val="FFEDA4"/>
                </a:solidFill>
                <a:latin typeface="Poppins Bold"/>
              </a:rPr>
              <a:t>Low-risk pilot</a:t>
            </a:r>
            <a:r>
              <a:rPr sz="1350" b="0">
                <a:solidFill>
                  <a:srgbClr val="FFFFFF"/>
                </a:solidFill>
                <a:latin typeface="Poppins"/>
              </a:rPr>
              <a:t>: one ward, one monsoon.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2571759" y="7628053"/>
            <a:ext cx="5349932" cy="2476483"/>
            <a:chOff x="0" y="0"/>
            <a:chExt cx="1812516" cy="83901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12516" cy="839013"/>
            </a:xfrm>
            <a:custGeom>
              <a:avLst/>
              <a:gdLst/>
              <a:ahLst/>
              <a:cxnLst/>
              <a:rect r="r" b="b" t="t" l="l"/>
              <a:pathLst>
                <a:path h="839013" w="1812516">
                  <a:moveTo>
                    <a:pt x="0" y="0"/>
                  </a:moveTo>
                  <a:lnTo>
                    <a:pt x="1812516" y="0"/>
                  </a:lnTo>
                  <a:lnTo>
                    <a:pt x="1812516" y="839013"/>
                  </a:lnTo>
                  <a:lnTo>
                    <a:pt x="0" y="839013"/>
                  </a:lnTo>
                  <a:close/>
                </a:path>
              </a:pathLst>
            </a:custGeom>
            <a:solidFill>
              <a:srgbClr val="2E3643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  <p:sp>
          <p:nvSpPr>
            <p:cNvPr name="TextBox 109" id="109"/>
            <p:cNvSpPr txBox="true"/>
            <p:nvPr/>
          </p:nvSpPr>
          <p:spPr>
            <a:xfrm>
              <a:off x="0" y="19050"/>
              <a:ext cx="1812516" cy="81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5"/>
                </a:lnSpc>
              </a:pP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12306915" y="7460323"/>
            <a:ext cx="865686" cy="865686"/>
          </a:xfrm>
          <a:custGeom>
            <a:avLst/>
            <a:gdLst/>
            <a:ahLst/>
            <a:cxnLst/>
            <a:rect r="r" b="b" t="t" l="l"/>
            <a:pathLst>
              <a:path h="865686" w="865686">
                <a:moveTo>
                  <a:pt x="0" y="0"/>
                </a:moveTo>
                <a:lnTo>
                  <a:pt x="865686" y="0"/>
                </a:lnTo>
                <a:lnTo>
                  <a:pt x="865686" y="865686"/>
                </a:lnTo>
                <a:lnTo>
                  <a:pt x="0" y="8656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32168" t="-91600" r="-152357" b="-80451"/>
            </a:stretch>
          </a:blipFill>
          <a:ln w="19050" cap="rnd">
            <a:solidFill>
              <a:srgbClr val="C2E6F9"/>
            </a:solidFill>
            <a:prstDash val="solid"/>
            <a:round/>
          </a:ln>
        </p:spPr>
      </p:sp>
      <p:sp>
        <p:nvSpPr>
          <p:cNvPr name="Freeform 111" id="111"/>
          <p:cNvSpPr/>
          <p:nvPr/>
        </p:nvSpPr>
        <p:spPr>
          <a:xfrm flipH="false" flipV="false" rot="0">
            <a:off x="12505448" y="7665385"/>
            <a:ext cx="455562" cy="455562"/>
          </a:xfrm>
          <a:custGeom>
            <a:avLst/>
            <a:gdLst/>
            <a:ahLst/>
            <a:cxnLst/>
            <a:rect r="r" b="b" t="t" l="l"/>
            <a:pathLst>
              <a:path h="455562" w="455562">
                <a:moveTo>
                  <a:pt x="0" y="0"/>
                </a:moveTo>
                <a:lnTo>
                  <a:pt x="455562" y="0"/>
                </a:lnTo>
                <a:lnTo>
                  <a:pt x="455562" y="455562"/>
                </a:lnTo>
                <a:lnTo>
                  <a:pt x="0" y="4555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13619023" y="7898278"/>
            <a:ext cx="1064020" cy="5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b="true" sz="3500">
                <a:solidFill>
                  <a:srgbClr val="C2E6F9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4683043" y="7882127"/>
            <a:ext cx="3657600" cy="457200"/>
          </a:xfrm>
          <a:prstGeom prst="rect">
            <a:avLst/>
          </a:prstGeom>
        </p:spPr>
        <p:txBody>
          <a:bodyPr anchor="ctr" rtlCol="false" tIns="0" lIns="0" bIns="0" rIns="0"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2E6F9"/>
                </a:solidFill>
                <a:latin typeface="Poppins Bold"/>
              </a:rPr>
              <a:t>Financially Viable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642563" y="8503920"/>
            <a:ext cx="4343400" cy="146304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C2E6F9"/>
                </a:solidFill>
                <a:latin typeface="Poppins Bold"/>
              </a:rPr>
              <a:t>Zero licence fees</a:t>
            </a:r>
            <a:r>
              <a:rPr sz="1350" b="0">
                <a:solidFill>
                  <a:srgbClr val="FFFFFF"/>
                </a:solidFill>
                <a:latin typeface="Poppins"/>
              </a:rPr>
              <a:t>; runs on a single low-cost cloud server. </a:t>
            </a:r>
            <a:r>
              <a:rPr sz="1350" b="1">
                <a:solidFill>
                  <a:srgbClr val="C2E6F9"/>
                </a:solidFill>
                <a:latin typeface="Poppins Bold"/>
              </a:rPr>
              <a:t>Same pipeline for any IDSP district</a:t>
            </a:r>
            <a:r>
              <a:rPr sz="1350" b="0">
                <a:solidFill>
                  <a:srgbClr val="FFFFFF"/>
                </a:solidFill>
                <a:latin typeface="Poppins"/>
              </a:rPr>
              <a:t>; funding via NHM, Smart Cities or CSR.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379000" y="2919727"/>
            <a:ext cx="8089501" cy="466344"/>
            <a:chOff x="0" y="0"/>
            <a:chExt cx="10786001" cy="6217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786001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6001">
                  <a:moveTo>
                    <a:pt x="0" y="310896"/>
                  </a:moveTo>
                  <a:cubicBezTo>
                    <a:pt x="0" y="139192"/>
                    <a:pt x="92240" y="0"/>
                    <a:pt x="206025" y="0"/>
                  </a:cubicBezTo>
                  <a:lnTo>
                    <a:pt x="10579976" y="0"/>
                  </a:lnTo>
                  <a:cubicBezTo>
                    <a:pt x="10693761" y="0"/>
                    <a:pt x="10786001" y="139192"/>
                    <a:pt x="10786001" y="310896"/>
                  </a:cubicBezTo>
                  <a:cubicBezTo>
                    <a:pt x="10786001" y="482600"/>
                    <a:pt x="10693761" y="621792"/>
                    <a:pt x="10579976" y="621792"/>
                  </a:cubicBezTo>
                  <a:lnTo>
                    <a:pt x="206025" y="621792"/>
                  </a:lnTo>
                  <a:cubicBezTo>
                    <a:pt x="9224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TextBox 117" id="117"/>
          <p:cNvSpPr txBox="true"/>
          <p:nvPr/>
        </p:nvSpPr>
        <p:spPr>
          <a:xfrm rot="0">
            <a:off x="2494409" y="2998730"/>
            <a:ext cx="38586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IMPACTS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9832191" y="2919727"/>
            <a:ext cx="8089501" cy="466344"/>
            <a:chOff x="0" y="0"/>
            <a:chExt cx="10786001" cy="6217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786001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6001">
                  <a:moveTo>
                    <a:pt x="0" y="310896"/>
                  </a:moveTo>
                  <a:cubicBezTo>
                    <a:pt x="0" y="139192"/>
                    <a:pt x="92240" y="0"/>
                    <a:pt x="206025" y="0"/>
                  </a:cubicBezTo>
                  <a:lnTo>
                    <a:pt x="10579976" y="0"/>
                  </a:lnTo>
                  <a:cubicBezTo>
                    <a:pt x="10693761" y="0"/>
                    <a:pt x="10786001" y="139192"/>
                    <a:pt x="10786001" y="310896"/>
                  </a:cubicBezTo>
                  <a:cubicBezTo>
                    <a:pt x="10786001" y="482600"/>
                    <a:pt x="10693761" y="621792"/>
                    <a:pt x="10579976" y="621792"/>
                  </a:cubicBezTo>
                  <a:lnTo>
                    <a:pt x="206025" y="621792"/>
                  </a:lnTo>
                  <a:cubicBezTo>
                    <a:pt x="9224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F2A44"/>
            </a:solidFill>
            <a:ln w="19050" cap="sq">
              <a:solidFill>
                <a:srgbClr val="C2E6F9"/>
              </a:solidFill>
              <a:prstDash val="solid"/>
              <a:miter/>
            </a:ln>
          </p:spPr>
        </p:sp>
      </p:grpSp>
      <p:sp>
        <p:nvSpPr>
          <p:cNvPr name="TextBox 120" id="120"/>
          <p:cNvSpPr txBox="true"/>
          <p:nvPr/>
        </p:nvSpPr>
        <p:spPr>
          <a:xfrm rot="0">
            <a:off x="11947599" y="2998730"/>
            <a:ext cx="38586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4953038" y="6977225"/>
            <a:ext cx="837649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</a:pPr>
            <a:r>
              <a:rPr lang="en-US" b="true" sz="21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FEASILIBILITY AND VIABILITY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2484"/>
            <a:ext cx="18288000" cy="10287000"/>
            <a:chOff x="0" y="0"/>
            <a:chExt cx="24384000" cy="13716000"/>
          </a:xfrm>
        </p:grpSpPr>
        <p:sp>
          <p:nvSpPr>
            <p:cNvPr name="Freeform 3" id="3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170" t="0" r="-2217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 descr="bg_content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t="0" r="-2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10050" y="0"/>
            <a:ext cx="9867900" cy="1447800"/>
            <a:chOff x="0" y="0"/>
            <a:chExt cx="13157200" cy="1930400"/>
          </a:xfrm>
        </p:grpSpPr>
        <p:sp>
          <p:nvSpPr>
            <p:cNvPr name="Freeform 7" id="7" descr="hdr_mct.png"/>
            <p:cNvSpPr/>
            <p:nvPr/>
          </p:nvSpPr>
          <p:spPr>
            <a:xfrm flipH="false" flipV="false" rot="0">
              <a:off x="0" y="0"/>
              <a:ext cx="13157200" cy="1930400"/>
            </a:xfrm>
            <a:custGeom>
              <a:avLst/>
              <a:gdLst/>
              <a:ahLst/>
              <a:cxnLst/>
              <a:rect r="r" b="b" t="t" l="l"/>
              <a:pathLst>
                <a:path h="1930400" w="13157200">
                  <a:moveTo>
                    <a:pt x="0" y="0"/>
                  </a:moveTo>
                  <a:lnTo>
                    <a:pt x="13157200" y="0"/>
                  </a:lnTo>
                  <a:lnTo>
                    <a:pt x="13157200" y="1930400"/>
                  </a:lnTo>
                  <a:lnTo>
                    <a:pt x="0" y="193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3" t="0" r="-1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152400"/>
            <a:ext cx="1295400" cy="1295400"/>
            <a:chOff x="0" y="0"/>
            <a:chExt cx="1727200" cy="1727200"/>
          </a:xfrm>
        </p:grpSpPr>
        <p:sp>
          <p:nvSpPr>
            <p:cNvPr name="Freeform 9" id="9" descr="logo_abit.png"/>
            <p:cNvSpPr/>
            <p:nvPr/>
          </p:nvSpPr>
          <p:spPr>
            <a:xfrm flipH="false" flipV="false" rot="0">
              <a:off x="0" y="0"/>
              <a:ext cx="17272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1727200">
                  <a:moveTo>
                    <a:pt x="0" y="0"/>
                  </a:moveTo>
                  <a:lnTo>
                    <a:pt x="1727200" y="0"/>
                  </a:lnTo>
                  <a:lnTo>
                    <a:pt x="1727200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084553" y="152400"/>
            <a:ext cx="1170937" cy="1295400"/>
            <a:chOff x="0" y="0"/>
            <a:chExt cx="1561249" cy="1727200"/>
          </a:xfrm>
        </p:grpSpPr>
        <p:sp>
          <p:nvSpPr>
            <p:cNvPr name="Freeform 11" id="11" descr="logo_synergy.png"/>
            <p:cNvSpPr/>
            <p:nvPr/>
          </p:nvSpPr>
          <p:spPr>
            <a:xfrm flipH="false" flipV="false" rot="0">
              <a:off x="0" y="0"/>
              <a:ext cx="1561211" cy="1727200"/>
            </a:xfrm>
            <a:custGeom>
              <a:avLst/>
              <a:gdLst/>
              <a:ahLst/>
              <a:cxnLst/>
              <a:rect r="r" b="b" t="t" l="l"/>
              <a:pathLst>
                <a:path h="1727200" w="1561211">
                  <a:moveTo>
                    <a:pt x="0" y="0"/>
                  </a:moveTo>
                  <a:lnTo>
                    <a:pt x="1561211" y="0"/>
                  </a:lnTo>
                  <a:lnTo>
                    <a:pt x="1561211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9" r="-2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1800606"/>
            <a:ext cx="11430000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3228" y="1946148"/>
            <a:ext cx="12164692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EE6E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real flood replay, verified data, and the research behind every claim</a:t>
            </a:r>
          </a:p>
        </p:txBody>
      </p:sp>
      <p:sp>
        <p:nvSpPr>
          <p:cNvPr id="14" name="Card: case study timeline"/>
          <p:cNvSpPr/>
          <p:nvPr/>
        </p:nvSpPr>
        <p:spPr>
          <a:xfrm>
            <a:off x="777240" y="2606040"/>
            <a:ext cx="10744200" cy="2697480"/>
          </a:xfrm>
          <a:prstGeom prst="roundRect">
            <a:avLst>
              <a:gd name="adj" fmla="val 6101"/>
            </a:avLst>
          </a:prstGeom>
          <a:solidFill>
            <a:srgbClr val="2E3643">
              <a:alpha val="90000"/>
            </a:srgbClr>
          </a:solidFill>
          <a:ln w="9525">
            <a:solidFill>
              <a:srgbClr val="C2E6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72491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2F7E2"/>
                </a:solidFill>
                <a:latin typeface="Montserrat Bold"/>
              </a:rPr>
              <a:t>CASE STUDY</a:t>
            </a:r>
            <a:r>
              <a:rPr sz="1400" b="0">
                <a:solidFill>
                  <a:srgbClr val="AEB8C8"/>
                </a:solidFill>
                <a:latin typeface="Montserrat"/>
              </a:rPr>
              <a:t>   ·   July 2026 Mumbai floods</a:t>
            </a:r>
          </a:p>
        </p:txBody>
      </p:sp>
      <p:cxnSp>
        <p:nvCxnSpPr>
          <p:cNvPr id="16" name="Timeline"/>
          <p:cNvCxnSpPr/>
          <p:nvPr/>
        </p:nvCxnSpPr>
        <p:spPr>
          <a:xfrm>
            <a:off x="1280160" y="3931920"/>
            <a:ext cx="9738359" cy="0"/>
          </a:xfrm>
          <a:prstGeom prst="line">
            <a:avLst/>
          </a:prstGeom>
          <a:ln w="25400">
            <a:solidFill>
              <a:srgbClr val="6B7890"/>
            </a:solidFill>
          </a:ln>
        </p:spPr>
      </p:cxnSp>
      <p:sp>
        <p:nvSpPr>
          <p:cNvPr id="17" name="Node 0"/>
          <p:cNvSpPr/>
          <p:nvPr/>
        </p:nvSpPr>
        <p:spPr>
          <a:xfrm>
            <a:off x="2342007" y="3776472"/>
            <a:ext cx="310896" cy="310896"/>
          </a:xfrm>
          <a:prstGeom prst="ellipse">
            <a:avLst/>
          </a:prstGeom>
          <a:solidFill>
            <a:srgbClr val="8EE6E0"/>
          </a:solidFill>
          <a:ln w="31750">
            <a:solidFill>
              <a:srgbClr val="2E36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3015" y="33101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8EE6E0"/>
                </a:solidFill>
                <a:latin typeface="Montserrat Bold"/>
              </a:rPr>
              <a:t>1–7 Jul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8735" y="420624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~984 mm of rain at Santacruz</a:t>
            </a:r>
          </a:p>
        </p:txBody>
      </p:sp>
      <p:sp>
        <p:nvSpPr>
          <p:cNvPr id="20" name="Node 1"/>
          <p:cNvSpPr/>
          <p:nvPr/>
        </p:nvSpPr>
        <p:spPr>
          <a:xfrm>
            <a:off x="4776597" y="3776472"/>
            <a:ext cx="310896" cy="310896"/>
          </a:xfrm>
          <a:prstGeom prst="ellipse">
            <a:avLst/>
          </a:prstGeom>
          <a:solidFill>
            <a:srgbClr val="FFD27A"/>
          </a:solidFill>
          <a:ln w="31750">
            <a:solidFill>
              <a:srgbClr val="2E36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7605" y="33101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D27A"/>
                </a:solidFill>
                <a:latin typeface="Montserrat Bold"/>
              </a:rPr>
              <a:t>4–6 Jul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3325" y="420624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Red alert; flooding in Andheri, Kurla, Chembur, Powai</a:t>
            </a:r>
          </a:p>
        </p:txBody>
      </p:sp>
      <p:sp>
        <p:nvSpPr>
          <p:cNvPr id="23" name="Node 2"/>
          <p:cNvSpPr/>
          <p:nvPr/>
        </p:nvSpPr>
        <p:spPr>
          <a:xfrm>
            <a:off x="7211187" y="3776472"/>
            <a:ext cx="310896" cy="310896"/>
          </a:xfrm>
          <a:prstGeom prst="ellipse">
            <a:avLst/>
          </a:prstGeom>
          <a:solidFill>
            <a:srgbClr val="F4A3A3"/>
          </a:solidFill>
          <a:ln w="31750">
            <a:solidFill>
              <a:srgbClr val="2E36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2195" y="33101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4A3A3"/>
                </a:solidFill>
                <a:latin typeface="Montserrat Bold"/>
              </a:rPr>
              <a:t>6 Jul, 10:39 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7915" y="420624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BMC citywide advice: get preventive care within 72 hours</a:t>
            </a:r>
          </a:p>
        </p:txBody>
      </p:sp>
      <p:sp>
        <p:nvSpPr>
          <p:cNvPr id="26" name="Node 3"/>
          <p:cNvSpPr/>
          <p:nvPr/>
        </p:nvSpPr>
        <p:spPr>
          <a:xfrm>
            <a:off x="9645777" y="3776472"/>
            <a:ext cx="310896" cy="310896"/>
          </a:xfrm>
          <a:prstGeom prst="ellipse">
            <a:avLst/>
          </a:prstGeom>
          <a:solidFill>
            <a:srgbClr val="FF7B72"/>
          </a:solidFill>
          <a:ln w="31750">
            <a:solidFill>
              <a:srgbClr val="2E36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6785" y="33101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7B72"/>
                </a:solidFill>
                <a:latin typeface="Montserrat Bold"/>
              </a:rPr>
              <a:t>July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505" y="420624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Leptospirosis cases more than doubled: 33 → 78</a:t>
            </a:r>
          </a:p>
        </p:txBody>
      </p:sp>
      <p:sp>
        <p:nvSpPr>
          <p:cNvPr id="29" name="Card: research findings"/>
          <p:cNvSpPr/>
          <p:nvPr/>
        </p:nvSpPr>
        <p:spPr>
          <a:xfrm>
            <a:off x="777240" y="5486400"/>
            <a:ext cx="10744200" cy="2103120"/>
          </a:xfrm>
          <a:prstGeom prst="roundRect">
            <a:avLst>
              <a:gd name="adj" fmla="val 7826"/>
            </a:avLst>
          </a:prstGeom>
          <a:solidFill>
            <a:srgbClr val="2E3643">
              <a:alpha val="90000"/>
            </a:srgbClr>
          </a:solidFill>
          <a:ln w="9525">
            <a:solidFill>
              <a:srgbClr val="C2E6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596128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2F7E2"/>
                </a:solidFill>
                <a:latin typeface="Montserrat Bold"/>
              </a:rPr>
              <a:t>KEY RESEARCH FINDINGS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5943600"/>
            <a:ext cx="312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8EE6E0"/>
                </a:solidFill>
                <a:latin typeface="Montserrat Bold"/>
              </a:rPr>
              <a:t>7–12 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6510528"/>
            <a:ext cx="3124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4F7FB"/>
                </a:solidFill>
                <a:latin typeface="Calibri (MS) Bold"/>
              </a:rPr>
              <a:t>Cases follow floods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8C8"/>
                </a:solidFill>
                <a:latin typeface="Calibri (MS)"/>
              </a:rPr>
              <a:t>8× jump after the 2005 deluge, mostly on days 7–12 (Supe et al., 2018)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04360" y="6053328"/>
            <a:ext cx="0" cy="1371599"/>
          </a:xfrm>
          <a:prstGeom prst="line">
            <a:avLst/>
          </a:prstGeom>
          <a:ln w="12700">
            <a:solidFill>
              <a:srgbClr val="4B566A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4587240" y="5943600"/>
            <a:ext cx="312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D27A"/>
                </a:solidFill>
                <a:latin typeface="Montserrat Bold"/>
              </a:rPr>
              <a:t>~6 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7240" y="6510528"/>
            <a:ext cx="3124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4F7FB"/>
                </a:solidFill>
                <a:latin typeface="Calibri (MS) Bold"/>
              </a:rPr>
              <a:t>Official data is late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8C8"/>
                </a:solidFill>
                <a:latin typeface="Calibri (MS)"/>
              </a:rPr>
              <a:t>IDSP reports go online 37–51 days after each week ends (our check of 7 reports)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02880" y="6053328"/>
            <a:ext cx="0" cy="1371599"/>
          </a:xfrm>
          <a:prstGeom prst="line">
            <a:avLst/>
          </a:prstGeom>
          <a:ln w="12700">
            <a:solidFill>
              <a:srgbClr val="4B566A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7985760" y="5943600"/>
            <a:ext cx="312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4A3A3"/>
                </a:solidFill>
                <a:latin typeface="Montserrat Bold"/>
              </a:rPr>
              <a:t>70 vs 944 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5760" y="6510528"/>
            <a:ext cx="3124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4F7FB"/>
                </a:solidFill>
                <a:latin typeface="Calibri (MS) Bold"/>
              </a:rPr>
              <a:t>Free maps miss cloudbursts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8C8"/>
                </a:solidFill>
                <a:latin typeface="Calibri (MS)"/>
              </a:rPr>
              <a:t>26 Jul 2005: free global map vs real rain gauges. VARSHA corrects with gauges</a:t>
            </a:r>
          </a:p>
        </p:txBody>
      </p:sp>
      <p:sp>
        <p:nvSpPr>
          <p:cNvPr id="39" name="Card: pipeline"/>
          <p:cNvSpPr/>
          <p:nvPr/>
        </p:nvSpPr>
        <p:spPr>
          <a:xfrm>
            <a:off x="777240" y="7772400"/>
            <a:ext cx="10744200" cy="1920240"/>
          </a:xfrm>
          <a:prstGeom prst="roundRect">
            <a:avLst>
              <a:gd name="adj" fmla="val 8571"/>
            </a:avLst>
          </a:prstGeom>
          <a:solidFill>
            <a:srgbClr val="2E3643">
              <a:alpha val="90000"/>
            </a:srgbClr>
          </a:solidFill>
          <a:ln w="9525">
            <a:solidFill>
              <a:srgbClr val="C2E6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786384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2F7E2"/>
                </a:solidFill>
                <a:latin typeface="Montserrat Bold"/>
              </a:rPr>
              <a:t>HOW ONE ALERT IS MADE</a:t>
            </a:r>
          </a:p>
        </p:txBody>
      </p:sp>
      <p:cxnSp>
        <p:nvCxnSpPr>
          <p:cNvPr id="41" name="Pipeline line"/>
          <p:cNvCxnSpPr/>
          <p:nvPr/>
        </p:nvCxnSpPr>
        <p:spPr>
          <a:xfrm>
            <a:off x="2071115" y="8458200"/>
            <a:ext cx="8156448" cy="0"/>
          </a:xfrm>
          <a:prstGeom prst="line">
            <a:avLst/>
          </a:prstGeom>
          <a:ln w="19050">
            <a:solidFill>
              <a:srgbClr val="6B7890"/>
            </a:solidFill>
          </a:ln>
        </p:spPr>
      </p:cxnSp>
      <p:sp>
        <p:nvSpPr>
          <p:cNvPr id="42" name="Step 1"/>
          <p:cNvSpPr/>
          <p:nvPr/>
        </p:nvSpPr>
        <p:spPr>
          <a:xfrm>
            <a:off x="1851659" y="8238744"/>
            <a:ext cx="438912" cy="438912"/>
          </a:xfrm>
          <a:prstGeom prst="ellipse">
            <a:avLst/>
          </a:prstGeom>
          <a:solidFill>
            <a:srgbClr val="1E2531"/>
          </a:solidFill>
          <a:ln w="25400">
            <a:solidFill>
              <a:srgbClr val="8EE6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51659" y="8238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8EE6E0"/>
                </a:solidFill>
                <a:latin typeface="Montserrat Bold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1" y="8750808"/>
            <a:ext cx="189280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F4F7FB"/>
                </a:solidFill>
                <a:latin typeface="Calibri (MS) Bold"/>
              </a:rPr>
              <a:t>What goes in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EB8C8"/>
                </a:solidFill>
                <a:latin typeface="Calibri (MS)"/>
              </a:rPr>
              <a:t>Live rain, real gauges, 386 flood spots, ~200 clinics</a:t>
            </a:r>
          </a:p>
        </p:txBody>
      </p:sp>
      <p:sp>
        <p:nvSpPr>
          <p:cNvPr id="45" name="Step 2"/>
          <p:cNvSpPr/>
          <p:nvPr/>
        </p:nvSpPr>
        <p:spPr>
          <a:xfrm>
            <a:off x="3890771" y="8238744"/>
            <a:ext cx="438912" cy="438912"/>
          </a:xfrm>
          <a:prstGeom prst="ellipse">
            <a:avLst/>
          </a:prstGeom>
          <a:solidFill>
            <a:srgbClr val="1E2531"/>
          </a:solidFill>
          <a:ln w="25400">
            <a:solidFill>
              <a:srgbClr val="D2F7E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90771" y="8238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2F7E2"/>
                </a:solidFill>
                <a:latin typeface="Montserrat Bol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63823" y="8750808"/>
            <a:ext cx="189280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F4F7FB"/>
                </a:solidFill>
                <a:latin typeface="Calibri (MS) Bold"/>
              </a:rPr>
              <a:t>Measuring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EB8C8"/>
                </a:solidFill>
                <a:latin typeface="Calibri (MS)"/>
              </a:rPr>
              <a:t>Rain correction + exposure score per ward</a:t>
            </a:r>
          </a:p>
        </p:txBody>
      </p:sp>
      <p:sp>
        <p:nvSpPr>
          <p:cNvPr id="48" name="Step 3"/>
          <p:cNvSpPr/>
          <p:nvPr/>
        </p:nvSpPr>
        <p:spPr>
          <a:xfrm>
            <a:off x="5929883" y="8238744"/>
            <a:ext cx="438912" cy="438912"/>
          </a:xfrm>
          <a:prstGeom prst="ellipse">
            <a:avLst/>
          </a:prstGeom>
          <a:solidFill>
            <a:srgbClr val="1E2531"/>
          </a:solidFill>
          <a:ln w="25400">
            <a:solidFill>
              <a:srgbClr val="FFD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29883" y="8238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D27A"/>
                </a:solidFill>
                <a:latin typeface="Montserrat Bold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02936" y="8750808"/>
            <a:ext cx="189280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F4F7FB"/>
                </a:solidFill>
                <a:latin typeface="Calibri (MS) Bold"/>
              </a:rPr>
              <a:t>Forecast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EB8C8"/>
                </a:solidFill>
                <a:latin typeface="Calibri (MS)"/>
              </a:rPr>
              <a:t>Lepto wave 7–14 days on; dengue &amp; malaria weeks ahead</a:t>
            </a:r>
          </a:p>
        </p:txBody>
      </p:sp>
      <p:sp>
        <p:nvSpPr>
          <p:cNvPr id="51" name="Step 4"/>
          <p:cNvSpPr/>
          <p:nvPr/>
        </p:nvSpPr>
        <p:spPr>
          <a:xfrm>
            <a:off x="7968996" y="8238744"/>
            <a:ext cx="438912" cy="438912"/>
          </a:xfrm>
          <a:prstGeom prst="ellipse">
            <a:avLst/>
          </a:prstGeom>
          <a:solidFill>
            <a:srgbClr val="1E2531"/>
          </a:solidFill>
          <a:ln w="25400">
            <a:solidFill>
              <a:srgbClr val="C9C2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68996" y="8238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9C2F2"/>
                </a:solidFill>
                <a:latin typeface="Montserrat Bol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42048" y="8750808"/>
            <a:ext cx="189280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F4F7FB"/>
                </a:solidFill>
                <a:latin typeface="Calibri (MS) Bold"/>
              </a:rPr>
              <a:t>Decision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EB8C8"/>
                </a:solidFill>
                <a:latin typeface="Calibri (MS)"/>
              </a:rPr>
              <a:t>Action planner + “why this alert?”</a:t>
            </a:r>
          </a:p>
        </p:txBody>
      </p:sp>
      <p:sp>
        <p:nvSpPr>
          <p:cNvPr id="54" name="Step 5"/>
          <p:cNvSpPr/>
          <p:nvPr/>
        </p:nvSpPr>
        <p:spPr>
          <a:xfrm>
            <a:off x="10008108" y="8238744"/>
            <a:ext cx="438912" cy="438912"/>
          </a:xfrm>
          <a:prstGeom prst="ellipse">
            <a:avLst/>
          </a:prstGeom>
          <a:solidFill>
            <a:srgbClr val="1E2531"/>
          </a:solidFill>
          <a:ln w="25400">
            <a:solidFill>
              <a:srgbClr val="F4A3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08108" y="82387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4A3A3"/>
                </a:solidFill>
                <a:latin typeface="Montserrat Bold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8750808"/>
            <a:ext cx="1892807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50" b="1">
                <a:solidFill>
                  <a:srgbClr val="F4F7FB"/>
                </a:solidFill>
                <a:latin typeface="Calibri (MS) Bold"/>
              </a:rPr>
              <a:t>Alerts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EB8C8"/>
                </a:solidFill>
                <a:latin typeface="Calibri (MS)"/>
              </a:rPr>
              <a:t>Citizen SMS, ward sheets, doctor alerts</a:t>
            </a:r>
          </a:p>
        </p:txBody>
      </p:sp>
      <p:sp>
        <p:nvSpPr>
          <p:cNvPr id="57" name="Card: what VARSHA would have done"/>
          <p:cNvSpPr/>
          <p:nvPr/>
        </p:nvSpPr>
        <p:spPr>
          <a:xfrm>
            <a:off x="11795760" y="2606040"/>
            <a:ext cx="5714999" cy="3931920"/>
          </a:xfrm>
          <a:prstGeom prst="roundRect">
            <a:avLst>
              <a:gd name="adj" fmla="val 4186"/>
            </a:avLst>
          </a:prstGeom>
          <a:solidFill>
            <a:srgbClr val="2E3643">
              <a:alpha val="90000"/>
            </a:srgbClr>
          </a:solidFill>
          <a:ln w="9525">
            <a:solidFill>
              <a:srgbClr val="C2E6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070080" y="2724912"/>
            <a:ext cx="516635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2F7E2"/>
                </a:solidFill>
                <a:latin typeface="Montserrat Bold"/>
              </a:rPr>
              <a:t>WHAT VARSHA WOULD HAVE DONE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070080" y="3154680"/>
            <a:ext cx="5166359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4F7FB"/>
                </a:solidFill>
                <a:latin typeface="Calibri (MS)"/>
              </a:rPr>
              <a:t>Replayed on the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real July 2026 rain data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, VARSHA's rules give a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WATCH on 1 Jul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 and a </a:t>
            </a:r>
            <a:r>
              <a:rPr sz="1350" b="1">
                <a:solidFill>
                  <a:srgbClr val="8EE6E0"/>
                </a:solidFill>
                <a:latin typeface="Calibri (MS) Bold"/>
              </a:rPr>
              <a:t>WARNING by 5 Jul</a:t>
            </a:r>
            <a:r>
              <a:rPr sz="1350" b="0">
                <a:solidFill>
                  <a:srgbClr val="F4F7FB"/>
                </a:solidFill>
                <a:latin typeface="Calibri (MS)"/>
              </a:rPr>
              <a:t>, before BMC's citywide advice on the night of 6 Jul. It would then:</a:t>
            </a:r>
          </a:p>
        </p:txBody>
      </p:sp>
      <p:pic>
        <p:nvPicPr>
          <p:cNvPr id="60" name="Check 0" descr="E73E_8EE6E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088368" y="4416552"/>
            <a:ext cx="201168" cy="20116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2399264" y="4370832"/>
            <a:ext cx="4846319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Alert </a:t>
            </a:r>
            <a:r>
              <a:rPr sz="1300" b="1">
                <a:solidFill>
                  <a:srgbClr val="8EE6E0"/>
                </a:solidFill>
                <a:latin typeface="Calibri (MS) Bold"/>
              </a:rPr>
              <a:t>only flood-hit wards</a:t>
            </a:r>
            <a:r>
              <a:rPr sz="1300" b="0">
                <a:solidFill>
                  <a:srgbClr val="F4F7FB"/>
                </a:solidFill>
                <a:latin typeface="Calibri (MS)"/>
              </a:rPr>
              <a:t>, in Marathi, Hindi &amp; English</a:t>
            </a:r>
          </a:p>
        </p:txBody>
      </p:sp>
      <p:pic>
        <p:nvPicPr>
          <p:cNvPr id="62" name="Check 1" descr="E73E_8EE6E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088368" y="4764024"/>
            <a:ext cx="201168" cy="20116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399264" y="4718304"/>
            <a:ext cx="4846319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Send people to an </a:t>
            </a:r>
            <a:r>
              <a:rPr sz="1300" b="1">
                <a:solidFill>
                  <a:srgbClr val="8EE6E0"/>
                </a:solidFill>
                <a:latin typeface="Calibri (MS) Bold"/>
              </a:rPr>
              <a:t>Aapla Dawakhana within 72 hours</a:t>
            </a:r>
          </a:p>
        </p:txBody>
      </p:sp>
      <p:pic>
        <p:nvPicPr>
          <p:cNvPr id="64" name="Check 2" descr="E73E_8EE6E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088368" y="5111496"/>
            <a:ext cx="201168" cy="20116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2399264" y="5065776"/>
            <a:ext cx="4846319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Place </a:t>
            </a:r>
            <a:r>
              <a:rPr sz="1300" b="1">
                <a:solidFill>
                  <a:srgbClr val="8EE6E0"/>
                </a:solidFill>
                <a:latin typeface="Calibri (MS) Bold"/>
              </a:rPr>
              <a:t>fever camps</a:t>
            </a:r>
            <a:r>
              <a:rPr sz="1300" b="0">
                <a:solidFill>
                  <a:srgbClr val="F4F7FB"/>
                </a:solidFill>
                <a:latin typeface="Calibri (MS)"/>
              </a:rPr>
              <a:t> where risk is highest</a:t>
            </a:r>
          </a:p>
        </p:txBody>
      </p:sp>
      <p:pic>
        <p:nvPicPr>
          <p:cNvPr id="66" name="Check 3" descr="E73E_8EE6E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088368" y="5458968"/>
            <a:ext cx="201168" cy="20116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2399264" y="5413248"/>
            <a:ext cx="4846319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7FB"/>
                </a:solidFill>
                <a:latin typeface="Calibri (MS)"/>
              </a:rPr>
              <a:t>Forecast the </a:t>
            </a:r>
            <a:r>
              <a:rPr sz="1300" b="1">
                <a:solidFill>
                  <a:srgbClr val="8EE6E0"/>
                </a:solidFill>
                <a:latin typeface="Calibri (MS) Bold"/>
              </a:rPr>
              <a:t>case wave for ~11–20 Jul</a:t>
            </a:r>
          </a:p>
        </p:txBody>
      </p:sp>
      <p:sp>
        <p:nvSpPr>
          <p:cNvPr id="68" name="Chip VARSHA"/>
          <p:cNvSpPr/>
          <p:nvPr/>
        </p:nvSpPr>
        <p:spPr>
          <a:xfrm>
            <a:off x="12070080" y="589788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0E8C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070080" y="58978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 (MS) Bold"/>
              </a:rPr>
              <a:t>VARSHA WATCH  </a:t>
            </a:r>
            <a:r>
              <a:rPr sz="1300" b="1">
                <a:solidFill>
                  <a:srgbClr val="FFFFFF"/>
                </a:solidFill>
                <a:latin typeface="Montserrat Bold"/>
              </a:rPr>
              <a:t>1 Jul</a:t>
            </a:r>
          </a:p>
        </p:txBody>
      </p:sp>
      <p:sp>
        <p:nvSpPr>
          <p:cNvPr id="70" name="Chip BMC"/>
          <p:cNvSpPr/>
          <p:nvPr/>
        </p:nvSpPr>
        <p:spPr>
          <a:xfrm>
            <a:off x="14721840" y="5897880"/>
            <a:ext cx="2514600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7B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721840" y="589788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9B94"/>
                </a:solidFill>
                <a:latin typeface="Calibri (MS) Bold"/>
              </a:rPr>
              <a:t>BMC ADVICE  </a:t>
            </a:r>
            <a:r>
              <a:rPr sz="1300" b="1">
                <a:solidFill>
                  <a:srgbClr val="FF9B94"/>
                </a:solidFill>
                <a:latin typeface="Montserrat Bold"/>
              </a:rPr>
              <a:t>6 Jul</a:t>
            </a:r>
          </a:p>
        </p:txBody>
      </p:sp>
      <p:sp>
        <p:nvSpPr>
          <p:cNvPr id="72" name="Card: references"/>
          <p:cNvSpPr/>
          <p:nvPr/>
        </p:nvSpPr>
        <p:spPr>
          <a:xfrm>
            <a:off x="11795760" y="6720840"/>
            <a:ext cx="5714999" cy="2971800"/>
          </a:xfrm>
          <a:prstGeom prst="roundRect">
            <a:avLst>
              <a:gd name="adj" fmla="val 5538"/>
            </a:avLst>
          </a:prstGeom>
          <a:solidFill>
            <a:srgbClr val="2E3643">
              <a:alpha val="90000"/>
            </a:srgbClr>
          </a:solidFill>
          <a:ln w="9525">
            <a:solidFill>
              <a:srgbClr val="C2E6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070080" y="6830568"/>
            <a:ext cx="516635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2F7E2"/>
                </a:solidFill>
                <a:latin typeface="Montserrat Bold"/>
              </a:rPr>
              <a:t>KEY REFERENCES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070080" y="7242048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EE6E0"/>
                </a:solidFill>
                <a:latin typeface="Montserrat Bold"/>
              </a:rPr>
              <a:t>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481560" y="7242048"/>
            <a:ext cx="48005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F7FB"/>
                </a:solidFill>
                <a:latin typeface="Calibri (MS) Bold"/>
              </a:rPr>
              <a:t>Cases rise 7–12 days after floods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8"/>
                </a:solidFill>
                <a:latin typeface="Calibri (MS) Italics"/>
              </a:rPr>
              <a:t>Supe et al., Natl Med J India, 2018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070080" y="7717536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EE6E0"/>
                </a:solidFill>
                <a:latin typeface="Montserrat Bold"/>
              </a:rPr>
              <a:t>02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481560" y="7717536"/>
            <a:ext cx="48005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F7FB"/>
                </a:solidFill>
                <a:latin typeface="Calibri (MS) Bold"/>
              </a:rPr>
              <a:t>Lepto cases 33 → 78 in July 2026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8"/>
                </a:solidFill>
                <a:latin typeface="Calibri (MS) Italics"/>
              </a:rPr>
              <a:t>BMC data via Free Press Journal,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070080" y="8193024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EE6E0"/>
                </a:solidFill>
                <a:latin typeface="Montserrat Bold"/>
              </a:rPr>
              <a:t>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481560" y="8193024"/>
            <a:ext cx="48005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F7FB"/>
                </a:solidFill>
                <a:latin typeface="Calibri (MS) Bold"/>
              </a:rPr>
              <a:t>Care within 24–72 hours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8"/>
                </a:solidFill>
                <a:latin typeface="Calibri (MS) Italics"/>
              </a:rPr>
              <a:t>BMC advisory, 6 Jul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070080" y="8668512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EE6E0"/>
                </a:solidFill>
                <a:latin typeface="Montserrat Bold"/>
              </a:rPr>
              <a:t>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481560" y="8668512"/>
            <a:ext cx="48005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F7FB"/>
                </a:solidFill>
                <a:latin typeface="Calibri (MS) Bold"/>
              </a:rPr>
              <a:t>29,433 IDSP outbreak records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8"/>
                </a:solidFill>
                <a:latin typeface="Calibri (MS) Italics"/>
              </a:rPr>
              <a:t>IDSP (NCDC), via Dataful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070080" y="9144000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EE6E0"/>
                </a:solidFill>
                <a:latin typeface="Montserrat Bold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81560" y="9144000"/>
            <a:ext cx="48005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4F7FB"/>
                </a:solidFill>
                <a:latin typeface="Calibri (MS) Bold"/>
              </a:rPr>
              <a:t>Dengue warning is “rudimentary”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AEB8C8"/>
                </a:solidFill>
                <a:latin typeface="Calibri (MS) Italics"/>
              </a:rPr>
              <a:t>IITM Pune, Scientific Reports, 2025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" y="9765792"/>
            <a:ext cx="1673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6A8"/>
                </a:solidFill>
                <a:latin typeface="Calibri (MS) Italics"/>
              </a:rPr>
              <a:t>Rain data checked live on 8 Oct 2026: Open-Meteo archive and NOAA GSOD (Santacruz station 43003). Full evidence log: CODEASTRA_2_MASTER_RESEARCH.md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DAHXc5Ucn68</dc:identifier>
  <dcterms:modified xsi:type="dcterms:W3CDTF">2011-08-01T06:04:30Z</dcterms:modified>
  <cp:revision>1</cp:revision>
  <dc:title>VARSHA_CODEASTRA2_Idea_PPT.pptx</dc:title>
</cp:coreProperties>
</file>