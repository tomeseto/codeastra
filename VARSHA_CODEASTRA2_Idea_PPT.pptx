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team. Domain: Web &amp; Product Development. Problem statement: Health Outbreak Detection &amp; Alert System. Our solution is VARSHA (Vector-And-Rain-driven Surveillance for Health Alerts). Varsha means rain, and that is exactly where the warning comes from. Replace the yellow [Enter ...] placeholders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monsoon Mumbai floods, and every monsoon the same diseases follow: leptospirosis, dengue, malaria. In 2025 BMC reviewed 66 suspected deaths from these three. The pattern is predictable: people wade through floodwater on known days, BMC itself says preventive care must start within 72 hours, and cases surge 7 to 12 days later. But advice is citywide and late (6 July 2026 for floods that began 1 July), official IDSP outbreak reports go online about 6 weeks later, and existing AI tools only read the news after people are sick. The warning arrives after the window has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VARSHA turns live rainfall into ward-level disease alerts. The hero chart is the real July 2026 rain at Santacruz (Open-Meteo): our rules raise a WATCH on 1 July and a WARNING by 5 July, before BMC's citywide advice on the night of 6 July, and they forecast the case wave 7 to 14 days after the floods. Data flows from public sources, through ingestion and a PostGIS database, into four analytics engines, and out to a ward dashboard plus action sheets, citizen alerts, doctor alerts and a weekly bulletin. Three things change: same-day ward alerts, a 1 to 2 week forecast, and a planner that puts scarce teams where risk is highest. Re-run the replay on your prototype and keep these dates only if it reproduces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Stack: React + Vite + Leaflet on the front end, FastAPI on the back end, PostgreSQL + PostGIS for ward and flood-spot geography. The intelligence engine uses standard, explainable methods: a lagged exposure model for leptospirosis, a climate-lag model for dengue and malaria, CDC-style EARS and Farrington checks for unusual spikes, and OR-Tools to place scarce teams. LLMs, if used, only translate and explain; they never produce numbers. Fill in the three links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Impact: alerts in hours instead of weeks, inside the 72-hour prevention window, reaching the highest-risk wards first and focusing on the flood-prone slums where about 4 in 10 Mumbaikars live. Future scope: a one-ward pilot for one monsoon, then all 24 wards with BMC's data; the same pipeline works for any IDSP district and for heat, air-quality and platelet-demand warnings. Challenges are real and each has a concrete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evidence. In July 2026 Santacruz recorded about 984 mm of rain in a week; streets flooded on 4 July; BMC's citywide advice came on the night of 6 July; leptospirosis cases went from 33 in June to 78 in July. Replayed on the real rain data, VARSHA's rules give a WATCH on 1 July and a WARNING by 5 July. Three research findings drive the design: cases follow floods by 7 to 12 days, official data is about 6 weeks late, and free weather maps miss cloudbursts, so we correct rain with real gauges.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48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Relationship Id="rId1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itle background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MCT RGIT header" descr="hdr_m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0"/>
            <a:ext cx="9867900" cy="1447800"/>
          </a:xfrm>
          <a:prstGeom prst="rect">
            <a:avLst/>
          </a:prstGeom>
        </p:spPr>
      </p:pic>
      <p:pic>
        <p:nvPicPr>
          <p:cNvPr id="4" name="ABIT logo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5" name="Synergy logo" descr="logo_sy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550" y="152400"/>
            <a:ext cx="1170940" cy="1295400"/>
          </a:xfrm>
          <a:prstGeom prst="rect">
            <a:avLst/>
          </a:prstGeom>
        </p:spPr>
      </p:pic>
      <p:pic>
        <p:nvPicPr>
          <p:cNvPr id="6" name="CODEASTRA 2.0 wordmark" descr="codeast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4210" y="-680720"/>
            <a:ext cx="8515350" cy="5676900"/>
          </a:xfrm>
          <a:prstGeom prst="rect">
            <a:avLst/>
          </a:prstGeom>
        </p:spPr>
      </p:pic>
      <p:sp>
        <p:nvSpPr>
          <p:cNvPr id="7" name="Title: Team Details"/>
          <p:cNvSpPr txBox="1"/>
          <p:nvPr/>
        </p:nvSpPr>
        <p:spPr>
          <a:xfrm>
            <a:off x="5513832" y="3026664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4050" b="0" i="0">
                <a:solidFill>
                  <a:srgbClr val="FFFFFF"/>
                </a:solidFill>
                <a:latin typeface="Times New Roman"/>
              </a:rPr>
              <a:t>Team Details</a:t>
            </a:r>
          </a:p>
        </p:txBody>
      </p:sp>
      <p:sp>
        <p:nvSpPr>
          <p:cNvPr id="8" name="Field: Team ID"/>
          <p:cNvSpPr txBox="1"/>
          <p:nvPr/>
        </p:nvSpPr>
        <p:spPr>
          <a:xfrm>
            <a:off x="1678940" y="4534408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Times New Roman"/>
              </a:rPr>
              <a:t>Team ID : </a:t>
            </a:r>
            <a:r>
              <a:rPr sz="3400" b="0" i="0">
                <a:solidFill>
                  <a:srgbClr val="FFD27A"/>
                </a:solidFill>
                <a:latin typeface="Times New Roman"/>
              </a:rPr>
              <a:t>[Enter Team ID]</a:t>
            </a:r>
          </a:p>
        </p:txBody>
      </p:sp>
      <p:sp>
        <p:nvSpPr>
          <p:cNvPr id="9" name="Field: Team Name"/>
          <p:cNvSpPr txBox="1"/>
          <p:nvPr/>
        </p:nvSpPr>
        <p:spPr>
          <a:xfrm>
            <a:off x="1678940" y="5135117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Times New Roman"/>
              </a:rPr>
              <a:t>Team Name : </a:t>
            </a:r>
            <a:r>
              <a:rPr sz="3400" b="0" i="0">
                <a:solidFill>
                  <a:srgbClr val="FFD27A"/>
                </a:solidFill>
                <a:latin typeface="Times New Roman"/>
              </a:rPr>
              <a:t>[Enter Team Name]</a:t>
            </a:r>
          </a:p>
        </p:txBody>
      </p:sp>
      <p:sp>
        <p:nvSpPr>
          <p:cNvPr id="10" name="Field: Leader Name"/>
          <p:cNvSpPr txBox="1"/>
          <p:nvPr/>
        </p:nvSpPr>
        <p:spPr>
          <a:xfrm>
            <a:off x="1678940" y="5734558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Times New Roman"/>
              </a:rPr>
              <a:t>Leader Name : </a:t>
            </a:r>
            <a:r>
              <a:rPr sz="3400" b="0" i="0">
                <a:solidFill>
                  <a:srgbClr val="FFD27A"/>
                </a:solidFill>
                <a:latin typeface="Times New Roman"/>
              </a:rPr>
              <a:t>[Enter Leader Name]</a:t>
            </a:r>
          </a:p>
        </p:txBody>
      </p:sp>
      <p:sp>
        <p:nvSpPr>
          <p:cNvPr id="11" name="Field: Domain Chosen"/>
          <p:cNvSpPr txBox="1"/>
          <p:nvPr/>
        </p:nvSpPr>
        <p:spPr>
          <a:xfrm>
            <a:off x="1678940" y="6335267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Times New Roman"/>
              </a:rPr>
              <a:t>Domain Chosen : </a:t>
            </a:r>
            <a:r>
              <a:rPr sz="3400" b="1" i="0">
                <a:solidFill>
                  <a:srgbClr val="8EE6E0"/>
                </a:solidFill>
                <a:latin typeface="Times New Roman"/>
              </a:rPr>
              <a:t>Web &amp; Product Development</a:t>
            </a:r>
          </a:p>
        </p:txBody>
      </p:sp>
      <p:sp>
        <p:nvSpPr>
          <p:cNvPr id="12" name="Field: Problem Statement"/>
          <p:cNvSpPr txBox="1"/>
          <p:nvPr/>
        </p:nvSpPr>
        <p:spPr>
          <a:xfrm>
            <a:off x="1678940" y="6934708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Times New Roman"/>
              </a:rPr>
              <a:t>Problem Statement : </a:t>
            </a:r>
          </a:p>
        </p:txBody>
      </p:sp>
      <p:sp>
        <p:nvSpPr>
          <p:cNvPr id="13" name="Field value: Problem Statement"/>
          <p:cNvSpPr txBox="1"/>
          <p:nvPr/>
        </p:nvSpPr>
        <p:spPr>
          <a:xfrm>
            <a:off x="1953260" y="751078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8EE6E0"/>
                </a:solidFill>
                <a:latin typeface="Times New Roman"/>
              </a:rPr>
              <a:t>Health Outbreak Detection &amp; Alert System</a:t>
            </a:r>
          </a:p>
        </p:txBody>
      </p:sp>
      <p:sp>
        <p:nvSpPr>
          <p:cNvPr id="14" name="Solution name"/>
          <p:cNvSpPr txBox="1"/>
          <p:nvPr/>
        </p:nvSpPr>
        <p:spPr>
          <a:xfrm>
            <a:off x="1678940" y="822960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Times New Roman"/>
              </a:rPr>
              <a:t>Our Solution:  </a:t>
            </a:r>
            <a:r>
              <a:rPr sz="2100" b="1" i="0">
                <a:solidFill>
                  <a:srgbClr val="8EE6E0"/>
                </a:solidFill>
                <a:latin typeface="Times New Roman"/>
              </a:rPr>
              <a:t>VARSHA</a:t>
            </a:r>
            <a:r>
              <a:rPr sz="2100" b="0" i="1">
                <a:solidFill>
                  <a:srgbClr val="D6F5F3"/>
                </a:solidFill>
                <a:latin typeface="Times New Roman"/>
              </a:rPr>
              <a:t>  —  Vector-And-Rain-driven Surveillance for Health Alerts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MCT RGIT header" descr="hdr_m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0"/>
            <a:ext cx="9867900" cy="1447800"/>
          </a:xfrm>
          <a:prstGeom prst="rect">
            <a:avLst/>
          </a:prstGeom>
        </p:spPr>
      </p:pic>
      <p:pic>
        <p:nvPicPr>
          <p:cNvPr id="4" name="ABIT logo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5" name="Synergy logo" descr="logo_sy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550" y="152400"/>
            <a:ext cx="1170940" cy="1295400"/>
          </a:xfrm>
          <a:prstGeom prst="rect">
            <a:avLst/>
          </a:prstGeom>
        </p:spPr>
      </p:pic>
      <p:sp>
        <p:nvSpPr>
          <p:cNvPr id="6" name="Slide title"/>
          <p:cNvSpPr txBox="1"/>
          <p:nvPr/>
        </p:nvSpPr>
        <p:spPr>
          <a:xfrm>
            <a:off x="1028700" y="1819656"/>
            <a:ext cx="114300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Times New Roman"/>
              </a:rPr>
              <a:t>Problem Analysis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4477007" y="1984248"/>
            <a:ext cx="1317091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1">
                <a:solidFill>
                  <a:srgbClr val="8EE6E0"/>
                </a:solidFill>
                <a:latin typeface="Calibri"/>
              </a:rPr>
              <a:t>Mumbai's monsoon outbreaks are predictable. The response isn't.</a:t>
            </a:r>
          </a:p>
        </p:txBody>
      </p:sp>
      <p:sp>
        <p:nvSpPr>
          <p:cNvPr id="8" name="Content panel"/>
          <p:cNvSpPr/>
          <p:nvPr/>
        </p:nvSpPr>
        <p:spPr>
          <a:xfrm>
            <a:off x="548640" y="2487168"/>
            <a:ext cx="17190720" cy="7644383"/>
          </a:xfrm>
          <a:prstGeom prst="roundRect">
            <a:avLst>
              <a:gd name="adj" fmla="val 2392"/>
            </a:avLst>
          </a:prstGeom>
          <a:solidFill>
            <a:srgbClr val="FBFCFE">
              <a:alpha val="97000"/>
            </a:srgbClr>
          </a:solidFill>
          <a:ln>
            <a:noFill/>
          </a:ln>
          <a:effectLst>
            <a:outerShdw blurRad="101600" dist="3175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Card: Real-world issue"/>
          <p:cNvSpPr/>
          <p:nvPr/>
        </p:nvSpPr>
        <p:spPr>
          <a:xfrm>
            <a:off x="777240" y="2670048"/>
            <a:ext cx="4572000" cy="3035808"/>
          </a:xfrm>
          <a:prstGeom prst="roundRect">
            <a:avLst>
              <a:gd name="adj" fmla="val 4819"/>
            </a:avLst>
          </a:prstGeom>
          <a:solidFill>
            <a:srgbClr val="FCE4E1"/>
          </a:solidFill>
          <a:ln w="15875">
            <a:solidFill>
              <a:srgbClr val="E8A5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Icon circle: warning"/>
          <p:cNvSpPr/>
          <p:nvPr/>
        </p:nvSpPr>
        <p:spPr>
          <a:xfrm>
            <a:off x="923544" y="2798063"/>
            <a:ext cx="475488" cy="47548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Icon: warning" descr="E7BA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906" y="2907426"/>
            <a:ext cx="256763" cy="256763"/>
          </a:xfrm>
          <a:prstGeom prst="rect">
            <a:avLst/>
          </a:prstGeom>
        </p:spPr>
      </p:pic>
      <p:sp>
        <p:nvSpPr>
          <p:cNvPr id="12" name="Card title: Real-world issue"/>
          <p:cNvSpPr txBox="1"/>
          <p:nvPr/>
        </p:nvSpPr>
        <p:spPr>
          <a:xfrm>
            <a:off x="1508760" y="2798064"/>
            <a:ext cx="37033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B83227"/>
                </a:solidFill>
                <a:latin typeface="Calibri"/>
              </a:rPr>
              <a:t>Real-world issue</a:t>
            </a:r>
          </a:p>
        </p:txBody>
      </p:sp>
      <p:sp>
        <p:nvSpPr>
          <p:cNvPr id="13" name="Card body: Real-world issue"/>
          <p:cNvSpPr txBox="1"/>
          <p:nvPr/>
        </p:nvSpPr>
        <p:spPr>
          <a:xfrm>
            <a:off x="960120" y="3346704"/>
            <a:ext cx="4224528" cy="2267712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B2333"/>
                </a:solidFill>
                <a:latin typeface="Calibri"/>
              </a:rPr>
              <a:t>Every monsoon, floods spread leptospirosis, dengue and malaria across Mumbai.</a:t>
            </a:r>
          </a:p>
          <a:p>
            <a:pPr algn="l" marL="166551" indent="-166551">
              <a:spcAft>
                <a:spcPts val="400"/>
              </a:spcAft>
              <a:buClr>
                <a:srgbClr val="B83227"/>
              </a:buClr>
              <a:buFont typeface="Arial"/>
              <a:buChar char="•"/>
            </a:pPr>
            <a:r>
              <a:rPr sz="1500" b="1" i="0">
                <a:solidFill>
                  <a:srgbClr val="1B2333"/>
                </a:solidFill>
                <a:latin typeface="Calibri"/>
              </a:rPr>
              <a:t>66 suspected deaths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 from these 3 diseases in 2025 (BMC review)</a:t>
            </a:r>
          </a:p>
          <a:p>
            <a:pPr algn="l" marL="166551" indent="-166551">
              <a:spcAft>
                <a:spcPts val="400"/>
              </a:spcAft>
              <a:buClr>
                <a:srgbClr val="B83227"/>
              </a:buClr>
              <a:buFont typeface="Arial"/>
              <a:buChar char="•"/>
            </a:pPr>
            <a:r>
              <a:rPr sz="1500" b="1" i="0">
                <a:solidFill>
                  <a:srgbClr val="1B2333"/>
                </a:solidFill>
                <a:latin typeface="Calibri"/>
              </a:rPr>
              <a:t>8× jump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 in leptospirosis after the 26 July 2005 deluge</a:t>
            </a:r>
          </a:p>
          <a:p>
            <a:pPr algn="l" marL="166551" indent="-166551">
              <a:buClr>
                <a:srgbClr val="B83227"/>
              </a:buClr>
              <a:buFont typeface="Arial"/>
              <a:buChar char="•"/>
            </a:pPr>
            <a:r>
              <a:rPr sz="1500" b="1" i="0">
                <a:solidFill>
                  <a:srgbClr val="1B2333"/>
                </a:solidFill>
                <a:latin typeface="Calibri"/>
              </a:rPr>
              <a:t>July 2026: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 leptospirosis cases more than doubled, </a:t>
            </a:r>
            <a:r>
              <a:rPr sz="1500" b="1" i="0">
                <a:solidFill>
                  <a:srgbClr val="1B2333"/>
                </a:solidFill>
                <a:latin typeface="Calibri"/>
              </a:rPr>
              <a:t>33 → 78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, after a week of heavy rain</a:t>
            </a:r>
          </a:p>
        </p:txBody>
      </p:sp>
      <p:sp>
        <p:nvSpPr>
          <p:cNvPr id="14" name="Card: Why It Keeps Happening"/>
          <p:cNvSpPr/>
          <p:nvPr/>
        </p:nvSpPr>
        <p:spPr>
          <a:xfrm>
            <a:off x="5532120" y="2670048"/>
            <a:ext cx="5577840" cy="3035808"/>
          </a:xfrm>
          <a:prstGeom prst="roundRect">
            <a:avLst>
              <a:gd name="adj" fmla="val 4819"/>
            </a:avLst>
          </a:prstGeom>
          <a:solidFill>
            <a:srgbClr val="E5F5EA"/>
          </a:solidFill>
          <a:ln w="15875">
            <a:solidFill>
              <a:srgbClr val="9CD3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circle: bulb"/>
          <p:cNvSpPr/>
          <p:nvPr/>
        </p:nvSpPr>
        <p:spPr>
          <a:xfrm>
            <a:off x="5678424" y="2798063"/>
            <a:ext cx="475488" cy="475488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Icon: bulb" descr="EA80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7786" y="2907426"/>
            <a:ext cx="256763" cy="256763"/>
          </a:xfrm>
          <a:prstGeom prst="rect">
            <a:avLst/>
          </a:prstGeom>
        </p:spPr>
      </p:pic>
      <p:sp>
        <p:nvSpPr>
          <p:cNvPr id="17" name="Card title: Why It Keeps Happening"/>
          <p:cNvSpPr txBox="1"/>
          <p:nvPr/>
        </p:nvSpPr>
        <p:spPr>
          <a:xfrm>
            <a:off x="6263640" y="2798064"/>
            <a:ext cx="4709159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7A46"/>
                </a:solidFill>
                <a:latin typeface="Calibri"/>
              </a:rPr>
              <a:t>Why It Keeps Happening</a:t>
            </a:r>
          </a:p>
        </p:txBody>
      </p:sp>
      <p:sp>
        <p:nvSpPr>
          <p:cNvPr id="18" name="Card body: Why It Keeps Happening"/>
          <p:cNvSpPr txBox="1"/>
          <p:nvPr/>
        </p:nvSpPr>
        <p:spPr>
          <a:xfrm>
            <a:off x="5715000" y="3346704"/>
            <a:ext cx="5230368" cy="2267712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B2333"/>
                </a:solidFill>
                <a:latin typeface="Calibri"/>
              </a:rPr>
              <a:t>People catch leptospirosis on predictable days: when they wade through floodwater. BMC says preventive care must start </a:t>
            </a:r>
            <a:r>
              <a:rPr sz="1500" b="1" i="0">
                <a:solidFill>
                  <a:srgbClr val="1B2333"/>
                </a:solidFill>
                <a:latin typeface="Calibri"/>
              </a:rPr>
              <a:t>within 72 hours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. But today:</a:t>
            </a:r>
          </a:p>
          <a:p>
            <a:pPr algn="l" marL="166551" indent="-166551">
              <a:spcAft>
                <a:spcPts val="300"/>
              </a:spcAft>
              <a:buClr>
                <a:srgbClr val="1E7A46"/>
              </a:buClr>
              <a:buFont typeface="Arial"/>
              <a:buChar char="•"/>
            </a:pPr>
            <a:r>
              <a:rPr sz="1500" b="0" i="0">
                <a:solidFill>
                  <a:srgbClr val="1B2333"/>
                </a:solidFill>
                <a:latin typeface="Calibri"/>
              </a:rPr>
              <a:t>Advice is </a:t>
            </a:r>
            <a:r>
              <a:rPr sz="1500" b="1" i="0">
                <a:solidFill>
                  <a:srgbClr val="1B2333"/>
                </a:solidFill>
                <a:latin typeface="Calibri"/>
              </a:rPr>
              <a:t>citywide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 and comes </a:t>
            </a:r>
            <a:r>
              <a:rPr sz="1500" b="1" i="0">
                <a:solidFill>
                  <a:srgbClr val="1B2333"/>
                </a:solidFill>
                <a:latin typeface="Calibri"/>
              </a:rPr>
              <a:t>days after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 the flood</a:t>
            </a:r>
          </a:p>
          <a:p>
            <a:pPr algn="l" marL="166551" indent="-166551">
              <a:spcAft>
                <a:spcPts val="300"/>
              </a:spcAft>
              <a:buClr>
                <a:srgbClr val="1E7A46"/>
              </a:buClr>
              <a:buFont typeface="Arial"/>
              <a:buChar char="•"/>
            </a:pPr>
            <a:r>
              <a:rPr sz="1500" b="0" i="0">
                <a:solidFill>
                  <a:srgbClr val="1B2333"/>
                </a:solidFill>
                <a:latin typeface="Calibri"/>
              </a:rPr>
              <a:t>Official outbreak reports go online </a:t>
            </a:r>
            <a:r>
              <a:rPr sz="1500" b="1" i="0">
                <a:solidFill>
                  <a:srgbClr val="1B2333"/>
                </a:solidFill>
                <a:latin typeface="Calibri"/>
              </a:rPr>
              <a:t>~6 weeks later</a:t>
            </a:r>
          </a:p>
          <a:p>
            <a:pPr algn="l" marL="166551" indent="-166551">
              <a:spcAft>
                <a:spcPts val="600"/>
              </a:spcAft>
              <a:buClr>
                <a:srgbClr val="1E7A46"/>
              </a:buClr>
              <a:buFont typeface="Arial"/>
              <a:buChar char="•"/>
            </a:pPr>
            <a:r>
              <a:rPr sz="1500" b="0" i="0">
                <a:solidFill>
                  <a:srgbClr val="1B2333"/>
                </a:solidFill>
                <a:latin typeface="Calibri"/>
              </a:rPr>
              <a:t>AI tools read the news only </a:t>
            </a:r>
            <a:r>
              <a:rPr sz="1500" b="1" i="0">
                <a:solidFill>
                  <a:srgbClr val="1B2333"/>
                </a:solidFill>
                <a:latin typeface="Calibri"/>
              </a:rPr>
              <a:t>after people fall sick</a:t>
            </a:r>
          </a:p>
          <a:p>
            <a:pPr algn="l"/>
            <a:r>
              <a:rPr sz="1500" b="1" i="0">
                <a:solidFill>
                  <a:srgbClr val="B83227"/>
                </a:solidFill>
                <a:latin typeface="Calibri"/>
              </a:rPr>
              <a:t>Result:</a:t>
            </a:r>
            <a:r>
              <a:rPr sz="1500" b="0" i="0">
                <a:solidFill>
                  <a:srgbClr val="B83227"/>
                </a:solidFill>
                <a:latin typeface="Calibri"/>
              </a:rPr>
              <a:t> the warning comes after the window has closed.</a:t>
            </a:r>
          </a:p>
        </p:txBody>
      </p:sp>
      <p:sp>
        <p:nvSpPr>
          <p:cNvPr id="19" name="Card: WHO IS AFFECTED"/>
          <p:cNvSpPr/>
          <p:nvPr/>
        </p:nvSpPr>
        <p:spPr>
          <a:xfrm>
            <a:off x="11292840" y="2670048"/>
            <a:ext cx="6217920" cy="303580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5875">
            <a:solidFill>
              <a:srgbClr val="C9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Header bar: WHO IS AFFECTED"/>
          <p:cNvSpPr/>
          <p:nvPr/>
        </p:nvSpPr>
        <p:spPr>
          <a:xfrm>
            <a:off x="11292840" y="2670048"/>
            <a:ext cx="6217920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Header: WHO IS AFFECTED"/>
          <p:cNvSpPr txBox="1"/>
          <p:nvPr/>
        </p:nvSpPr>
        <p:spPr>
          <a:xfrm>
            <a:off x="11292840" y="2670048"/>
            <a:ext cx="62179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WHO IS AFFECTED</a:t>
            </a:r>
          </a:p>
        </p:txBody>
      </p:sp>
      <p:sp>
        <p:nvSpPr>
          <p:cNvPr id="22" name="Letter circle a"/>
          <p:cNvSpPr/>
          <p:nvPr/>
        </p:nvSpPr>
        <p:spPr>
          <a:xfrm>
            <a:off x="11457432" y="3319272"/>
            <a:ext cx="402336" cy="402336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Letter a"/>
          <p:cNvSpPr txBox="1"/>
          <p:nvPr/>
        </p:nvSpPr>
        <p:spPr>
          <a:xfrm>
            <a:off x="11457432" y="33192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4" name="Row 0: Families in flood-prone slums"/>
          <p:cNvSpPr txBox="1"/>
          <p:nvPr/>
        </p:nvSpPr>
        <p:spPr>
          <a:xfrm>
            <a:off x="11969496" y="3273552"/>
            <a:ext cx="5431536" cy="7802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F2341"/>
                </a:solidFill>
                <a:latin typeface="Calibri"/>
              </a:rPr>
              <a:t>Families in flood-prone slums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About 4 in 10 Mumbaikars live in slums, many next to chronic flood spots.</a:t>
            </a:r>
          </a:p>
        </p:txBody>
      </p:sp>
      <p:sp>
        <p:nvSpPr>
          <p:cNvPr id="25" name="Letter circle b"/>
          <p:cNvSpPr/>
          <p:nvPr/>
        </p:nvSpPr>
        <p:spPr>
          <a:xfrm>
            <a:off x="11457432" y="4099560"/>
            <a:ext cx="402336" cy="402336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Letter b"/>
          <p:cNvSpPr txBox="1"/>
          <p:nvPr/>
        </p:nvSpPr>
        <p:spPr>
          <a:xfrm>
            <a:off x="11457432" y="40995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7" name="Row 1: BMC health teams"/>
          <p:cNvSpPr txBox="1"/>
          <p:nvPr/>
        </p:nvSpPr>
        <p:spPr>
          <a:xfrm>
            <a:off x="11969496" y="4053840"/>
            <a:ext cx="5431536" cy="7802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F2341"/>
                </a:solidFill>
                <a:latin typeface="Calibri"/>
              </a:rPr>
              <a:t>BMC health teams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Must spread limited fever camps, doctors and spray teams over 24 wards, without knowing where cases will hit.</a:t>
            </a:r>
          </a:p>
        </p:txBody>
      </p:sp>
      <p:sp>
        <p:nvSpPr>
          <p:cNvPr id="28" name="Letter circle c"/>
          <p:cNvSpPr/>
          <p:nvPr/>
        </p:nvSpPr>
        <p:spPr>
          <a:xfrm>
            <a:off x="11457432" y="4879848"/>
            <a:ext cx="402336" cy="402336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Letter c"/>
          <p:cNvSpPr txBox="1"/>
          <p:nvPr/>
        </p:nvSpPr>
        <p:spPr>
          <a:xfrm>
            <a:off x="11457432" y="48798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0" name="Row 2: Hospitals &amp; blood banks"/>
          <p:cNvSpPr txBox="1"/>
          <p:nvPr/>
        </p:nvSpPr>
        <p:spPr>
          <a:xfrm>
            <a:off x="11969496" y="4834128"/>
            <a:ext cx="5431536" cy="7802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F2341"/>
                </a:solidFill>
                <a:latin typeface="Calibri"/>
              </a:rPr>
              <a:t>Hospitals &amp; blood banks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Get sudden fever surges; dengue patients need platelets that last only 5 days.</a:t>
            </a:r>
          </a:p>
        </p:txBody>
      </p:sp>
      <p:sp>
        <p:nvSpPr>
          <p:cNvPr id="31" name="Flow heading 0"/>
          <p:cNvSpPr txBox="1"/>
          <p:nvPr/>
        </p:nvSpPr>
        <p:spPr>
          <a:xfrm>
            <a:off x="777240" y="5870448"/>
            <a:ext cx="1975104" cy="512064"/>
          </a:xfrm>
          <a:prstGeom prst="rect">
            <a:avLst/>
          </a:prstGeom>
          <a:noFill/>
        </p:spPr>
        <p:txBody>
          <a:bodyPr wrap="square" lIns="0" tIns="0" rIns="0" bIns="18288" anchor="b">
            <a:noAutofit/>
          </a:bodyPr>
          <a:lstStyle/>
          <a:p>
            <a:pPr algn="ctr"/>
            <a:r>
              <a:rPr sz="1100" b="1" i="0">
                <a:solidFill>
                  <a:srgbClr val="4F7F3F"/>
                </a:solidFill>
                <a:latin typeface="Calibri"/>
              </a:rPr>
              <a:t>DAY 0</a:t>
            </a:r>
          </a:p>
          <a:p>
            <a:pPr algn="ctr"/>
            <a:r>
              <a:rPr sz="1350" b="1" i="0">
                <a:solidFill>
                  <a:srgbClr val="4F7F3F"/>
                </a:solidFill>
                <a:latin typeface="Calibri"/>
              </a:rPr>
              <a:t>HEAVY RAIN</a:t>
            </a:r>
          </a:p>
        </p:txBody>
      </p:sp>
      <p:sp>
        <p:nvSpPr>
          <p:cNvPr id="32" name="Flow box 0.0: CLOUDBURST"/>
          <p:cNvSpPr/>
          <p:nvPr/>
        </p:nvSpPr>
        <p:spPr>
          <a:xfrm>
            <a:off x="777240" y="6437376"/>
            <a:ext cx="1975104" cy="1517904"/>
          </a:xfrm>
          <a:prstGeom prst="roundRect">
            <a:avLst>
              <a:gd name="adj" fmla="val 7228"/>
            </a:avLst>
          </a:prstGeom>
          <a:solidFill>
            <a:srgbClr val="DDEB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Icon: rain" descr="EA91_3F6B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6528816"/>
            <a:ext cx="246888" cy="246888"/>
          </a:xfrm>
          <a:prstGeom prst="rect">
            <a:avLst/>
          </a:prstGeom>
        </p:spPr>
      </p:pic>
      <p:sp>
        <p:nvSpPr>
          <p:cNvPr id="34" name="Flow box title 0.0"/>
          <p:cNvSpPr txBox="1"/>
          <p:nvPr/>
        </p:nvSpPr>
        <p:spPr>
          <a:xfrm>
            <a:off x="1161288" y="651052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3F6B32"/>
                </a:solidFill>
                <a:latin typeface="Calibri"/>
              </a:rPr>
              <a:t>CLOUDBURST</a:t>
            </a:r>
          </a:p>
        </p:txBody>
      </p:sp>
      <p:sp>
        <p:nvSpPr>
          <p:cNvPr id="35" name="Flow box body 0.0"/>
          <p:cNvSpPr txBox="1"/>
          <p:nvPr/>
        </p:nvSpPr>
        <p:spPr>
          <a:xfrm>
            <a:off x="868680" y="6830568"/>
            <a:ext cx="1810512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Up to ~944 mm of rain in a single day (26 Jul 2005).</a:t>
            </a:r>
          </a:p>
        </p:txBody>
      </p:sp>
      <p:sp>
        <p:nvSpPr>
          <p:cNvPr id="36" name="Flow box 0.1: FLOODED STREETS"/>
          <p:cNvSpPr/>
          <p:nvPr/>
        </p:nvSpPr>
        <p:spPr>
          <a:xfrm>
            <a:off x="777240" y="8083296"/>
            <a:ext cx="1975104" cy="1517904"/>
          </a:xfrm>
          <a:prstGeom prst="roundRect">
            <a:avLst>
              <a:gd name="adj" fmla="val 7228"/>
            </a:avLst>
          </a:prstGeom>
          <a:solidFill>
            <a:srgbClr val="DDEB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Icon: waves" descr="EDA8_3F6B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8174736"/>
            <a:ext cx="246888" cy="246888"/>
          </a:xfrm>
          <a:prstGeom prst="rect">
            <a:avLst/>
          </a:prstGeom>
        </p:spPr>
      </p:pic>
      <p:sp>
        <p:nvSpPr>
          <p:cNvPr id="38" name="Flow box title 0.1"/>
          <p:cNvSpPr txBox="1"/>
          <p:nvPr/>
        </p:nvSpPr>
        <p:spPr>
          <a:xfrm>
            <a:off x="1161288" y="815644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3F6B32"/>
                </a:solidFill>
                <a:latin typeface="Calibri"/>
              </a:rPr>
              <a:t>FLOODED STREETS</a:t>
            </a:r>
          </a:p>
        </p:txBody>
      </p:sp>
      <p:sp>
        <p:nvSpPr>
          <p:cNvPr id="39" name="Flow box body 0.1"/>
          <p:cNvSpPr txBox="1"/>
          <p:nvPr/>
        </p:nvSpPr>
        <p:spPr>
          <a:xfrm>
            <a:off x="868680" y="8476487"/>
            <a:ext cx="1810512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BMC lists 386 flood spots (2022); people wade through to get home.</a:t>
            </a:r>
          </a:p>
        </p:txBody>
      </p:sp>
      <p:sp>
        <p:nvSpPr>
          <p:cNvPr id="40" name="Flow arrow 0"/>
          <p:cNvSpPr/>
          <p:nvPr/>
        </p:nvSpPr>
        <p:spPr>
          <a:xfrm>
            <a:off x="2798064" y="7872983"/>
            <a:ext cx="182879" cy="292608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Flow heading 1"/>
          <p:cNvSpPr txBox="1"/>
          <p:nvPr/>
        </p:nvSpPr>
        <p:spPr>
          <a:xfrm>
            <a:off x="3026664" y="5870448"/>
            <a:ext cx="1975104" cy="512064"/>
          </a:xfrm>
          <a:prstGeom prst="rect">
            <a:avLst/>
          </a:prstGeom>
          <a:noFill/>
        </p:spPr>
        <p:txBody>
          <a:bodyPr wrap="square" lIns="0" tIns="0" rIns="0" bIns="18288" anchor="b">
            <a:noAutofit/>
          </a:bodyPr>
          <a:lstStyle/>
          <a:p>
            <a:pPr algn="ctr"/>
            <a:r>
              <a:rPr sz="1100" b="1" i="0">
                <a:solidFill>
                  <a:srgbClr val="A84C50"/>
                </a:solidFill>
                <a:latin typeface="Calibri"/>
              </a:rPr>
              <a:t>DAY 0–3</a:t>
            </a:r>
          </a:p>
          <a:p>
            <a:pPr algn="ctr"/>
            <a:r>
              <a:rPr sz="1350" b="1" i="0">
                <a:solidFill>
                  <a:srgbClr val="A84C50"/>
                </a:solidFill>
                <a:latin typeface="Calibri"/>
              </a:rPr>
              <a:t>EXPOSURE</a:t>
            </a:r>
          </a:p>
        </p:txBody>
      </p:sp>
      <p:sp>
        <p:nvSpPr>
          <p:cNvPr id="42" name="Flow box 1.0: INFECTION"/>
          <p:cNvSpPr/>
          <p:nvPr/>
        </p:nvSpPr>
        <p:spPr>
          <a:xfrm>
            <a:off x="3026664" y="6437376"/>
            <a:ext cx="1975104" cy="1517904"/>
          </a:xfrm>
          <a:prstGeom prst="roundRect">
            <a:avLst>
              <a:gd name="adj" fmla="val 7228"/>
            </a:avLst>
          </a:prstGeom>
          <a:solidFill>
            <a:srgbClr val="F6D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Icon: health" descr="E95E_8E3A3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18104" y="6528816"/>
            <a:ext cx="246888" cy="246888"/>
          </a:xfrm>
          <a:prstGeom prst="rect">
            <a:avLst/>
          </a:prstGeom>
        </p:spPr>
      </p:pic>
      <p:sp>
        <p:nvSpPr>
          <p:cNvPr id="44" name="Flow box title 1.0"/>
          <p:cNvSpPr txBox="1"/>
          <p:nvPr/>
        </p:nvSpPr>
        <p:spPr>
          <a:xfrm>
            <a:off x="3410712" y="651052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8E3A3E"/>
                </a:solidFill>
                <a:latin typeface="Calibri"/>
              </a:rPr>
              <a:t>INFECTION</a:t>
            </a:r>
          </a:p>
        </p:txBody>
      </p:sp>
      <p:sp>
        <p:nvSpPr>
          <p:cNvPr id="45" name="Flow box body 1.0"/>
          <p:cNvSpPr txBox="1"/>
          <p:nvPr/>
        </p:nvSpPr>
        <p:spPr>
          <a:xfrm>
            <a:off x="3118104" y="6830568"/>
            <a:ext cx="1810512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Germs from rat urine in floodwater enter through cuts and wet skin.</a:t>
            </a:r>
          </a:p>
        </p:txBody>
      </p:sp>
      <p:sp>
        <p:nvSpPr>
          <p:cNvPr id="46" name="Flow box 1.1: 72-HOUR WINDOW"/>
          <p:cNvSpPr/>
          <p:nvPr/>
        </p:nvSpPr>
        <p:spPr>
          <a:xfrm>
            <a:off x="3026664" y="8083296"/>
            <a:ext cx="1975104" cy="1517904"/>
          </a:xfrm>
          <a:prstGeom prst="roundRect">
            <a:avLst>
              <a:gd name="adj" fmla="val 7228"/>
            </a:avLst>
          </a:prstGeom>
          <a:solidFill>
            <a:srgbClr val="F6D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Icon: stopwatch" descr="E916_8E3A3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18104" y="8174736"/>
            <a:ext cx="246888" cy="246888"/>
          </a:xfrm>
          <a:prstGeom prst="rect">
            <a:avLst/>
          </a:prstGeom>
        </p:spPr>
      </p:pic>
      <p:sp>
        <p:nvSpPr>
          <p:cNvPr id="48" name="Flow box title 1.1"/>
          <p:cNvSpPr txBox="1"/>
          <p:nvPr/>
        </p:nvSpPr>
        <p:spPr>
          <a:xfrm>
            <a:off x="3410712" y="815644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8E3A3E"/>
                </a:solidFill>
                <a:latin typeface="Calibri"/>
              </a:rPr>
              <a:t>72-HOUR WINDOW</a:t>
            </a:r>
          </a:p>
        </p:txBody>
      </p:sp>
      <p:sp>
        <p:nvSpPr>
          <p:cNvPr id="49" name="Flow box body 1.1"/>
          <p:cNvSpPr txBox="1"/>
          <p:nvPr/>
        </p:nvSpPr>
        <p:spPr>
          <a:xfrm>
            <a:off x="3118104" y="8476487"/>
            <a:ext cx="1810512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BMC advice: start preventive care within 24–72 hours.</a:t>
            </a:r>
          </a:p>
        </p:txBody>
      </p:sp>
      <p:sp>
        <p:nvSpPr>
          <p:cNvPr id="50" name="Flow arrow 1"/>
          <p:cNvSpPr/>
          <p:nvPr/>
        </p:nvSpPr>
        <p:spPr>
          <a:xfrm>
            <a:off x="5047488" y="7872983"/>
            <a:ext cx="182879" cy="292608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Flow heading 2"/>
          <p:cNvSpPr txBox="1"/>
          <p:nvPr/>
        </p:nvSpPr>
        <p:spPr>
          <a:xfrm>
            <a:off x="5276088" y="5870448"/>
            <a:ext cx="1975104" cy="512064"/>
          </a:xfrm>
          <a:prstGeom prst="rect">
            <a:avLst/>
          </a:prstGeom>
          <a:noFill/>
        </p:spPr>
        <p:txBody>
          <a:bodyPr wrap="square" lIns="0" tIns="0" rIns="0" bIns="18288" anchor="b">
            <a:noAutofit/>
          </a:bodyPr>
          <a:lstStyle/>
          <a:p>
            <a:pPr algn="ctr"/>
            <a:r>
              <a:rPr sz="1100" b="1" i="0">
                <a:solidFill>
                  <a:srgbClr val="B37A10"/>
                </a:solidFill>
                <a:latin typeface="Calibri"/>
              </a:rPr>
              <a:t>DAY 3–12</a:t>
            </a:r>
          </a:p>
          <a:p>
            <a:pPr algn="ctr"/>
            <a:r>
              <a:rPr sz="1350" b="1" i="0">
                <a:solidFill>
                  <a:srgbClr val="B37A10"/>
                </a:solidFill>
                <a:latin typeface="Calibri"/>
              </a:rPr>
              <a:t>SILENT SPREAD</a:t>
            </a:r>
          </a:p>
        </p:txBody>
      </p:sp>
      <p:sp>
        <p:nvSpPr>
          <p:cNvPr id="52" name="Flow box 2.0: NOBODY IS WARNED"/>
          <p:cNvSpPr/>
          <p:nvPr/>
        </p:nvSpPr>
        <p:spPr>
          <a:xfrm>
            <a:off x="5276088" y="6437376"/>
            <a:ext cx="1975104" cy="3163824"/>
          </a:xfrm>
          <a:prstGeom prst="roundRect">
            <a:avLst>
              <a:gd name="adj" fmla="val 5555"/>
            </a:avLst>
          </a:prstGeom>
          <a:solidFill>
            <a:srgbClr val="FBE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Icon: bug" descr="EBE8_8A5A0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67527" y="6528816"/>
            <a:ext cx="246888" cy="246888"/>
          </a:xfrm>
          <a:prstGeom prst="rect">
            <a:avLst/>
          </a:prstGeom>
        </p:spPr>
      </p:pic>
      <p:sp>
        <p:nvSpPr>
          <p:cNvPr id="54" name="Flow box title 2.0"/>
          <p:cNvSpPr txBox="1"/>
          <p:nvPr/>
        </p:nvSpPr>
        <p:spPr>
          <a:xfrm>
            <a:off x="5660136" y="651052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8A5A08"/>
                </a:solidFill>
                <a:latin typeface="Calibri"/>
              </a:rPr>
              <a:t>NOBODY IS WARNED</a:t>
            </a:r>
          </a:p>
        </p:txBody>
      </p:sp>
      <p:sp>
        <p:nvSpPr>
          <p:cNvPr id="55" name="Flow box body 2.0"/>
          <p:cNvSpPr txBox="1"/>
          <p:nvPr/>
        </p:nvSpPr>
        <p:spPr>
          <a:xfrm>
            <a:off x="5367527" y="6830568"/>
            <a:ext cx="1810512" cy="2715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49896" indent="-149896">
              <a:spcAft>
                <a:spcPts val="600"/>
              </a:spcAft>
              <a:buClr>
                <a:srgbClr val="8A5A08"/>
              </a:buClr>
              <a:buFont typeface="Arial"/>
              <a:buChar char="•"/>
            </a:pPr>
            <a:r>
              <a:rPr sz="1350" b="0" i="0">
                <a:solidFill>
                  <a:srgbClr val="1B2333"/>
                </a:solidFill>
                <a:latin typeface="Calibri"/>
              </a:rPr>
              <a:t>No symptoms yet (germs incubate up to 2 weeks)</a:t>
            </a:r>
          </a:p>
          <a:p>
            <a:pPr algn="l" marL="149896" indent="-149896">
              <a:spcAft>
                <a:spcPts val="600"/>
              </a:spcAft>
              <a:buClr>
                <a:srgbClr val="8A5A08"/>
              </a:buClr>
              <a:buFont typeface="Arial"/>
              <a:buChar char="•"/>
            </a:pPr>
            <a:r>
              <a:rPr sz="1350" b="0" i="0">
                <a:solidFill>
                  <a:srgbClr val="1B2333"/>
                </a:solidFill>
                <a:latin typeface="Calibri"/>
              </a:rPr>
              <a:t>Mosquitoes breed in stagnant water</a:t>
            </a:r>
          </a:p>
          <a:p>
            <a:pPr algn="l" marL="149896" indent="-149896">
              <a:spcAft>
                <a:spcPts val="1000"/>
              </a:spcAft>
              <a:buClr>
                <a:srgbClr val="8A5A08"/>
              </a:buClr>
              <a:buFont typeface="Arial"/>
              <a:buChar char="•"/>
            </a:pPr>
            <a:r>
              <a:rPr sz="1350" b="0" i="0">
                <a:solidFill>
                  <a:srgbClr val="1B2333"/>
                </a:solidFill>
                <a:latin typeface="Calibri"/>
              </a:rPr>
              <a:t>No ward-level warning goes out</a:t>
            </a:r>
          </a:p>
          <a:p>
            <a:pPr algn="l"/>
            <a:r>
              <a:rPr sz="1350" b="1" i="0">
                <a:solidFill>
                  <a:srgbClr val="8A5A08"/>
                </a:solidFill>
                <a:latin typeface="Calibri"/>
              </a:rPr>
              <a:t>Result:</a:t>
            </a:r>
            <a:r>
              <a:rPr sz="1350" b="0" i="0">
                <a:solidFill>
                  <a:srgbClr val="8A5A08"/>
                </a:solidFill>
                <a:latin typeface="Calibri"/>
              </a:rPr>
              <a:t> people fall sick before anyone warns them</a:t>
            </a:r>
          </a:p>
        </p:txBody>
      </p:sp>
      <p:sp>
        <p:nvSpPr>
          <p:cNvPr id="56" name="Flow arrow 2"/>
          <p:cNvSpPr/>
          <p:nvPr/>
        </p:nvSpPr>
        <p:spPr>
          <a:xfrm>
            <a:off x="7296912" y="7872983"/>
            <a:ext cx="182879" cy="292608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Flow heading 3"/>
          <p:cNvSpPr txBox="1"/>
          <p:nvPr/>
        </p:nvSpPr>
        <p:spPr>
          <a:xfrm>
            <a:off x="7525512" y="5870448"/>
            <a:ext cx="1975104" cy="512064"/>
          </a:xfrm>
          <a:prstGeom prst="rect">
            <a:avLst/>
          </a:prstGeom>
          <a:noFill/>
        </p:spPr>
        <p:txBody>
          <a:bodyPr wrap="square" lIns="0" tIns="0" rIns="0" bIns="18288" anchor="b">
            <a:noAutofit/>
          </a:bodyPr>
          <a:lstStyle/>
          <a:p>
            <a:pPr algn="ctr"/>
            <a:r>
              <a:rPr sz="1100" b="1" i="0">
                <a:solidFill>
                  <a:srgbClr val="6E54A0"/>
                </a:solidFill>
                <a:latin typeface="Calibri"/>
              </a:rPr>
              <a:t>DAY 7–12</a:t>
            </a:r>
          </a:p>
          <a:p>
            <a:pPr algn="ctr"/>
            <a:r>
              <a:rPr sz="1350" b="1" i="0">
                <a:solidFill>
                  <a:srgbClr val="6E54A0"/>
                </a:solidFill>
                <a:latin typeface="Calibri"/>
              </a:rPr>
              <a:t>CASE SURGE</a:t>
            </a:r>
          </a:p>
        </p:txBody>
      </p:sp>
      <p:sp>
        <p:nvSpPr>
          <p:cNvPr id="58" name="Flow box 3.0: HOSPITALS FILL UP"/>
          <p:cNvSpPr/>
          <p:nvPr/>
        </p:nvSpPr>
        <p:spPr>
          <a:xfrm>
            <a:off x="7525512" y="6437376"/>
            <a:ext cx="1975104" cy="1517904"/>
          </a:xfrm>
          <a:prstGeom prst="roundRect">
            <a:avLst>
              <a:gd name="adj" fmla="val 7228"/>
            </a:avLst>
          </a:prstGeom>
          <a:solidFill>
            <a:srgbClr val="E8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Icon: hospital" descr="EC08_57408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16952" y="6528816"/>
            <a:ext cx="246888" cy="246888"/>
          </a:xfrm>
          <a:prstGeom prst="rect">
            <a:avLst/>
          </a:prstGeom>
        </p:spPr>
      </p:pic>
      <p:sp>
        <p:nvSpPr>
          <p:cNvPr id="60" name="Flow box title 3.0"/>
          <p:cNvSpPr txBox="1"/>
          <p:nvPr/>
        </p:nvSpPr>
        <p:spPr>
          <a:xfrm>
            <a:off x="7909560" y="651052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57408A"/>
                </a:solidFill>
                <a:latin typeface="Calibri"/>
              </a:rPr>
              <a:t>HOSPITALS FILL UP</a:t>
            </a:r>
          </a:p>
        </p:txBody>
      </p:sp>
      <p:sp>
        <p:nvSpPr>
          <p:cNvPr id="61" name="Flow box body 3.0"/>
          <p:cNvSpPr txBox="1"/>
          <p:nvPr/>
        </p:nvSpPr>
        <p:spPr>
          <a:xfrm>
            <a:off x="7616952" y="6830568"/>
            <a:ext cx="1810512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Fever cases jump; late treatment makes leptospirosis deadly.</a:t>
            </a:r>
          </a:p>
        </p:txBody>
      </p:sp>
      <p:sp>
        <p:nvSpPr>
          <p:cNvPr id="62" name="Flow box 3.1: BLOOD RUSH"/>
          <p:cNvSpPr/>
          <p:nvPr/>
        </p:nvSpPr>
        <p:spPr>
          <a:xfrm>
            <a:off x="7525512" y="8083296"/>
            <a:ext cx="1975104" cy="1517904"/>
          </a:xfrm>
          <a:prstGeom prst="roundRect">
            <a:avLst>
              <a:gd name="adj" fmla="val 7228"/>
            </a:avLst>
          </a:prstGeom>
          <a:solidFill>
            <a:srgbClr val="E8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3" name="Icon: drop" descr="EB42_57408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16952" y="8174736"/>
            <a:ext cx="246888" cy="246888"/>
          </a:xfrm>
          <a:prstGeom prst="rect">
            <a:avLst/>
          </a:prstGeom>
        </p:spPr>
      </p:pic>
      <p:sp>
        <p:nvSpPr>
          <p:cNvPr id="64" name="Flow box title 3.1"/>
          <p:cNvSpPr txBox="1"/>
          <p:nvPr/>
        </p:nvSpPr>
        <p:spPr>
          <a:xfrm>
            <a:off x="7909560" y="815644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57408A"/>
                </a:solidFill>
                <a:latin typeface="Calibri"/>
              </a:rPr>
              <a:t>BLOOD RUSH</a:t>
            </a:r>
          </a:p>
        </p:txBody>
      </p:sp>
      <p:sp>
        <p:nvSpPr>
          <p:cNvPr id="65" name="Flow box body 3.1"/>
          <p:cNvSpPr txBox="1"/>
          <p:nvPr/>
        </p:nvSpPr>
        <p:spPr>
          <a:xfrm>
            <a:off x="7616952" y="8476487"/>
            <a:ext cx="1810512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Dengue patients need platelets, which last only 5 days.</a:t>
            </a:r>
          </a:p>
        </p:txBody>
      </p:sp>
      <p:sp>
        <p:nvSpPr>
          <p:cNvPr id="66" name="Flow arrow 3"/>
          <p:cNvSpPr/>
          <p:nvPr/>
        </p:nvSpPr>
        <p:spPr>
          <a:xfrm>
            <a:off x="9546336" y="7872983"/>
            <a:ext cx="182879" cy="292608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Flow heading 4"/>
          <p:cNvSpPr txBox="1"/>
          <p:nvPr/>
        </p:nvSpPr>
        <p:spPr>
          <a:xfrm>
            <a:off x="9774936" y="5870448"/>
            <a:ext cx="1975104" cy="512064"/>
          </a:xfrm>
          <a:prstGeom prst="rect">
            <a:avLst/>
          </a:prstGeom>
          <a:noFill/>
        </p:spPr>
        <p:txBody>
          <a:bodyPr wrap="square" lIns="0" tIns="0" rIns="0" bIns="18288" anchor="b">
            <a:noAutofit/>
          </a:bodyPr>
          <a:lstStyle/>
          <a:p>
            <a:pPr algn="ctr"/>
            <a:r>
              <a:rPr sz="1100" b="1" i="0">
                <a:solidFill>
                  <a:srgbClr val="2F7E6E"/>
                </a:solidFill>
                <a:latin typeface="Calibri"/>
              </a:rPr>
              <a:t>WEEKS LATER</a:t>
            </a:r>
          </a:p>
          <a:p>
            <a:pPr algn="ctr"/>
            <a:r>
              <a:rPr sz="1350" b="1" i="0">
                <a:solidFill>
                  <a:srgbClr val="2F7E6E"/>
                </a:solidFill>
                <a:latin typeface="Calibri"/>
              </a:rPr>
              <a:t>LATE RESPONSE</a:t>
            </a:r>
          </a:p>
        </p:txBody>
      </p:sp>
      <p:sp>
        <p:nvSpPr>
          <p:cNvPr id="68" name="Flow box 4.0: CITYWIDE ADVICE"/>
          <p:cNvSpPr/>
          <p:nvPr/>
        </p:nvSpPr>
        <p:spPr>
          <a:xfrm>
            <a:off x="9774936" y="6437376"/>
            <a:ext cx="1975104" cy="969263"/>
          </a:xfrm>
          <a:prstGeom prst="roundRect">
            <a:avLst>
              <a:gd name="adj" fmla="val 11320"/>
            </a:avLst>
          </a:prstGeom>
          <a:solidFill>
            <a:srgbClr val="D6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9" name="Icon: megaphone" descr="E789_23645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66376" y="6528816"/>
            <a:ext cx="246888" cy="246888"/>
          </a:xfrm>
          <a:prstGeom prst="rect">
            <a:avLst/>
          </a:prstGeom>
        </p:spPr>
      </p:pic>
      <p:sp>
        <p:nvSpPr>
          <p:cNvPr id="70" name="Flow box title 4.0"/>
          <p:cNvSpPr txBox="1"/>
          <p:nvPr/>
        </p:nvSpPr>
        <p:spPr>
          <a:xfrm>
            <a:off x="10158984" y="651052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36456"/>
                </a:solidFill>
                <a:latin typeface="Calibri"/>
              </a:rPr>
              <a:t>CITYWIDE ADVICE</a:t>
            </a:r>
          </a:p>
        </p:txBody>
      </p:sp>
      <p:sp>
        <p:nvSpPr>
          <p:cNvPr id="71" name="Flow box body 4.0"/>
          <p:cNvSpPr txBox="1"/>
          <p:nvPr/>
        </p:nvSpPr>
        <p:spPr>
          <a:xfrm>
            <a:off x="9866376" y="6830568"/>
            <a:ext cx="1810512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One message for all wards, days later.</a:t>
            </a:r>
          </a:p>
        </p:txBody>
      </p:sp>
      <p:sp>
        <p:nvSpPr>
          <p:cNvPr id="72" name="Flow box 4.1: OFFICIAL REPORTS"/>
          <p:cNvSpPr/>
          <p:nvPr/>
        </p:nvSpPr>
        <p:spPr>
          <a:xfrm>
            <a:off x="9774936" y="7534656"/>
            <a:ext cx="1975104" cy="969263"/>
          </a:xfrm>
          <a:prstGeom prst="roundRect">
            <a:avLst>
              <a:gd name="adj" fmla="val 11320"/>
            </a:avLst>
          </a:prstGeom>
          <a:solidFill>
            <a:srgbClr val="D6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3" name="Icon: report" descr="E9F9_23645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66376" y="7626096"/>
            <a:ext cx="246888" cy="246888"/>
          </a:xfrm>
          <a:prstGeom prst="rect">
            <a:avLst/>
          </a:prstGeom>
        </p:spPr>
      </p:pic>
      <p:sp>
        <p:nvSpPr>
          <p:cNvPr id="74" name="Flow box title 4.1"/>
          <p:cNvSpPr txBox="1"/>
          <p:nvPr/>
        </p:nvSpPr>
        <p:spPr>
          <a:xfrm>
            <a:off x="10158984" y="760780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36456"/>
                </a:solidFill>
                <a:latin typeface="Calibri"/>
              </a:rPr>
              <a:t>OFFICIAL REPORTS</a:t>
            </a:r>
          </a:p>
        </p:txBody>
      </p:sp>
      <p:sp>
        <p:nvSpPr>
          <p:cNvPr id="75" name="Flow box body 4.1"/>
          <p:cNvSpPr txBox="1"/>
          <p:nvPr/>
        </p:nvSpPr>
        <p:spPr>
          <a:xfrm>
            <a:off x="9866376" y="7927847"/>
            <a:ext cx="1810512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IDSP outbreak data goes online ~6 weeks later.</a:t>
            </a:r>
          </a:p>
        </p:txBody>
      </p:sp>
      <p:sp>
        <p:nvSpPr>
          <p:cNvPr id="76" name="Flow box 4.2: NEWS-BASED AI"/>
          <p:cNvSpPr/>
          <p:nvPr/>
        </p:nvSpPr>
        <p:spPr>
          <a:xfrm>
            <a:off x="9774936" y="8631936"/>
            <a:ext cx="1975104" cy="969263"/>
          </a:xfrm>
          <a:prstGeom prst="roundRect">
            <a:avLst>
              <a:gd name="adj" fmla="val 11320"/>
            </a:avLst>
          </a:prstGeom>
          <a:solidFill>
            <a:srgbClr val="D6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Icon: search" descr="E721_23645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66376" y="8723376"/>
            <a:ext cx="246888" cy="246888"/>
          </a:xfrm>
          <a:prstGeom prst="rect">
            <a:avLst/>
          </a:prstGeom>
        </p:spPr>
      </p:pic>
      <p:sp>
        <p:nvSpPr>
          <p:cNvPr id="78" name="Flow box title 4.2"/>
          <p:cNvSpPr txBox="1"/>
          <p:nvPr/>
        </p:nvSpPr>
        <p:spPr>
          <a:xfrm>
            <a:off x="10158984" y="870508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36456"/>
                </a:solidFill>
                <a:latin typeface="Calibri"/>
              </a:rPr>
              <a:t>NEWS-BASED AI</a:t>
            </a:r>
          </a:p>
        </p:txBody>
      </p:sp>
      <p:sp>
        <p:nvSpPr>
          <p:cNvPr id="79" name="Flow box body 4.2"/>
          <p:cNvSpPr txBox="1"/>
          <p:nvPr/>
        </p:nvSpPr>
        <p:spPr>
          <a:xfrm>
            <a:off x="9866376" y="9025127"/>
            <a:ext cx="1810512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Flags outbreaks only after media reports.</a:t>
            </a:r>
          </a:p>
        </p:txBody>
      </p:sp>
      <p:sp>
        <p:nvSpPr>
          <p:cNvPr id="80" name="Card: EXISTING SOLUTIONS &amp; THEIR GAPS"/>
          <p:cNvSpPr/>
          <p:nvPr/>
        </p:nvSpPr>
        <p:spPr>
          <a:xfrm>
            <a:off x="12024360" y="5870448"/>
            <a:ext cx="5486400" cy="3730752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5875">
            <a:solidFill>
              <a:srgbClr val="C9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Header bar: EXISTING SOLUTIONS &amp; THEIR GAPS"/>
          <p:cNvSpPr/>
          <p:nvPr/>
        </p:nvSpPr>
        <p:spPr>
          <a:xfrm>
            <a:off x="12024360" y="5870448"/>
            <a:ext cx="5486400" cy="457200"/>
          </a:xfrm>
          <a:prstGeom prst="round2SameRect">
            <a:avLst>
              <a:gd name="adj1" fmla="val 32000"/>
              <a:gd name="adj2" fmla="val 0"/>
            </a:avLst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Header: EXISTING SOLUTIONS &amp; THEIR GAPS"/>
          <p:cNvSpPr txBox="1"/>
          <p:nvPr/>
        </p:nvSpPr>
        <p:spPr>
          <a:xfrm>
            <a:off x="12024360" y="587044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EXISTING SOLUTIONS &amp; THEIR GAPS</a:t>
            </a:r>
          </a:p>
        </p:txBody>
      </p:sp>
      <p:sp>
        <p:nvSpPr>
          <p:cNvPr id="83" name="Column label left"/>
          <p:cNvSpPr txBox="1"/>
          <p:nvPr/>
        </p:nvSpPr>
        <p:spPr>
          <a:xfrm>
            <a:off x="12161520" y="6382512"/>
            <a:ext cx="228234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1" i="0">
                <a:solidFill>
                  <a:srgbClr val="5B6577"/>
                </a:solidFill>
                <a:latin typeface="Calibri"/>
              </a:rPr>
              <a:t>WHAT EXISTS</a:t>
            </a:r>
          </a:p>
        </p:txBody>
      </p:sp>
      <p:sp>
        <p:nvSpPr>
          <p:cNvPr id="84" name="Column label right"/>
          <p:cNvSpPr txBox="1"/>
          <p:nvPr/>
        </p:nvSpPr>
        <p:spPr>
          <a:xfrm>
            <a:off x="14901062" y="6382512"/>
            <a:ext cx="247253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1" i="0">
                <a:solidFill>
                  <a:srgbClr val="5B6577"/>
                </a:solidFill>
                <a:latin typeface="Calibri"/>
              </a:rPr>
              <a:t>WHAT IT MISSES</a:t>
            </a:r>
          </a:p>
        </p:txBody>
      </p:sp>
      <p:sp>
        <p:nvSpPr>
          <p:cNvPr id="85" name="Pill left 0"/>
          <p:cNvSpPr/>
          <p:nvPr/>
        </p:nvSpPr>
        <p:spPr>
          <a:xfrm>
            <a:off x="12161520" y="6711696"/>
            <a:ext cx="2282342" cy="479145"/>
          </a:xfrm>
          <a:prstGeom prst="roundRect">
            <a:avLst>
              <a:gd name="adj" fmla="val 50000"/>
            </a:avLst>
          </a:prstGeom>
          <a:solidFill>
            <a:srgbClr val="FCD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Pill left text 0"/>
          <p:cNvSpPr txBox="1"/>
          <p:nvPr/>
        </p:nvSpPr>
        <p:spPr>
          <a:xfrm>
            <a:off x="12252960" y="6711696"/>
            <a:ext cx="2099462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6B3D0F"/>
                </a:solidFill>
                <a:latin typeface="Calibri"/>
              </a:rPr>
              <a:t>IHIP (govt health portal)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4507870" y="6951268"/>
            <a:ext cx="329184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88" name="Pill right 0"/>
          <p:cNvSpPr/>
          <p:nvPr/>
        </p:nvSpPr>
        <p:spPr>
          <a:xfrm>
            <a:off x="14901062" y="6711696"/>
            <a:ext cx="2472537" cy="479145"/>
          </a:xfrm>
          <a:prstGeom prst="roundRect">
            <a:avLst>
              <a:gd name="adj" fmla="val 50000"/>
            </a:avLst>
          </a:prstGeom>
          <a:solidFill>
            <a:srgbClr val="F6A8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Pill right text 0"/>
          <p:cNvSpPr txBox="1"/>
          <p:nvPr/>
        </p:nvSpPr>
        <p:spPr>
          <a:xfrm>
            <a:off x="14992502" y="6711696"/>
            <a:ext cx="2289657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3D1E06"/>
                </a:solidFill>
                <a:latin typeface="Calibri"/>
              </a:rPr>
              <a:t>Officials only; counts cases already seen</a:t>
            </a:r>
          </a:p>
        </p:txBody>
      </p:sp>
      <p:sp>
        <p:nvSpPr>
          <p:cNvPr id="90" name="Pill left 1"/>
          <p:cNvSpPr/>
          <p:nvPr/>
        </p:nvSpPr>
        <p:spPr>
          <a:xfrm>
            <a:off x="12161520" y="7282281"/>
            <a:ext cx="2282342" cy="479145"/>
          </a:xfrm>
          <a:prstGeom prst="roundRect">
            <a:avLst>
              <a:gd name="adj" fmla="val 50000"/>
            </a:avLst>
          </a:prstGeom>
          <a:solidFill>
            <a:srgbClr val="FCD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Pill left text 1"/>
          <p:cNvSpPr txBox="1"/>
          <p:nvPr/>
        </p:nvSpPr>
        <p:spPr>
          <a:xfrm>
            <a:off x="12252960" y="7282281"/>
            <a:ext cx="2099462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6B3D0F"/>
                </a:solidFill>
                <a:latin typeface="Calibri"/>
              </a:rPr>
              <a:t>IDSP weekly reports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4507870" y="7521854"/>
            <a:ext cx="329184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93" name="Pill right 1"/>
          <p:cNvSpPr/>
          <p:nvPr/>
        </p:nvSpPr>
        <p:spPr>
          <a:xfrm>
            <a:off x="14901062" y="7282281"/>
            <a:ext cx="2472537" cy="479145"/>
          </a:xfrm>
          <a:prstGeom prst="roundRect">
            <a:avLst>
              <a:gd name="adj" fmla="val 50000"/>
            </a:avLst>
          </a:prstGeom>
          <a:solidFill>
            <a:srgbClr val="F6A8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Pill right text 1"/>
          <p:cNvSpPr txBox="1"/>
          <p:nvPr/>
        </p:nvSpPr>
        <p:spPr>
          <a:xfrm>
            <a:off x="14992502" y="7282281"/>
            <a:ext cx="2289657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3D1E06"/>
                </a:solidFill>
                <a:latin typeface="Calibri"/>
              </a:rPr>
              <a:t>Go online ~6 weeks late</a:t>
            </a:r>
          </a:p>
        </p:txBody>
      </p:sp>
      <p:sp>
        <p:nvSpPr>
          <p:cNvPr id="95" name="Pill left 2"/>
          <p:cNvSpPr/>
          <p:nvPr/>
        </p:nvSpPr>
        <p:spPr>
          <a:xfrm>
            <a:off x="12161520" y="7852867"/>
            <a:ext cx="2282342" cy="479145"/>
          </a:xfrm>
          <a:prstGeom prst="roundRect">
            <a:avLst>
              <a:gd name="adj" fmla="val 50000"/>
            </a:avLst>
          </a:prstGeom>
          <a:solidFill>
            <a:srgbClr val="FCD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Pill left text 2"/>
          <p:cNvSpPr txBox="1"/>
          <p:nvPr/>
        </p:nvSpPr>
        <p:spPr>
          <a:xfrm>
            <a:off x="12252960" y="7852867"/>
            <a:ext cx="2099462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6B3D0F"/>
                </a:solidFill>
                <a:latin typeface="Calibri"/>
              </a:rPr>
              <a:t>Health Sentinel (AI news scan)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4507870" y="8092440"/>
            <a:ext cx="329184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98" name="Pill right 2"/>
          <p:cNvSpPr/>
          <p:nvPr/>
        </p:nvSpPr>
        <p:spPr>
          <a:xfrm>
            <a:off x="14901062" y="7852867"/>
            <a:ext cx="2472537" cy="479145"/>
          </a:xfrm>
          <a:prstGeom prst="roundRect">
            <a:avLst>
              <a:gd name="adj" fmla="val 50000"/>
            </a:avLst>
          </a:prstGeom>
          <a:solidFill>
            <a:srgbClr val="F6A8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Pill right text 2"/>
          <p:cNvSpPr txBox="1"/>
          <p:nvPr/>
        </p:nvSpPr>
        <p:spPr>
          <a:xfrm>
            <a:off x="14992502" y="7852867"/>
            <a:ext cx="2289657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3D1E06"/>
                </a:solidFill>
                <a:latin typeface="Calibri"/>
              </a:rPr>
              <a:t>Alerts after people fall sick</a:t>
            </a:r>
          </a:p>
        </p:txBody>
      </p:sp>
      <p:sp>
        <p:nvSpPr>
          <p:cNvPr id="100" name="Pill left 3"/>
          <p:cNvSpPr/>
          <p:nvPr/>
        </p:nvSpPr>
        <p:spPr>
          <a:xfrm>
            <a:off x="12161520" y="8423452"/>
            <a:ext cx="2282342" cy="479145"/>
          </a:xfrm>
          <a:prstGeom prst="roundRect">
            <a:avLst>
              <a:gd name="adj" fmla="val 50000"/>
            </a:avLst>
          </a:prstGeom>
          <a:solidFill>
            <a:srgbClr val="FCD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Pill left text 3"/>
          <p:cNvSpPr txBox="1"/>
          <p:nvPr/>
        </p:nvSpPr>
        <p:spPr>
          <a:xfrm>
            <a:off x="12252960" y="8423452"/>
            <a:ext cx="2099462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6B3D0F"/>
                </a:solidFill>
                <a:latin typeface="Calibri"/>
              </a:rPr>
              <a:t>ARTPARK dengue forecast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4507870" y="8663025"/>
            <a:ext cx="329184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103" name="Pill right 3"/>
          <p:cNvSpPr/>
          <p:nvPr/>
        </p:nvSpPr>
        <p:spPr>
          <a:xfrm>
            <a:off x="14901062" y="8423452"/>
            <a:ext cx="2472537" cy="479145"/>
          </a:xfrm>
          <a:prstGeom prst="roundRect">
            <a:avLst>
              <a:gd name="adj" fmla="val 50000"/>
            </a:avLst>
          </a:prstGeom>
          <a:solidFill>
            <a:srgbClr val="F6A8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Pill right text 3"/>
          <p:cNvSpPr txBox="1"/>
          <p:nvPr/>
        </p:nvSpPr>
        <p:spPr>
          <a:xfrm>
            <a:off x="14992502" y="8423452"/>
            <a:ext cx="2289657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3D1E06"/>
                </a:solidFill>
                <a:latin typeface="Calibri"/>
              </a:rPr>
              <a:t>Dengue only; Karnataka, not Mumbai</a:t>
            </a:r>
          </a:p>
        </p:txBody>
      </p:sp>
      <p:sp>
        <p:nvSpPr>
          <p:cNvPr id="105" name="Pill left 4"/>
          <p:cNvSpPr/>
          <p:nvPr/>
        </p:nvSpPr>
        <p:spPr>
          <a:xfrm>
            <a:off x="12161520" y="8994038"/>
            <a:ext cx="2282342" cy="479145"/>
          </a:xfrm>
          <a:prstGeom prst="roundRect">
            <a:avLst>
              <a:gd name="adj" fmla="val 50000"/>
            </a:avLst>
          </a:prstGeom>
          <a:solidFill>
            <a:srgbClr val="FCD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Pill left text 4"/>
          <p:cNvSpPr txBox="1"/>
          <p:nvPr/>
        </p:nvSpPr>
        <p:spPr>
          <a:xfrm>
            <a:off x="12252960" y="8994038"/>
            <a:ext cx="2099462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6B3D0F"/>
                </a:solidFill>
                <a:latin typeface="Calibri"/>
              </a:rPr>
              <a:t>BMC advisories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4507870" y="9233611"/>
            <a:ext cx="329184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108" name="Pill right 4"/>
          <p:cNvSpPr/>
          <p:nvPr/>
        </p:nvSpPr>
        <p:spPr>
          <a:xfrm>
            <a:off x="14901062" y="8994038"/>
            <a:ext cx="2472537" cy="479145"/>
          </a:xfrm>
          <a:prstGeom prst="roundRect">
            <a:avLst>
              <a:gd name="adj" fmla="val 50000"/>
            </a:avLst>
          </a:prstGeom>
          <a:solidFill>
            <a:srgbClr val="F6A8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Pill right text 4"/>
          <p:cNvSpPr txBox="1"/>
          <p:nvPr/>
        </p:nvSpPr>
        <p:spPr>
          <a:xfrm>
            <a:off x="14992502" y="8994038"/>
            <a:ext cx="2289657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3D1E06"/>
                </a:solidFill>
                <a:latin typeface="Calibri"/>
              </a:rPr>
              <a:t>Citywide, days after the flood</a:t>
            </a:r>
          </a:p>
        </p:txBody>
      </p:sp>
      <p:sp>
        <p:nvSpPr>
          <p:cNvPr id="110" name="Sources line"/>
          <p:cNvSpPr txBox="1"/>
          <p:nvPr/>
        </p:nvSpPr>
        <p:spPr>
          <a:xfrm>
            <a:off x="777240" y="9656064"/>
            <a:ext cx="16733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1">
                <a:solidFill>
                  <a:srgbClr val="5B6577"/>
                </a:solidFill>
                <a:latin typeface="Calibri"/>
              </a:rPr>
              <a:t>Sources: BMC data via Free Press Journal (2025–26) · Supe et al., Natl Med J India (2018) · IDSP/NCDC weekly outbreak reports · Wadhwani AI Health Sentinel (2025) · ARTPARK–BBMP · Census 2011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MCT RGIT header" descr="hdr_m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0"/>
            <a:ext cx="9867900" cy="1447800"/>
          </a:xfrm>
          <a:prstGeom prst="rect">
            <a:avLst/>
          </a:prstGeom>
        </p:spPr>
      </p:pic>
      <p:pic>
        <p:nvPicPr>
          <p:cNvPr id="4" name="ABIT logo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5" name="Synergy logo" descr="logo_sy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550" y="152400"/>
            <a:ext cx="1170940" cy="1295400"/>
          </a:xfrm>
          <a:prstGeom prst="rect">
            <a:avLst/>
          </a:prstGeom>
        </p:spPr>
      </p:pic>
      <p:sp>
        <p:nvSpPr>
          <p:cNvPr id="6" name="Slide title"/>
          <p:cNvSpPr txBox="1"/>
          <p:nvPr/>
        </p:nvSpPr>
        <p:spPr>
          <a:xfrm>
            <a:off x="1028700" y="1819656"/>
            <a:ext cx="114300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Times New Roman"/>
              </a:rPr>
              <a:t>Proposed Solution &amp; Key Features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7415530" y="1984248"/>
            <a:ext cx="1023239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1">
                <a:solidFill>
                  <a:srgbClr val="8EE6E0"/>
                </a:solidFill>
                <a:latin typeface="Calibri"/>
              </a:rPr>
              <a:t>VARSHA: which wards, when, and what to do, before the fever wave</a:t>
            </a:r>
          </a:p>
        </p:txBody>
      </p:sp>
      <p:sp>
        <p:nvSpPr>
          <p:cNvPr id="8" name="Content panel"/>
          <p:cNvSpPr/>
          <p:nvPr/>
        </p:nvSpPr>
        <p:spPr>
          <a:xfrm>
            <a:off x="548640" y="2487168"/>
            <a:ext cx="17190720" cy="7644383"/>
          </a:xfrm>
          <a:prstGeom prst="roundRect">
            <a:avLst>
              <a:gd name="adj" fmla="val 2392"/>
            </a:avLst>
          </a:prstGeom>
          <a:solidFill>
            <a:srgbClr val="FBFCFE">
              <a:alpha val="97000"/>
            </a:srgbClr>
          </a:solidFill>
          <a:ln>
            <a:noFill/>
          </a:ln>
          <a:effectLst>
            <a:outerShdw blurRad="101600" dist="3175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Card: Real-world issue"/>
          <p:cNvSpPr/>
          <p:nvPr/>
        </p:nvSpPr>
        <p:spPr>
          <a:xfrm>
            <a:off x="777240" y="2670048"/>
            <a:ext cx="4023360" cy="1627632"/>
          </a:xfrm>
          <a:prstGeom prst="roundRect">
            <a:avLst>
              <a:gd name="adj" fmla="val 8988"/>
            </a:avLst>
          </a:prstGeom>
          <a:solidFill>
            <a:srgbClr val="FCE4E1"/>
          </a:solidFill>
          <a:ln w="15875">
            <a:solidFill>
              <a:srgbClr val="E8A5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Icon circle: warning"/>
          <p:cNvSpPr/>
          <p:nvPr/>
        </p:nvSpPr>
        <p:spPr>
          <a:xfrm>
            <a:off x="923544" y="2798063"/>
            <a:ext cx="475488" cy="47548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Icon: warning" descr="E7BA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906" y="2907426"/>
            <a:ext cx="256763" cy="256763"/>
          </a:xfrm>
          <a:prstGeom prst="rect">
            <a:avLst/>
          </a:prstGeom>
        </p:spPr>
      </p:pic>
      <p:sp>
        <p:nvSpPr>
          <p:cNvPr id="12" name="Card title: Real-world issue"/>
          <p:cNvSpPr txBox="1"/>
          <p:nvPr/>
        </p:nvSpPr>
        <p:spPr>
          <a:xfrm>
            <a:off x="1508760" y="2798064"/>
            <a:ext cx="31546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B83227"/>
                </a:solidFill>
                <a:latin typeface="Calibri"/>
              </a:rPr>
              <a:t>Real-world issue</a:t>
            </a:r>
          </a:p>
        </p:txBody>
      </p:sp>
      <p:sp>
        <p:nvSpPr>
          <p:cNvPr id="13" name="Card body: Real-world issue"/>
          <p:cNvSpPr txBox="1"/>
          <p:nvPr/>
        </p:nvSpPr>
        <p:spPr>
          <a:xfrm>
            <a:off x="960120" y="3346704"/>
            <a:ext cx="3675888" cy="859536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Floods spread leptospirosis, dengue and malaria. People get just </a:t>
            </a:r>
            <a:r>
              <a:rPr sz="1350" b="1" i="0">
                <a:solidFill>
                  <a:srgbClr val="1B2333"/>
                </a:solidFill>
                <a:latin typeface="Calibri"/>
              </a:rPr>
              <a:t>72 hours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 to seek preventive care, but warnings come days later and official data </a:t>
            </a:r>
            <a:r>
              <a:rPr sz="1350" b="1" i="0">
                <a:solidFill>
                  <a:srgbClr val="1B2333"/>
                </a:solidFill>
                <a:latin typeface="Calibri"/>
              </a:rPr>
              <a:t>~6 weeks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 later.</a:t>
            </a:r>
          </a:p>
        </p:txBody>
      </p:sp>
      <p:sp>
        <p:nvSpPr>
          <p:cNvPr id="14" name="Card: Proposed Solution"/>
          <p:cNvSpPr/>
          <p:nvPr/>
        </p:nvSpPr>
        <p:spPr>
          <a:xfrm>
            <a:off x="777240" y="4425696"/>
            <a:ext cx="4023360" cy="2852928"/>
          </a:xfrm>
          <a:prstGeom prst="roundRect">
            <a:avLst>
              <a:gd name="adj" fmla="val 5128"/>
            </a:avLst>
          </a:prstGeom>
          <a:solidFill>
            <a:srgbClr val="E5F5EA"/>
          </a:solidFill>
          <a:ln w="15875">
            <a:solidFill>
              <a:srgbClr val="9CD3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circle: bulb"/>
          <p:cNvSpPr/>
          <p:nvPr/>
        </p:nvSpPr>
        <p:spPr>
          <a:xfrm>
            <a:off x="923544" y="4553712"/>
            <a:ext cx="475488" cy="475488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Icon: bulb" descr="EA80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906" y="4663074"/>
            <a:ext cx="256763" cy="256763"/>
          </a:xfrm>
          <a:prstGeom prst="rect">
            <a:avLst/>
          </a:prstGeom>
        </p:spPr>
      </p:pic>
      <p:sp>
        <p:nvSpPr>
          <p:cNvPr id="17" name="Card title: Proposed Solution"/>
          <p:cNvSpPr txBox="1"/>
          <p:nvPr/>
        </p:nvSpPr>
        <p:spPr>
          <a:xfrm>
            <a:off x="1508760" y="4553712"/>
            <a:ext cx="31546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1E7A46"/>
                </a:solidFill>
                <a:latin typeface="Calibri"/>
              </a:rPr>
              <a:t>Proposed Solution</a:t>
            </a:r>
          </a:p>
        </p:txBody>
      </p:sp>
      <p:sp>
        <p:nvSpPr>
          <p:cNvPr id="18" name="Card body: Proposed Solution"/>
          <p:cNvSpPr txBox="1"/>
          <p:nvPr/>
        </p:nvSpPr>
        <p:spPr>
          <a:xfrm>
            <a:off x="960120" y="5102352"/>
            <a:ext cx="3675888" cy="20848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/>
            <a:r>
              <a:rPr sz="1450" b="1" i="0">
                <a:solidFill>
                  <a:srgbClr val="1B2333"/>
                </a:solidFill>
                <a:latin typeface="Calibri"/>
              </a:rPr>
              <a:t>VARSHA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 turns live rainfall into </a:t>
            </a:r>
            <a:r>
              <a:rPr sz="1450" b="1" i="0">
                <a:solidFill>
                  <a:srgbClr val="1B2333"/>
                </a:solidFill>
                <a:latin typeface="Calibri"/>
              </a:rPr>
              <a:t>ward-level disease alerts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 for Mumbai. Using </a:t>
            </a:r>
            <a:r>
              <a:rPr sz="1450" b="1" i="0">
                <a:solidFill>
                  <a:srgbClr val="1B2333"/>
                </a:solidFill>
                <a:latin typeface="Calibri"/>
              </a:rPr>
              <a:t>100% real public data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 (17 years of IDSP outbreak records, IMD &amp; NOAA rain gauges, live forecasts, BMC flood spots and Census ward data) it predicts where leptospirosis, dengue and malaria will rise </a:t>
            </a:r>
            <a:r>
              <a:rPr sz="1450" b="1" i="0">
                <a:solidFill>
                  <a:srgbClr val="1B2333"/>
                </a:solidFill>
                <a:latin typeface="Calibri"/>
              </a:rPr>
              <a:t>before cases peak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, shows BMC where to act first, and alerts citizens in Marathi, Hindi &amp; English.</a:t>
            </a:r>
          </a:p>
        </p:txBody>
      </p:sp>
      <p:sp>
        <p:nvSpPr>
          <p:cNvPr id="19" name="Card: Alert Levels"/>
          <p:cNvSpPr/>
          <p:nvPr/>
        </p:nvSpPr>
        <p:spPr>
          <a:xfrm>
            <a:off x="777240" y="7406640"/>
            <a:ext cx="402336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5875">
            <a:solidFill>
              <a:srgbClr val="C9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Icon circle: radar"/>
          <p:cNvSpPr/>
          <p:nvPr/>
        </p:nvSpPr>
        <p:spPr>
          <a:xfrm>
            <a:off x="914400" y="7507223"/>
            <a:ext cx="457200" cy="457200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Icon: radar" descr="EB44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6" y="7612379"/>
            <a:ext cx="246888" cy="246888"/>
          </a:xfrm>
          <a:prstGeom prst="rect">
            <a:avLst/>
          </a:prstGeom>
        </p:spPr>
      </p:pic>
      <p:sp>
        <p:nvSpPr>
          <p:cNvPr id="22" name="Alert levels title"/>
          <p:cNvSpPr txBox="1"/>
          <p:nvPr/>
        </p:nvSpPr>
        <p:spPr>
          <a:xfrm>
            <a:off x="1472184" y="7516367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0F2341"/>
                </a:solidFill>
                <a:latin typeface="Calibri"/>
              </a:rPr>
              <a:t>Alert Levels</a:t>
            </a:r>
          </a:p>
        </p:txBody>
      </p:sp>
      <p:sp>
        <p:nvSpPr>
          <p:cNvPr id="23" name="Level pill NORMAL"/>
          <p:cNvSpPr/>
          <p:nvPr/>
        </p:nvSpPr>
        <p:spPr>
          <a:xfrm>
            <a:off x="923544" y="806957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Level NORMAL"/>
          <p:cNvSpPr txBox="1"/>
          <p:nvPr/>
        </p:nvSpPr>
        <p:spPr>
          <a:xfrm>
            <a:off x="923544" y="8069579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25" name="Level text NORMAL"/>
          <p:cNvSpPr txBox="1"/>
          <p:nvPr/>
        </p:nvSpPr>
        <p:spPr>
          <a:xfrm>
            <a:off x="2112264" y="8010144"/>
            <a:ext cx="2596896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B2333"/>
                </a:solidFill>
                <a:latin typeface="Calibri"/>
              </a:rPr>
              <a:t>No unusual rain · routine checks</a:t>
            </a:r>
          </a:p>
        </p:txBody>
      </p:sp>
      <p:sp>
        <p:nvSpPr>
          <p:cNvPr id="26" name="Level pill WATCH"/>
          <p:cNvSpPr/>
          <p:nvPr/>
        </p:nvSpPr>
        <p:spPr>
          <a:xfrm>
            <a:off x="923544" y="848105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E39B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Level WATCH"/>
          <p:cNvSpPr txBox="1"/>
          <p:nvPr/>
        </p:nvSpPr>
        <p:spPr>
          <a:xfrm>
            <a:off x="923544" y="8481059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28" name="Level text WATCH"/>
          <p:cNvSpPr txBox="1"/>
          <p:nvPr/>
        </p:nvSpPr>
        <p:spPr>
          <a:xfrm>
            <a:off x="2112264" y="8421624"/>
            <a:ext cx="2596896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B2333"/>
                </a:solidFill>
                <a:latin typeface="Calibri"/>
              </a:rPr>
              <a:t>Heavy rain (≥64.5 mm) on flood-prone wards → clinics on standby</a:t>
            </a:r>
          </a:p>
        </p:txBody>
      </p:sp>
      <p:sp>
        <p:nvSpPr>
          <p:cNvPr id="29" name="Level pill WARNING"/>
          <p:cNvSpPr/>
          <p:nvPr/>
        </p:nvSpPr>
        <p:spPr>
          <a:xfrm>
            <a:off x="923544" y="889253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DD6A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Level WARNING"/>
          <p:cNvSpPr txBox="1"/>
          <p:nvPr/>
        </p:nvSpPr>
        <p:spPr>
          <a:xfrm>
            <a:off x="923544" y="8892539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31" name="Level text WARNING"/>
          <p:cNvSpPr txBox="1"/>
          <p:nvPr/>
        </p:nvSpPr>
        <p:spPr>
          <a:xfrm>
            <a:off x="2112264" y="8833103"/>
            <a:ext cx="2596896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B2333"/>
                </a:solidFill>
                <a:latin typeface="Calibri"/>
              </a:rPr>
              <a:t>Very heavy rain (≥115.6 mm) + flooding → fever camps, SMS alerts</a:t>
            </a:r>
          </a:p>
        </p:txBody>
      </p:sp>
      <p:sp>
        <p:nvSpPr>
          <p:cNvPr id="32" name="Level pill EMERGENCY"/>
          <p:cNvSpPr/>
          <p:nvPr/>
        </p:nvSpPr>
        <p:spPr>
          <a:xfrm>
            <a:off x="923544" y="930401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Level EMERGENCY"/>
          <p:cNvSpPr txBox="1"/>
          <p:nvPr/>
        </p:nvSpPr>
        <p:spPr>
          <a:xfrm>
            <a:off x="923544" y="9304019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EMERGENCY</a:t>
            </a:r>
          </a:p>
        </p:txBody>
      </p:sp>
      <p:sp>
        <p:nvSpPr>
          <p:cNvPr id="34" name="Level text EMERGENCY"/>
          <p:cNvSpPr txBox="1"/>
          <p:nvPr/>
        </p:nvSpPr>
        <p:spPr>
          <a:xfrm>
            <a:off x="2112264" y="9244583"/>
            <a:ext cx="2596896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B2333"/>
                </a:solidFill>
                <a:latin typeface="Calibri"/>
              </a:rPr>
              <a:t>Extreme rain (≥204.5 mm) or days of flooding → all-out response</a:t>
            </a:r>
          </a:p>
        </p:txBody>
      </p:sp>
      <p:sp>
        <p:nvSpPr>
          <p:cNvPr id="35" name="Alert levels footnote"/>
          <p:cNvSpPr txBox="1"/>
          <p:nvPr/>
        </p:nvSpPr>
        <p:spPr>
          <a:xfrm>
            <a:off x="923544" y="966520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1">
                <a:solidFill>
                  <a:srgbClr val="5B6577"/>
                </a:solidFill>
                <a:latin typeface="Calibri"/>
              </a:rPr>
              <a:t>Rain levels = IMD's official 24-hour rainfall categories</a:t>
            </a:r>
          </a:p>
        </p:txBody>
      </p:sp>
      <p:sp>
        <p:nvSpPr>
          <p:cNvPr id="36" name="Hero card: July 2026 replay"/>
          <p:cNvSpPr/>
          <p:nvPr/>
        </p:nvSpPr>
        <p:spPr>
          <a:xfrm>
            <a:off x="4983480" y="2670048"/>
            <a:ext cx="736092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Icon circle: rain"/>
          <p:cNvSpPr/>
          <p:nvPr/>
        </p:nvSpPr>
        <p:spPr>
          <a:xfrm>
            <a:off x="5093208" y="2779776"/>
            <a:ext cx="548640" cy="548640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Icon: rain" descr="EA91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9395" y="2905963"/>
            <a:ext cx="296265" cy="296265"/>
          </a:xfrm>
          <a:prstGeom prst="rect">
            <a:avLst/>
          </a:prstGeom>
        </p:spPr>
      </p:pic>
      <p:sp>
        <p:nvSpPr>
          <p:cNvPr id="39" name="Hero facts"/>
          <p:cNvSpPr txBox="1"/>
          <p:nvPr/>
        </p:nvSpPr>
        <p:spPr>
          <a:xfrm>
            <a:off x="5733288" y="2743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F2341"/>
                </a:solidFill>
                <a:latin typeface="Calibri"/>
              </a:rPr>
              <a:t>Mumbai, July 2026: ~984 mm of rain in 7 days</a:t>
            </a:r>
          </a:p>
          <a:p>
            <a:pPr algn="l">
              <a:spcAft>
                <a:spcPts val="100"/>
              </a:spcAft>
            </a:pPr>
            <a:r>
              <a:rPr sz="1250" b="0" i="0">
                <a:solidFill>
                  <a:srgbClr val="1B2333"/>
                </a:solidFill>
                <a:latin typeface="Calibri"/>
              </a:rPr>
              <a:t>Leptospirosis: </a:t>
            </a:r>
            <a:r>
              <a:rPr sz="1250" b="1" i="0">
                <a:solidFill>
                  <a:srgbClr val="1B2333"/>
                </a:solidFill>
                <a:latin typeface="Calibri"/>
              </a:rPr>
              <a:t>33 cases (June) → 78 (July)</a:t>
            </a:r>
          </a:p>
          <a:p>
            <a:pPr algn="l"/>
            <a:r>
              <a:rPr sz="1250" b="1" i="0">
                <a:solidFill>
                  <a:srgbClr val="B83227"/>
                </a:solidFill>
                <a:latin typeface="Calibri"/>
              </a:rPr>
              <a:t>BMC's citywide advice: 6 Jul, 10:39 PM</a:t>
            </a:r>
          </a:p>
        </p:txBody>
      </p:sp>
      <p:sp>
        <p:nvSpPr>
          <p:cNvPr id="40" name="72h circle"/>
          <p:cNvSpPr/>
          <p:nvPr/>
        </p:nvSpPr>
        <p:spPr>
          <a:xfrm>
            <a:off x="10415016" y="2761488"/>
            <a:ext cx="658368" cy="65836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72h label"/>
          <p:cNvSpPr txBox="1"/>
          <p:nvPr/>
        </p:nvSpPr>
        <p:spPr>
          <a:xfrm>
            <a:off x="10415016" y="276148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72h</a:t>
            </a:r>
          </a:p>
        </p:txBody>
      </p:sp>
      <p:sp>
        <p:nvSpPr>
          <p:cNvPr id="42" name="72h caption"/>
          <p:cNvSpPr txBox="1"/>
          <p:nvPr/>
        </p:nvSpPr>
        <p:spPr>
          <a:xfrm>
            <a:off x="11128248" y="2761488"/>
            <a:ext cx="114300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B83227"/>
                </a:solidFill>
                <a:latin typeface="Calibri"/>
              </a:rPr>
              <a:t>to get preventive care after floodwater contact</a:t>
            </a:r>
          </a:p>
        </p:txBody>
      </p:sp>
      <p:sp>
        <p:nvSpPr>
          <p:cNvPr id="43" name="Rain bar 28 Jun"/>
          <p:cNvSpPr/>
          <p:nvPr/>
        </p:nvSpPr>
        <p:spPr>
          <a:xfrm>
            <a:off x="5537924" y="4158651"/>
            <a:ext cx="183198" cy="47588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ain bar 29"/>
          <p:cNvSpPr/>
          <p:nvPr/>
        </p:nvSpPr>
        <p:spPr>
          <a:xfrm>
            <a:off x="5824171" y="4096992"/>
            <a:ext cx="183198" cy="109247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ain bar 30"/>
          <p:cNvSpPr/>
          <p:nvPr/>
        </p:nvSpPr>
        <p:spPr>
          <a:xfrm>
            <a:off x="6110418" y="3968295"/>
            <a:ext cx="183198" cy="237944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ain bar 1 Jul"/>
          <p:cNvSpPr/>
          <p:nvPr/>
        </p:nvSpPr>
        <p:spPr>
          <a:xfrm>
            <a:off x="6396665" y="3847875"/>
            <a:ext cx="183198" cy="358364"/>
          </a:xfrm>
          <a:prstGeom prst="rect">
            <a:avLst/>
          </a:prstGeom>
          <a:solidFill>
            <a:srgbClr val="2A9D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ain bar 2"/>
          <p:cNvSpPr/>
          <p:nvPr/>
        </p:nvSpPr>
        <p:spPr>
          <a:xfrm>
            <a:off x="6682912" y="3975744"/>
            <a:ext cx="183198" cy="230495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ain bar 3"/>
          <p:cNvSpPr/>
          <p:nvPr/>
        </p:nvSpPr>
        <p:spPr>
          <a:xfrm>
            <a:off x="6969159" y="3991883"/>
            <a:ext cx="183198" cy="214356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ain bar 4"/>
          <p:cNvSpPr/>
          <p:nvPr/>
        </p:nvSpPr>
        <p:spPr>
          <a:xfrm>
            <a:off x="7255406" y="3883049"/>
            <a:ext cx="183198" cy="323190"/>
          </a:xfrm>
          <a:prstGeom prst="rect">
            <a:avLst/>
          </a:prstGeom>
          <a:solidFill>
            <a:srgbClr val="2A9D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ain bar 5"/>
          <p:cNvSpPr/>
          <p:nvPr/>
        </p:nvSpPr>
        <p:spPr>
          <a:xfrm>
            <a:off x="7541653" y="3639725"/>
            <a:ext cx="183198" cy="566514"/>
          </a:xfrm>
          <a:prstGeom prst="rect">
            <a:avLst/>
          </a:prstGeom>
          <a:solidFill>
            <a:srgbClr val="2A9D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ain bar 6"/>
          <p:cNvSpPr/>
          <p:nvPr/>
        </p:nvSpPr>
        <p:spPr>
          <a:xfrm>
            <a:off x="7827900" y="3660830"/>
            <a:ext cx="183198" cy="545409"/>
          </a:xfrm>
          <a:prstGeom prst="rect">
            <a:avLst/>
          </a:prstGeom>
          <a:solidFill>
            <a:srgbClr val="2A9D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ain bar 7"/>
          <p:cNvSpPr/>
          <p:nvPr/>
        </p:nvSpPr>
        <p:spPr>
          <a:xfrm>
            <a:off x="8114147" y="3976985"/>
            <a:ext cx="183198" cy="229254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ain bar 8"/>
          <p:cNvSpPr/>
          <p:nvPr/>
        </p:nvSpPr>
        <p:spPr>
          <a:xfrm>
            <a:off x="8400394" y="4099061"/>
            <a:ext cx="183198" cy="107178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ain bar 9"/>
          <p:cNvSpPr/>
          <p:nvPr/>
        </p:nvSpPr>
        <p:spPr>
          <a:xfrm>
            <a:off x="8686640" y="4187952"/>
            <a:ext cx="183198" cy="18288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ain bar 10"/>
          <p:cNvSpPr/>
          <p:nvPr/>
        </p:nvSpPr>
        <p:spPr>
          <a:xfrm>
            <a:off x="8972887" y="4187952"/>
            <a:ext cx="183198" cy="18288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ain bar 11 Jul"/>
          <p:cNvSpPr/>
          <p:nvPr/>
        </p:nvSpPr>
        <p:spPr>
          <a:xfrm>
            <a:off x="9259134" y="4174789"/>
            <a:ext cx="183198" cy="31450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ain bar 12"/>
          <p:cNvSpPr/>
          <p:nvPr/>
        </p:nvSpPr>
        <p:spPr>
          <a:xfrm>
            <a:off x="9545381" y="4174789"/>
            <a:ext cx="183198" cy="31450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ain bar 13"/>
          <p:cNvSpPr/>
          <p:nvPr/>
        </p:nvSpPr>
        <p:spPr>
          <a:xfrm>
            <a:off x="9831628" y="4187952"/>
            <a:ext cx="183198" cy="18288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ain bar 14"/>
          <p:cNvSpPr/>
          <p:nvPr/>
        </p:nvSpPr>
        <p:spPr>
          <a:xfrm>
            <a:off x="10117875" y="4187952"/>
            <a:ext cx="183198" cy="18288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ain bar 15"/>
          <p:cNvSpPr/>
          <p:nvPr/>
        </p:nvSpPr>
        <p:spPr>
          <a:xfrm>
            <a:off x="10404122" y="4140443"/>
            <a:ext cx="183198" cy="65796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ain bar 16"/>
          <p:cNvSpPr/>
          <p:nvPr/>
        </p:nvSpPr>
        <p:spPr>
          <a:xfrm>
            <a:off x="10690369" y="4170238"/>
            <a:ext cx="183198" cy="36001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ain bar 17"/>
          <p:cNvSpPr/>
          <p:nvPr/>
        </p:nvSpPr>
        <p:spPr>
          <a:xfrm>
            <a:off x="10976616" y="4138374"/>
            <a:ext cx="183198" cy="67865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ain bar 18"/>
          <p:cNvSpPr/>
          <p:nvPr/>
        </p:nvSpPr>
        <p:spPr>
          <a:xfrm>
            <a:off x="11262863" y="4139201"/>
            <a:ext cx="183198" cy="67038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ain bar 19"/>
          <p:cNvSpPr/>
          <p:nvPr/>
        </p:nvSpPr>
        <p:spPr>
          <a:xfrm>
            <a:off x="11549110" y="4069266"/>
            <a:ext cx="183198" cy="136973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ain bar 20 Jul"/>
          <p:cNvSpPr/>
          <p:nvPr/>
        </p:nvSpPr>
        <p:spPr>
          <a:xfrm>
            <a:off x="11835357" y="3987331"/>
            <a:ext cx="183198" cy="218908"/>
          </a:xfrm>
          <a:prstGeom prst="rect">
            <a:avLst/>
          </a:prstGeom>
          <a:solidFill>
            <a:srgbClr val="9E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6" name="Chart axis"/>
          <p:cNvCxnSpPr/>
          <p:nvPr/>
        </p:nvCxnSpPr>
        <p:spPr>
          <a:xfrm>
            <a:off x="5486400" y="4206240"/>
            <a:ext cx="6583680" cy="0"/>
          </a:xfrm>
          <a:prstGeom prst="line">
            <a:avLst/>
          </a:prstGeom>
          <a:ln w="15875">
            <a:solidFill>
              <a:srgbClr val="8A97A6"/>
            </a:solidFill>
          </a:ln>
        </p:spPr>
      </p:cxnSp>
      <p:sp>
        <p:nvSpPr>
          <p:cNvPr id="67" name="Axis label 28 Jun"/>
          <p:cNvSpPr txBox="1"/>
          <p:nvPr/>
        </p:nvSpPr>
        <p:spPr>
          <a:xfrm>
            <a:off x="5263763" y="4215383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 i="0">
                <a:solidFill>
                  <a:srgbClr val="5B6577"/>
                </a:solidFill>
                <a:latin typeface="Calibri"/>
              </a:rPr>
              <a:t>28 Jun</a:t>
            </a:r>
          </a:p>
        </p:txBody>
      </p:sp>
      <p:sp>
        <p:nvSpPr>
          <p:cNvPr id="68" name="Axis label 1 Jul"/>
          <p:cNvSpPr txBox="1"/>
          <p:nvPr/>
        </p:nvSpPr>
        <p:spPr>
          <a:xfrm>
            <a:off x="6122504" y="4215383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 i="0">
                <a:solidFill>
                  <a:srgbClr val="5B6577"/>
                </a:solidFill>
                <a:latin typeface="Calibri"/>
              </a:rPr>
              <a:t>1 Jul</a:t>
            </a:r>
          </a:p>
        </p:txBody>
      </p:sp>
      <p:sp>
        <p:nvSpPr>
          <p:cNvPr id="69" name="Axis label 11 Jul"/>
          <p:cNvSpPr txBox="1"/>
          <p:nvPr/>
        </p:nvSpPr>
        <p:spPr>
          <a:xfrm>
            <a:off x="8984973" y="4215383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 i="0">
                <a:solidFill>
                  <a:srgbClr val="5B6577"/>
                </a:solidFill>
                <a:latin typeface="Calibri"/>
              </a:rPr>
              <a:t>11 Jul</a:t>
            </a:r>
          </a:p>
        </p:txBody>
      </p:sp>
      <p:sp>
        <p:nvSpPr>
          <p:cNvPr id="70" name="Axis label 20 Jul"/>
          <p:cNvSpPr txBox="1"/>
          <p:nvPr/>
        </p:nvSpPr>
        <p:spPr>
          <a:xfrm>
            <a:off x="11561196" y="4215383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 i="0">
                <a:solidFill>
                  <a:srgbClr val="5B6577"/>
                </a:solidFill>
                <a:latin typeface="Calibri"/>
              </a:rPr>
              <a:t>20 Jul</a:t>
            </a:r>
          </a:p>
        </p:txBody>
      </p:sp>
      <p:sp>
        <p:nvSpPr>
          <p:cNvPr id="71" name="Chart label"/>
          <p:cNvSpPr txBox="1"/>
          <p:nvPr/>
        </p:nvSpPr>
        <p:spPr>
          <a:xfrm>
            <a:off x="9966959" y="356616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 i="1">
                <a:solidFill>
                  <a:srgbClr val="5B6577"/>
                </a:solidFill>
                <a:latin typeface="Calibri"/>
              </a:rPr>
              <a:t>Daily rain, mm (Open-Meteo, real data)</a:t>
            </a:r>
          </a:p>
        </p:txBody>
      </p:sp>
      <p:sp>
        <p:nvSpPr>
          <p:cNvPr id="72" name="WATCH dot"/>
          <p:cNvSpPr/>
          <p:nvPr/>
        </p:nvSpPr>
        <p:spPr>
          <a:xfrm>
            <a:off x="6424256" y="3683283"/>
            <a:ext cx="128016" cy="128016"/>
          </a:xfrm>
          <a:prstGeom prst="ellipse">
            <a:avLst/>
          </a:prstGeom>
          <a:solidFill>
            <a:srgbClr val="E39B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WATCH label"/>
          <p:cNvSpPr txBox="1"/>
          <p:nvPr/>
        </p:nvSpPr>
        <p:spPr>
          <a:xfrm>
            <a:off x="5528144" y="3600987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1" i="0">
                <a:solidFill>
                  <a:srgbClr val="E39B26"/>
                </a:solidFill>
                <a:latin typeface="Calibri"/>
              </a:rPr>
              <a:t>WATCH 1 Jul</a:t>
            </a:r>
          </a:p>
        </p:txBody>
      </p:sp>
      <p:sp>
        <p:nvSpPr>
          <p:cNvPr id="74" name="WARNING dot"/>
          <p:cNvSpPr/>
          <p:nvPr/>
        </p:nvSpPr>
        <p:spPr>
          <a:xfrm>
            <a:off x="7569244" y="3474719"/>
            <a:ext cx="128016" cy="128016"/>
          </a:xfrm>
          <a:prstGeom prst="ellipse">
            <a:avLst/>
          </a:prstGeom>
          <a:solidFill>
            <a:srgbClr val="DD6A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WARNING label"/>
          <p:cNvSpPr txBox="1"/>
          <p:nvPr/>
        </p:nvSpPr>
        <p:spPr>
          <a:xfrm>
            <a:off x="6426244" y="3392423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1" i="0">
                <a:solidFill>
                  <a:srgbClr val="DD6A2B"/>
                </a:solidFill>
                <a:latin typeface="Calibri"/>
              </a:rPr>
              <a:t>WARNING 5 Jul</a:t>
            </a:r>
          </a:p>
        </p:txBody>
      </p:sp>
      <p:cxnSp>
        <p:nvCxnSpPr>
          <p:cNvPr id="76" name="BMC advice line"/>
          <p:cNvCxnSpPr/>
          <p:nvPr/>
        </p:nvCxnSpPr>
        <p:spPr>
          <a:xfrm>
            <a:off x="8039722" y="3529583"/>
            <a:ext cx="0" cy="1124713"/>
          </a:xfrm>
          <a:prstGeom prst="line">
            <a:avLst/>
          </a:prstGeom>
          <a:ln w="22225">
            <a:solidFill>
              <a:srgbClr val="B83227"/>
            </a:solidFill>
            <a:prstDash val="dash"/>
          </a:ln>
        </p:spPr>
      </p:cxnSp>
      <p:sp>
        <p:nvSpPr>
          <p:cNvPr id="77" name="VARSHA band"/>
          <p:cNvSpPr/>
          <p:nvPr/>
        </p:nvSpPr>
        <p:spPr>
          <a:xfrm>
            <a:off x="6345140" y="4407407"/>
            <a:ext cx="1431234" cy="246888"/>
          </a:xfrm>
          <a:prstGeom prst="roundRect">
            <a:avLst>
              <a:gd name="adj" fmla="val 29629"/>
            </a:avLst>
          </a:prstGeom>
          <a:solidFill>
            <a:srgbClr val="0E8C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VARSHA band label"/>
          <p:cNvSpPr txBox="1"/>
          <p:nvPr/>
        </p:nvSpPr>
        <p:spPr>
          <a:xfrm>
            <a:off x="6345140" y="4407407"/>
            <a:ext cx="1431234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VARSHA alerts</a:t>
            </a:r>
          </a:p>
        </p:txBody>
      </p:sp>
      <p:sp>
        <p:nvSpPr>
          <p:cNvPr id="79" name="BMC label"/>
          <p:cNvSpPr txBox="1"/>
          <p:nvPr/>
        </p:nvSpPr>
        <p:spPr>
          <a:xfrm>
            <a:off x="8094586" y="4407407"/>
            <a:ext cx="1097280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B83227"/>
                </a:solidFill>
                <a:latin typeface="Calibri"/>
              </a:rPr>
              <a:t>BMC advice, 6 Jul</a:t>
            </a:r>
          </a:p>
        </p:txBody>
      </p:sp>
      <p:sp>
        <p:nvSpPr>
          <p:cNvPr id="80" name="Case wave band"/>
          <p:cNvSpPr/>
          <p:nvPr/>
        </p:nvSpPr>
        <p:spPr>
          <a:xfrm>
            <a:off x="9207610" y="4407407"/>
            <a:ext cx="2862469" cy="246888"/>
          </a:xfrm>
          <a:prstGeom prst="roundRect">
            <a:avLst>
              <a:gd name="adj" fmla="val 29629"/>
            </a:avLst>
          </a:prstGeom>
          <a:solidFill>
            <a:srgbClr val="F7D0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Case wave label"/>
          <p:cNvSpPr txBox="1"/>
          <p:nvPr/>
        </p:nvSpPr>
        <p:spPr>
          <a:xfrm>
            <a:off x="9207610" y="4407407"/>
            <a:ext cx="2862469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B83227"/>
                </a:solidFill>
                <a:latin typeface="Calibri"/>
              </a:rPr>
              <a:t>expected case wave (7–14 days later)</a:t>
            </a:r>
          </a:p>
        </p:txBody>
      </p:sp>
      <p:sp>
        <p:nvSpPr>
          <p:cNvPr id="82" name="Hero bottom line"/>
          <p:cNvSpPr txBox="1"/>
          <p:nvPr/>
        </p:nvSpPr>
        <p:spPr>
          <a:xfrm>
            <a:off x="5166360" y="4663440"/>
            <a:ext cx="6995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1" i="0">
                <a:solidFill>
                  <a:srgbClr val="0E8C93"/>
                </a:solidFill>
                <a:latin typeface="Calibri"/>
              </a:rPr>
              <a:t>Real-data check: on 26 Jul 2005 a free weather map showed ~70 mm, gauges ~944 mm. So VARSHA uses real gauges.</a:t>
            </a:r>
          </a:p>
        </p:txBody>
      </p:sp>
      <p:sp>
        <p:nvSpPr>
          <p:cNvPr id="83" name="Arch: Data Sources"/>
          <p:cNvSpPr/>
          <p:nvPr/>
        </p:nvSpPr>
        <p:spPr>
          <a:xfrm>
            <a:off x="4983480" y="5074920"/>
            <a:ext cx="1371600" cy="3401568"/>
          </a:xfrm>
          <a:prstGeom prst="round2SameRect">
            <a:avLst>
              <a:gd name="adj1" fmla="val 50000"/>
              <a:gd name="adj2" fmla="val 6000"/>
            </a:avLst>
          </a:prstGeom>
          <a:solidFill>
            <a:srgbClr val="A3BC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4" name="Icon: download" descr="EBD3_0F234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1536" y="5257800"/>
            <a:ext cx="475488" cy="475488"/>
          </a:xfrm>
          <a:prstGeom prst="rect">
            <a:avLst/>
          </a:prstGeom>
        </p:spPr>
      </p:pic>
      <p:sp>
        <p:nvSpPr>
          <p:cNvPr id="85" name="Arch arrow 0"/>
          <p:cNvSpPr/>
          <p:nvPr/>
        </p:nvSpPr>
        <p:spPr>
          <a:xfrm>
            <a:off x="5074920" y="5843016"/>
            <a:ext cx="1371600" cy="310896"/>
          </a:xfrm>
          <a:prstGeom prst="rightArrow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Arch title: Data Sources"/>
          <p:cNvSpPr txBox="1"/>
          <p:nvPr/>
        </p:nvSpPr>
        <p:spPr>
          <a:xfrm>
            <a:off x="4983480" y="61904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0F2341"/>
                </a:solidFill>
                <a:latin typeface="Calibri"/>
              </a:rPr>
              <a:t>Data Sources</a:t>
            </a:r>
          </a:p>
        </p:txBody>
      </p:sp>
      <p:sp>
        <p:nvSpPr>
          <p:cNvPr id="87" name="Arch items: Data Sources"/>
          <p:cNvSpPr txBox="1"/>
          <p:nvPr/>
        </p:nvSpPr>
        <p:spPr>
          <a:xfrm>
            <a:off x="5047488" y="6519672"/>
            <a:ext cx="1243584" cy="1901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IDSP outbreaks (2009–26)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BMC reports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IMD &amp; NOAA gauges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Live forecasts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Flood spots &amp; census</a:t>
            </a:r>
          </a:p>
        </p:txBody>
      </p:sp>
      <p:sp>
        <p:nvSpPr>
          <p:cNvPr id="88" name="Arch: Data Ingestion"/>
          <p:cNvSpPr/>
          <p:nvPr/>
        </p:nvSpPr>
        <p:spPr>
          <a:xfrm>
            <a:off x="6480810" y="5074920"/>
            <a:ext cx="1371600" cy="3401568"/>
          </a:xfrm>
          <a:prstGeom prst="round2SameRect">
            <a:avLst>
              <a:gd name="adj1" fmla="val 50000"/>
              <a:gd name="adj2" fmla="val 6000"/>
            </a:avLst>
          </a:prstGeom>
          <a:solidFill>
            <a:srgbClr val="82C8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9" name="Icon: gears" descr="E9F5_0F234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8866" y="5257800"/>
            <a:ext cx="475488" cy="475488"/>
          </a:xfrm>
          <a:prstGeom prst="rect">
            <a:avLst/>
          </a:prstGeom>
        </p:spPr>
      </p:pic>
      <p:sp>
        <p:nvSpPr>
          <p:cNvPr id="90" name="Arch arrow 1"/>
          <p:cNvSpPr/>
          <p:nvPr/>
        </p:nvSpPr>
        <p:spPr>
          <a:xfrm>
            <a:off x="6572250" y="5843016"/>
            <a:ext cx="1371600" cy="310896"/>
          </a:xfrm>
          <a:prstGeom prst="rightArrow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Arch title: Data Ingestion"/>
          <p:cNvSpPr txBox="1"/>
          <p:nvPr/>
        </p:nvSpPr>
        <p:spPr>
          <a:xfrm>
            <a:off x="6480810" y="61904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0F2341"/>
                </a:solidFill>
                <a:latin typeface="Calibri"/>
              </a:rPr>
              <a:t>Data Ingestion</a:t>
            </a:r>
          </a:p>
        </p:txBody>
      </p:sp>
      <p:sp>
        <p:nvSpPr>
          <p:cNvPr id="92" name="Arch items: Data Ingestion"/>
          <p:cNvSpPr txBox="1"/>
          <p:nvPr/>
        </p:nvSpPr>
        <p:spPr>
          <a:xfrm>
            <a:off x="6544818" y="6519672"/>
            <a:ext cx="1243584" cy="1901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333"/>
                </a:solidFill>
                <a:latin typeface="Calibri"/>
              </a:rPr>
              <a:t>Auto-fetch:</a:t>
            </a:r>
            <a:r>
              <a:rPr sz="1200" b="0" i="0">
                <a:solidFill>
                  <a:srgbClr val="1B2333"/>
                </a:solidFill>
                <a:latin typeface="Calibri"/>
              </a:rPr>
              <a:t> rain hourly, outbreaks weekly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333"/>
                </a:solidFill>
                <a:latin typeface="Calibri"/>
              </a:rPr>
              <a:t>PDF reader:</a:t>
            </a:r>
            <a:r>
              <a:rPr sz="1200" b="0" i="0">
                <a:solidFill>
                  <a:srgbClr val="1B2333"/>
                </a:solidFill>
                <a:latin typeface="Calibri"/>
              </a:rPr>
              <a:t> IDSP tables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333"/>
                </a:solidFill>
                <a:latin typeface="Calibri"/>
              </a:rPr>
              <a:t>Rain fix:</a:t>
            </a:r>
            <a:r>
              <a:rPr sz="1200" b="0" i="0">
                <a:solidFill>
                  <a:srgbClr val="1B2333"/>
                </a:solidFill>
                <a:latin typeface="Calibri"/>
              </a:rPr>
              <a:t> forecast vs real gauges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333"/>
                </a:solidFill>
                <a:latin typeface="Calibri"/>
              </a:rPr>
              <a:t>Source stamp</a:t>
            </a:r>
            <a:r>
              <a:rPr sz="1200" b="0" i="0">
                <a:solidFill>
                  <a:srgbClr val="1B2333"/>
                </a:solidFill>
                <a:latin typeface="Calibri"/>
              </a:rPr>
              <a:t> on every number</a:t>
            </a:r>
          </a:p>
        </p:txBody>
      </p:sp>
      <p:sp>
        <p:nvSpPr>
          <p:cNvPr id="93" name="Arch: Database"/>
          <p:cNvSpPr/>
          <p:nvPr/>
        </p:nvSpPr>
        <p:spPr>
          <a:xfrm>
            <a:off x="7978140" y="5074920"/>
            <a:ext cx="1371600" cy="3401568"/>
          </a:xfrm>
          <a:prstGeom prst="round2SameRect">
            <a:avLst>
              <a:gd name="adj1" fmla="val 50000"/>
              <a:gd name="adj2" fmla="val 6000"/>
            </a:avLst>
          </a:prstGeom>
          <a:solidFill>
            <a:srgbClr val="A9D0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4" name="Icon: database" descr="EE94_0F234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6196" y="5257800"/>
            <a:ext cx="475488" cy="475488"/>
          </a:xfrm>
          <a:prstGeom prst="rect">
            <a:avLst/>
          </a:prstGeom>
        </p:spPr>
      </p:pic>
      <p:sp>
        <p:nvSpPr>
          <p:cNvPr id="95" name="Arch arrow 2"/>
          <p:cNvSpPr/>
          <p:nvPr/>
        </p:nvSpPr>
        <p:spPr>
          <a:xfrm>
            <a:off x="8069580" y="5843016"/>
            <a:ext cx="1371600" cy="310896"/>
          </a:xfrm>
          <a:prstGeom prst="rightArrow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Arch title: Database"/>
          <p:cNvSpPr txBox="1"/>
          <p:nvPr/>
        </p:nvSpPr>
        <p:spPr>
          <a:xfrm>
            <a:off x="7978140" y="61904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0F2341"/>
                </a:solidFill>
                <a:latin typeface="Calibri"/>
              </a:rPr>
              <a:t>Database</a:t>
            </a:r>
          </a:p>
        </p:txBody>
      </p:sp>
      <p:sp>
        <p:nvSpPr>
          <p:cNvPr id="97" name="Arch items: Database"/>
          <p:cNvSpPr txBox="1"/>
          <p:nvPr/>
        </p:nvSpPr>
        <p:spPr>
          <a:xfrm>
            <a:off x="8042148" y="6519672"/>
            <a:ext cx="1243584" cy="1901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24 wards: people &amp; slum share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386 flood spots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~200 Aapla Dawakhanas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29,433 outbreak records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PostgreSQL + PostGIS</a:t>
            </a:r>
          </a:p>
        </p:txBody>
      </p:sp>
      <p:sp>
        <p:nvSpPr>
          <p:cNvPr id="98" name="Arch: Analytics"/>
          <p:cNvSpPr/>
          <p:nvPr/>
        </p:nvSpPr>
        <p:spPr>
          <a:xfrm>
            <a:off x="9475470" y="5074920"/>
            <a:ext cx="1371600" cy="3401568"/>
          </a:xfrm>
          <a:prstGeom prst="round2SameRect">
            <a:avLst>
              <a:gd name="adj1" fmla="val 50000"/>
              <a:gd name="adj2" fmla="val 6000"/>
            </a:avLst>
          </a:prstGeom>
          <a:solidFill>
            <a:srgbClr val="F5C6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9" name="Icon: chart" descr="E9D2_0F234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3526" y="5257800"/>
            <a:ext cx="475488" cy="475488"/>
          </a:xfrm>
          <a:prstGeom prst="rect">
            <a:avLst/>
          </a:prstGeom>
        </p:spPr>
      </p:pic>
      <p:sp>
        <p:nvSpPr>
          <p:cNvPr id="100" name="Arch arrow 3"/>
          <p:cNvSpPr/>
          <p:nvPr/>
        </p:nvSpPr>
        <p:spPr>
          <a:xfrm>
            <a:off x="9566910" y="5843016"/>
            <a:ext cx="1371600" cy="310896"/>
          </a:xfrm>
          <a:prstGeom prst="rightArrow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Arch title: Analytics"/>
          <p:cNvSpPr txBox="1"/>
          <p:nvPr/>
        </p:nvSpPr>
        <p:spPr>
          <a:xfrm>
            <a:off x="9475470" y="61904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0F2341"/>
                </a:solidFill>
                <a:latin typeface="Calibri"/>
              </a:rPr>
              <a:t>Analytics</a:t>
            </a:r>
          </a:p>
        </p:txBody>
      </p:sp>
      <p:sp>
        <p:nvSpPr>
          <p:cNvPr id="102" name="Arch items: Analytics"/>
          <p:cNvSpPr txBox="1"/>
          <p:nvPr/>
        </p:nvSpPr>
        <p:spPr>
          <a:xfrm>
            <a:off x="9539478" y="6519672"/>
            <a:ext cx="1243584" cy="1901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333"/>
                </a:solidFill>
                <a:latin typeface="Calibri"/>
              </a:rPr>
              <a:t>Exposure:</a:t>
            </a:r>
            <a:r>
              <a:rPr sz="1200" b="0" i="0">
                <a:solidFill>
                  <a:srgbClr val="1B2333"/>
                </a:solidFill>
                <a:latin typeface="Calibri"/>
              </a:rPr>
              <a:t> rain × floods × people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333"/>
                </a:solidFill>
                <a:latin typeface="Calibri"/>
              </a:rPr>
              <a:t>Lepto:</a:t>
            </a:r>
            <a:r>
              <a:rPr sz="1200" b="0" i="0">
                <a:solidFill>
                  <a:srgbClr val="1B2333"/>
                </a:solidFill>
                <a:latin typeface="Calibri"/>
              </a:rPr>
              <a:t> case wave in 7–14 days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333"/>
                </a:solidFill>
                <a:latin typeface="Calibri"/>
              </a:rPr>
              <a:t>Mosquito:</a:t>
            </a:r>
            <a:r>
              <a:rPr sz="1200" b="0" i="0">
                <a:solidFill>
                  <a:srgbClr val="1B2333"/>
                </a:solidFill>
                <a:latin typeface="Calibri"/>
              </a:rPr>
              <a:t> dengue &amp; malaria risk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333"/>
                </a:solidFill>
                <a:latin typeface="Calibri"/>
              </a:rPr>
              <a:t>Spikes:</a:t>
            </a:r>
            <a:r>
              <a:rPr sz="1200" b="0" i="0">
                <a:solidFill>
                  <a:srgbClr val="1B2333"/>
                </a:solidFill>
                <a:latin typeface="Calibri"/>
              </a:rPr>
              <a:t> unusual case jumps</a:t>
            </a:r>
          </a:p>
        </p:txBody>
      </p:sp>
      <p:sp>
        <p:nvSpPr>
          <p:cNvPr id="103" name="Arch: Dashboard"/>
          <p:cNvSpPr/>
          <p:nvPr/>
        </p:nvSpPr>
        <p:spPr>
          <a:xfrm>
            <a:off x="10972800" y="5074920"/>
            <a:ext cx="1371600" cy="3401568"/>
          </a:xfrm>
          <a:prstGeom prst="round2SameRect">
            <a:avLst>
              <a:gd name="adj1" fmla="val 50000"/>
              <a:gd name="adj2" fmla="val 6000"/>
            </a:avLst>
          </a:prstGeom>
          <a:solidFill>
            <a:srgbClr val="F4A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4" name="Icon: map" descr="E800_0F234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20856" y="5257800"/>
            <a:ext cx="475488" cy="475488"/>
          </a:xfrm>
          <a:prstGeom prst="rect">
            <a:avLst/>
          </a:prstGeom>
        </p:spPr>
      </p:pic>
      <p:sp>
        <p:nvSpPr>
          <p:cNvPr id="105" name="Arch arrow 4"/>
          <p:cNvSpPr/>
          <p:nvPr/>
        </p:nvSpPr>
        <p:spPr>
          <a:xfrm>
            <a:off x="11064240" y="5843016"/>
            <a:ext cx="1371600" cy="310896"/>
          </a:xfrm>
          <a:prstGeom prst="rightArrow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Arch title: Dashboard"/>
          <p:cNvSpPr txBox="1"/>
          <p:nvPr/>
        </p:nvSpPr>
        <p:spPr>
          <a:xfrm>
            <a:off x="10972800" y="61904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0F2341"/>
                </a:solidFill>
                <a:latin typeface="Calibri"/>
              </a:rPr>
              <a:t>Dashboard</a:t>
            </a:r>
          </a:p>
        </p:txBody>
      </p:sp>
      <p:sp>
        <p:nvSpPr>
          <p:cNvPr id="107" name="Arch items: Dashboard"/>
          <p:cNvSpPr txBox="1"/>
          <p:nvPr/>
        </p:nvSpPr>
        <p:spPr>
          <a:xfrm>
            <a:off x="11036808" y="6519672"/>
            <a:ext cx="1243584" cy="1901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Ward risk map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333"/>
                </a:solidFill>
                <a:latin typeface="Calibri"/>
              </a:rPr>
              <a:t>Time Machine:</a:t>
            </a:r>
            <a:r>
              <a:rPr sz="1200" b="0" i="0">
                <a:solidFill>
                  <a:srgbClr val="1B2333"/>
                </a:solidFill>
                <a:latin typeface="Calibri"/>
              </a:rPr>
              <a:t> replay past floods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Action Planner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“Why this alert?” panel</a:t>
            </a:r>
          </a:p>
        </p:txBody>
      </p:sp>
      <p:sp>
        <p:nvSpPr>
          <p:cNvPr id="108" name="Down arrow"/>
          <p:cNvSpPr/>
          <p:nvPr/>
        </p:nvSpPr>
        <p:spPr>
          <a:xfrm>
            <a:off x="8545068" y="8476488"/>
            <a:ext cx="237744" cy="118872"/>
          </a:xfrm>
          <a:prstGeom prst="downArrow">
            <a:avLst/>
          </a:prstGeom>
          <a:solidFill>
            <a:srgbClr val="7C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ports panel"/>
          <p:cNvSpPr/>
          <p:nvPr/>
        </p:nvSpPr>
        <p:spPr>
          <a:xfrm>
            <a:off x="4983480" y="8595360"/>
            <a:ext cx="7360920" cy="1325880"/>
          </a:xfrm>
          <a:prstGeom prst="roundRect">
            <a:avLst>
              <a:gd name="adj" fmla="val 9655"/>
            </a:avLst>
          </a:prstGeom>
          <a:solidFill>
            <a:srgbClr val="ED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ports title"/>
          <p:cNvSpPr txBox="1"/>
          <p:nvPr/>
        </p:nvSpPr>
        <p:spPr>
          <a:xfrm>
            <a:off x="4983480" y="8622792"/>
            <a:ext cx="7360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350" b="1" i="0">
                <a:solidFill>
                  <a:srgbClr val="0F2341"/>
                </a:solidFill>
                <a:latin typeface="Calibri"/>
              </a:rPr>
              <a:t>Reports &amp; Alerts</a:t>
            </a:r>
          </a:p>
        </p:txBody>
      </p:sp>
      <p:sp>
        <p:nvSpPr>
          <p:cNvPr id="111" name="Report card: Ward Action Sheet"/>
          <p:cNvSpPr/>
          <p:nvPr/>
        </p:nvSpPr>
        <p:spPr>
          <a:xfrm>
            <a:off x="5065776" y="8924544"/>
            <a:ext cx="170992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2" name="Icon: pdf" descr="EA90_0F234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83580" y="8970264"/>
            <a:ext cx="274320" cy="274320"/>
          </a:xfrm>
          <a:prstGeom prst="rect">
            <a:avLst/>
          </a:prstGeom>
        </p:spPr>
      </p:pic>
      <p:sp>
        <p:nvSpPr>
          <p:cNvPr id="113" name="Report title: Ward Action Sheet"/>
          <p:cNvSpPr txBox="1"/>
          <p:nvPr/>
        </p:nvSpPr>
        <p:spPr>
          <a:xfrm>
            <a:off x="5111496" y="9253728"/>
            <a:ext cx="161848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Ward Action Sheet</a:t>
            </a:r>
          </a:p>
        </p:txBody>
      </p:sp>
      <p:sp>
        <p:nvSpPr>
          <p:cNvPr id="114" name="Report text: Ward Action Sheet"/>
          <p:cNvSpPr txBox="1"/>
          <p:nvPr/>
        </p:nvSpPr>
        <p:spPr>
          <a:xfrm>
            <a:off x="5120640" y="94640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1B2333"/>
                </a:solidFill>
                <a:latin typeface="Calibri"/>
              </a:rPr>
              <a:t>PDF plan for each health officer</a:t>
            </a:r>
          </a:p>
        </p:txBody>
      </p:sp>
      <p:sp>
        <p:nvSpPr>
          <p:cNvPr id="115" name="Report card: Citizen Alerts"/>
          <p:cNvSpPr/>
          <p:nvPr/>
        </p:nvSpPr>
        <p:spPr>
          <a:xfrm>
            <a:off x="6894576" y="8924544"/>
            <a:ext cx="170992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6" name="Icon: message" descr="E8BD_0F234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2380" y="8970264"/>
            <a:ext cx="274320" cy="274320"/>
          </a:xfrm>
          <a:prstGeom prst="rect">
            <a:avLst/>
          </a:prstGeom>
        </p:spPr>
      </p:pic>
      <p:sp>
        <p:nvSpPr>
          <p:cNvPr id="117" name="Report title: Citizen Alerts"/>
          <p:cNvSpPr txBox="1"/>
          <p:nvPr/>
        </p:nvSpPr>
        <p:spPr>
          <a:xfrm>
            <a:off x="6940296" y="9253728"/>
            <a:ext cx="161848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Citizen Alerts</a:t>
            </a:r>
          </a:p>
        </p:txBody>
      </p:sp>
      <p:sp>
        <p:nvSpPr>
          <p:cNvPr id="118" name="Report text: Citizen Alerts"/>
          <p:cNvSpPr txBox="1"/>
          <p:nvPr/>
        </p:nvSpPr>
        <p:spPr>
          <a:xfrm>
            <a:off x="6949440" y="94640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1B2333"/>
                </a:solidFill>
                <a:latin typeface="Nirmala UI"/>
                <a:cs typeface="Nirmala UI"/>
              </a:rPr>
              <a:t>SMS / WhatsApp: मराठी · हिंदी · English</a:t>
            </a:r>
          </a:p>
        </p:txBody>
      </p:sp>
      <p:sp>
        <p:nvSpPr>
          <p:cNvPr id="119" name="Report card: Doctor Alerts"/>
          <p:cNvSpPr/>
          <p:nvPr/>
        </p:nvSpPr>
        <p:spPr>
          <a:xfrm>
            <a:off x="8723376" y="8924544"/>
            <a:ext cx="170992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0" name="Icon: cross" descr="F10E_0F234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41180" y="8970264"/>
            <a:ext cx="274320" cy="274320"/>
          </a:xfrm>
          <a:prstGeom prst="rect">
            <a:avLst/>
          </a:prstGeom>
        </p:spPr>
      </p:pic>
      <p:sp>
        <p:nvSpPr>
          <p:cNvPr id="121" name="Report title: Doctor Alerts"/>
          <p:cNvSpPr txBox="1"/>
          <p:nvPr/>
        </p:nvSpPr>
        <p:spPr>
          <a:xfrm>
            <a:off x="8769096" y="9253728"/>
            <a:ext cx="161848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Doctor Alerts</a:t>
            </a:r>
          </a:p>
        </p:txBody>
      </p:sp>
      <p:sp>
        <p:nvSpPr>
          <p:cNvPr id="122" name="Report text: Doctor Alerts"/>
          <p:cNvSpPr txBox="1"/>
          <p:nvPr/>
        </p:nvSpPr>
        <p:spPr>
          <a:xfrm>
            <a:off x="8778240" y="94640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1B2333"/>
                </a:solidFill>
                <a:latin typeface="Calibri"/>
              </a:rPr>
              <a:t>Expect cases: treat fever early</a:t>
            </a:r>
          </a:p>
        </p:txBody>
      </p:sp>
      <p:sp>
        <p:nvSpPr>
          <p:cNvPr id="123" name="Report card: Weekly Bulletin"/>
          <p:cNvSpPr/>
          <p:nvPr/>
        </p:nvSpPr>
        <p:spPr>
          <a:xfrm>
            <a:off x="10552176" y="8924544"/>
            <a:ext cx="170992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4" name="Icon: report" descr="E9F9_0F234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69980" y="8970264"/>
            <a:ext cx="274320" cy="274320"/>
          </a:xfrm>
          <a:prstGeom prst="rect">
            <a:avLst/>
          </a:prstGeom>
        </p:spPr>
      </p:pic>
      <p:sp>
        <p:nvSpPr>
          <p:cNvPr id="125" name="Report title: Weekly Bulletin"/>
          <p:cNvSpPr txBox="1"/>
          <p:nvPr/>
        </p:nvSpPr>
        <p:spPr>
          <a:xfrm>
            <a:off x="10597896" y="9253728"/>
            <a:ext cx="161848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Weekly Bulletin</a:t>
            </a:r>
          </a:p>
        </p:txBody>
      </p:sp>
      <p:sp>
        <p:nvSpPr>
          <p:cNvPr id="126" name="Report text: Weekly Bulletin"/>
          <p:cNvSpPr txBox="1"/>
          <p:nvPr/>
        </p:nvSpPr>
        <p:spPr>
          <a:xfrm>
            <a:off x="10607040" y="94640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1B2333"/>
                </a:solidFill>
                <a:latin typeface="Calibri"/>
              </a:rPr>
              <a:t>Auto-drafted, officer-approved</a:t>
            </a:r>
          </a:p>
        </p:txBody>
      </p:sp>
      <p:sp>
        <p:nvSpPr>
          <p:cNvPr id="127" name="Card: HOW IT ADDRESSES THE PROBLEM"/>
          <p:cNvSpPr/>
          <p:nvPr/>
        </p:nvSpPr>
        <p:spPr>
          <a:xfrm>
            <a:off x="12527280" y="2670048"/>
            <a:ext cx="4983480" cy="3127248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15875">
            <a:solidFill>
              <a:srgbClr val="C9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Header bar: HOW IT ADDRESSES THE PROBLEM"/>
          <p:cNvSpPr/>
          <p:nvPr/>
        </p:nvSpPr>
        <p:spPr>
          <a:xfrm>
            <a:off x="12527280" y="2670048"/>
            <a:ext cx="4983480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Header: HOW IT ADDRESSES THE PROBLEM"/>
          <p:cNvSpPr txBox="1"/>
          <p:nvPr/>
        </p:nvSpPr>
        <p:spPr>
          <a:xfrm>
            <a:off x="12527280" y="2670048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30" name="Letter circle a"/>
          <p:cNvSpPr/>
          <p:nvPr/>
        </p:nvSpPr>
        <p:spPr>
          <a:xfrm>
            <a:off x="12691872" y="3319272"/>
            <a:ext cx="402336" cy="402336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Letter a"/>
          <p:cNvSpPr txBox="1"/>
          <p:nvPr/>
        </p:nvSpPr>
        <p:spPr>
          <a:xfrm>
            <a:off x="12691872" y="33192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2" name="Row 0: Same-Day Ward Alerts"/>
          <p:cNvSpPr txBox="1"/>
          <p:nvPr/>
        </p:nvSpPr>
        <p:spPr>
          <a:xfrm>
            <a:off x="13203936" y="3273552"/>
            <a:ext cx="4197096" cy="810768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0F2341"/>
                </a:solidFill>
                <a:latin typeface="Calibri"/>
              </a:rPr>
              <a:t>Same-Day Ward Alerts</a:t>
            </a:r>
          </a:p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Warns flood-hit wards on the flood day, inside the 72-hour window, not days later.</a:t>
            </a:r>
          </a:p>
        </p:txBody>
      </p:sp>
      <p:sp>
        <p:nvSpPr>
          <p:cNvPr id="133" name="Letter circle b"/>
          <p:cNvSpPr/>
          <p:nvPr/>
        </p:nvSpPr>
        <p:spPr>
          <a:xfrm>
            <a:off x="12691872" y="4130040"/>
            <a:ext cx="402336" cy="402336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Letter b"/>
          <p:cNvSpPr txBox="1"/>
          <p:nvPr/>
        </p:nvSpPr>
        <p:spPr>
          <a:xfrm>
            <a:off x="12691872" y="41300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5" name="Row 1: Forecast 1–2 Weeks Early"/>
          <p:cNvSpPr txBox="1"/>
          <p:nvPr/>
        </p:nvSpPr>
        <p:spPr>
          <a:xfrm>
            <a:off x="13203936" y="4084320"/>
            <a:ext cx="4197096" cy="810768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0F2341"/>
                </a:solidFill>
                <a:latin typeface="Calibri"/>
              </a:rPr>
              <a:t>Forecast 1–2 Weeks Early</a:t>
            </a:r>
          </a:p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Predicts when leptospirosis cases will peak, and rates dengue &amp; malaria risk weeks ahead.</a:t>
            </a:r>
          </a:p>
        </p:txBody>
      </p:sp>
      <p:sp>
        <p:nvSpPr>
          <p:cNvPr id="136" name="Letter circle c"/>
          <p:cNvSpPr/>
          <p:nvPr/>
        </p:nvSpPr>
        <p:spPr>
          <a:xfrm>
            <a:off x="12691872" y="4940808"/>
            <a:ext cx="402336" cy="402336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Letter c"/>
          <p:cNvSpPr txBox="1"/>
          <p:nvPr/>
        </p:nvSpPr>
        <p:spPr>
          <a:xfrm>
            <a:off x="12691872" y="494080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8" name="Row 2: Smart Action Planner"/>
          <p:cNvSpPr txBox="1"/>
          <p:nvPr/>
        </p:nvSpPr>
        <p:spPr>
          <a:xfrm>
            <a:off x="13203936" y="4895088"/>
            <a:ext cx="4197096" cy="810768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0F2341"/>
                </a:solidFill>
                <a:latin typeface="Calibri"/>
              </a:rPr>
              <a:t>Smart Action Planner</a:t>
            </a:r>
          </a:p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Sends limited fever camps, doctors and spray teams to the highest-risk wards first.</a:t>
            </a:r>
          </a:p>
        </p:txBody>
      </p:sp>
      <p:sp>
        <p:nvSpPr>
          <p:cNvPr id="139" name="Card: Innovation"/>
          <p:cNvSpPr/>
          <p:nvPr/>
        </p:nvSpPr>
        <p:spPr>
          <a:xfrm>
            <a:off x="12527280" y="5925312"/>
            <a:ext cx="4983480" cy="3995928"/>
          </a:xfrm>
          <a:prstGeom prst="roundRect">
            <a:avLst>
              <a:gd name="adj" fmla="val 3661"/>
            </a:avLst>
          </a:prstGeom>
          <a:solidFill>
            <a:srgbClr val="FFFFFF"/>
          </a:solidFill>
          <a:ln w="15875">
            <a:solidFill>
              <a:srgbClr val="C9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Header bar: Innovation"/>
          <p:cNvSpPr/>
          <p:nvPr/>
        </p:nvSpPr>
        <p:spPr>
          <a:xfrm>
            <a:off x="12527280" y="5925312"/>
            <a:ext cx="4983480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Innovation header"/>
          <p:cNvSpPr txBox="1"/>
          <p:nvPr/>
        </p:nvSpPr>
        <p:spPr>
          <a:xfrm>
            <a:off x="12527280" y="5925312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42" name="TODAY label"/>
          <p:cNvSpPr txBox="1"/>
          <p:nvPr/>
        </p:nvSpPr>
        <p:spPr>
          <a:xfrm>
            <a:off x="12664440" y="647395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300" b="1" i="0">
                <a:solidFill>
                  <a:srgbClr val="B83227"/>
                </a:solidFill>
                <a:latin typeface="Calibri"/>
              </a:rPr>
              <a:t>TODAY</a:t>
            </a:r>
          </a:p>
        </p:txBody>
      </p:sp>
      <p:sp>
        <p:nvSpPr>
          <p:cNvPr id="143" name="WITH label"/>
          <p:cNvSpPr txBox="1"/>
          <p:nvPr/>
        </p:nvSpPr>
        <p:spPr>
          <a:xfrm>
            <a:off x="15197327" y="6473952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300" b="1" i="0">
                <a:solidFill>
                  <a:srgbClr val="1E7A46"/>
                </a:solidFill>
                <a:latin typeface="Calibri"/>
              </a:rPr>
              <a:t>WITH VARSHA</a:t>
            </a:r>
          </a:p>
        </p:txBody>
      </p:sp>
      <p:sp>
        <p:nvSpPr>
          <p:cNvPr id="144" name="Today pill 0"/>
          <p:cNvSpPr/>
          <p:nvPr/>
        </p:nvSpPr>
        <p:spPr>
          <a:xfrm>
            <a:off x="12664440" y="6793992"/>
            <a:ext cx="2103120" cy="524865"/>
          </a:xfrm>
          <a:prstGeom prst="roundRect">
            <a:avLst>
              <a:gd name="adj" fmla="val 50000"/>
            </a:avLst>
          </a:prstGeom>
          <a:solidFill>
            <a:srgbClr val="FCE4E1"/>
          </a:solidFill>
          <a:ln w="12700">
            <a:solidFill>
              <a:srgbClr val="E8A5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Today text 0"/>
          <p:cNvSpPr txBox="1"/>
          <p:nvPr/>
        </p:nvSpPr>
        <p:spPr>
          <a:xfrm>
            <a:off x="12774167" y="6793992"/>
            <a:ext cx="1883663" cy="5248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8E2A20"/>
                </a:solidFill>
                <a:latin typeface="Calibri"/>
              </a:rPr>
              <a:t>Citywide advice, days after the flood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4822423" y="7056424"/>
            <a:ext cx="320040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147" name="With pill 0"/>
          <p:cNvSpPr/>
          <p:nvPr/>
        </p:nvSpPr>
        <p:spPr>
          <a:xfrm>
            <a:off x="15197327" y="6793992"/>
            <a:ext cx="2176272" cy="524865"/>
          </a:xfrm>
          <a:prstGeom prst="roundRect">
            <a:avLst>
              <a:gd name="adj" fmla="val 50000"/>
            </a:avLst>
          </a:prstGeom>
          <a:solidFill>
            <a:srgbClr val="E5F5EA"/>
          </a:solidFill>
          <a:ln w="12700">
            <a:solidFill>
              <a:srgbClr val="9CD3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With text 0"/>
          <p:cNvSpPr txBox="1"/>
          <p:nvPr/>
        </p:nvSpPr>
        <p:spPr>
          <a:xfrm>
            <a:off x="15307055" y="6793992"/>
            <a:ext cx="1956815" cy="5248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17603A"/>
                </a:solidFill>
                <a:latin typeface="Calibri"/>
              </a:rPr>
              <a:t>Ward-level alert on the flood day</a:t>
            </a:r>
          </a:p>
        </p:txBody>
      </p:sp>
      <p:sp>
        <p:nvSpPr>
          <p:cNvPr id="149" name="Today pill 1"/>
          <p:cNvSpPr/>
          <p:nvPr/>
        </p:nvSpPr>
        <p:spPr>
          <a:xfrm>
            <a:off x="12664440" y="7410297"/>
            <a:ext cx="2103120" cy="524865"/>
          </a:xfrm>
          <a:prstGeom prst="roundRect">
            <a:avLst>
              <a:gd name="adj" fmla="val 50000"/>
            </a:avLst>
          </a:prstGeom>
          <a:solidFill>
            <a:srgbClr val="FCE4E1"/>
          </a:solidFill>
          <a:ln w="12700">
            <a:solidFill>
              <a:srgbClr val="E8A5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Today text 1"/>
          <p:cNvSpPr txBox="1"/>
          <p:nvPr/>
        </p:nvSpPr>
        <p:spPr>
          <a:xfrm>
            <a:off x="12774167" y="7410297"/>
            <a:ext cx="1883663" cy="5248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8E2A20"/>
                </a:solidFill>
                <a:latin typeface="Calibri"/>
              </a:rPr>
              <a:t>Outbreak data ~6 weeks late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4822423" y="7672730"/>
            <a:ext cx="320040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152" name="With pill 1"/>
          <p:cNvSpPr/>
          <p:nvPr/>
        </p:nvSpPr>
        <p:spPr>
          <a:xfrm>
            <a:off x="15197327" y="7410297"/>
            <a:ext cx="2176272" cy="524865"/>
          </a:xfrm>
          <a:prstGeom prst="roundRect">
            <a:avLst>
              <a:gd name="adj" fmla="val 50000"/>
            </a:avLst>
          </a:prstGeom>
          <a:solidFill>
            <a:srgbClr val="E5F5EA"/>
          </a:solidFill>
          <a:ln w="12700">
            <a:solidFill>
              <a:srgbClr val="9CD3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With text 1"/>
          <p:cNvSpPr txBox="1"/>
          <p:nvPr/>
        </p:nvSpPr>
        <p:spPr>
          <a:xfrm>
            <a:off x="15307055" y="7410297"/>
            <a:ext cx="1956815" cy="5248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17603A"/>
                </a:solidFill>
                <a:latin typeface="Calibri"/>
              </a:rPr>
              <a:t>Case wave forecast 1–2 weeks early</a:t>
            </a:r>
          </a:p>
        </p:txBody>
      </p:sp>
      <p:sp>
        <p:nvSpPr>
          <p:cNvPr id="154" name="Today pill 2"/>
          <p:cNvSpPr/>
          <p:nvPr/>
        </p:nvSpPr>
        <p:spPr>
          <a:xfrm>
            <a:off x="12664440" y="8026603"/>
            <a:ext cx="2103120" cy="524865"/>
          </a:xfrm>
          <a:prstGeom prst="roundRect">
            <a:avLst>
              <a:gd name="adj" fmla="val 50000"/>
            </a:avLst>
          </a:prstGeom>
          <a:solidFill>
            <a:srgbClr val="FCE4E1"/>
          </a:solidFill>
          <a:ln w="12700">
            <a:solidFill>
              <a:srgbClr val="E8A5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oday text 2"/>
          <p:cNvSpPr txBox="1"/>
          <p:nvPr/>
        </p:nvSpPr>
        <p:spPr>
          <a:xfrm>
            <a:off x="12774167" y="8026603"/>
            <a:ext cx="1883663" cy="5248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8E2A20"/>
                </a:solidFill>
                <a:latin typeface="Calibri"/>
              </a:rPr>
              <a:t>Same plan for every ward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4822423" y="8289036"/>
            <a:ext cx="320040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157" name="With pill 2"/>
          <p:cNvSpPr/>
          <p:nvPr/>
        </p:nvSpPr>
        <p:spPr>
          <a:xfrm>
            <a:off x="15197327" y="8026603"/>
            <a:ext cx="2176272" cy="524865"/>
          </a:xfrm>
          <a:prstGeom prst="roundRect">
            <a:avLst>
              <a:gd name="adj" fmla="val 50000"/>
            </a:avLst>
          </a:prstGeom>
          <a:solidFill>
            <a:srgbClr val="E5F5EA"/>
          </a:solidFill>
          <a:ln w="12700">
            <a:solidFill>
              <a:srgbClr val="9CD3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With text 2"/>
          <p:cNvSpPr txBox="1"/>
          <p:nvPr/>
        </p:nvSpPr>
        <p:spPr>
          <a:xfrm>
            <a:off x="15307055" y="8026603"/>
            <a:ext cx="1956815" cy="5248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17603A"/>
                </a:solidFill>
                <a:latin typeface="Calibri"/>
              </a:rPr>
              <a:t>Highest-risk wards ranked first</a:t>
            </a:r>
          </a:p>
        </p:txBody>
      </p:sp>
      <p:sp>
        <p:nvSpPr>
          <p:cNvPr id="159" name="Today pill 3"/>
          <p:cNvSpPr/>
          <p:nvPr/>
        </p:nvSpPr>
        <p:spPr>
          <a:xfrm>
            <a:off x="12664440" y="8642908"/>
            <a:ext cx="2103120" cy="524865"/>
          </a:xfrm>
          <a:prstGeom prst="roundRect">
            <a:avLst>
              <a:gd name="adj" fmla="val 50000"/>
            </a:avLst>
          </a:prstGeom>
          <a:solidFill>
            <a:srgbClr val="FCE4E1"/>
          </a:solidFill>
          <a:ln w="12700">
            <a:solidFill>
              <a:srgbClr val="E8A5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Today text 3"/>
          <p:cNvSpPr txBox="1"/>
          <p:nvPr/>
        </p:nvSpPr>
        <p:spPr>
          <a:xfrm>
            <a:off x="12774167" y="8642908"/>
            <a:ext cx="1883663" cy="5248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8E2A20"/>
                </a:solidFill>
                <a:latin typeface="Calibri"/>
              </a:rPr>
              <a:t>Free weather maps miss cloudbursts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14822423" y="8905341"/>
            <a:ext cx="320040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162" name="With pill 3"/>
          <p:cNvSpPr/>
          <p:nvPr/>
        </p:nvSpPr>
        <p:spPr>
          <a:xfrm>
            <a:off x="15197327" y="8642908"/>
            <a:ext cx="2176272" cy="524865"/>
          </a:xfrm>
          <a:prstGeom prst="roundRect">
            <a:avLst>
              <a:gd name="adj" fmla="val 50000"/>
            </a:avLst>
          </a:prstGeom>
          <a:solidFill>
            <a:srgbClr val="E5F5EA"/>
          </a:solidFill>
          <a:ln w="12700">
            <a:solidFill>
              <a:srgbClr val="9CD3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With text 3"/>
          <p:cNvSpPr txBox="1"/>
          <p:nvPr/>
        </p:nvSpPr>
        <p:spPr>
          <a:xfrm>
            <a:off x="15307055" y="8642908"/>
            <a:ext cx="1956815" cy="5248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17603A"/>
                </a:solidFill>
                <a:latin typeface="Calibri"/>
              </a:rPr>
              <a:t>Rain corrected with real gauges</a:t>
            </a:r>
          </a:p>
        </p:txBody>
      </p:sp>
      <p:sp>
        <p:nvSpPr>
          <p:cNvPr id="164" name="Today pill 4"/>
          <p:cNvSpPr/>
          <p:nvPr/>
        </p:nvSpPr>
        <p:spPr>
          <a:xfrm>
            <a:off x="12664440" y="9259214"/>
            <a:ext cx="2103120" cy="524865"/>
          </a:xfrm>
          <a:prstGeom prst="roundRect">
            <a:avLst>
              <a:gd name="adj" fmla="val 50000"/>
            </a:avLst>
          </a:prstGeom>
          <a:solidFill>
            <a:srgbClr val="FCE4E1"/>
          </a:solidFill>
          <a:ln w="12700">
            <a:solidFill>
              <a:srgbClr val="E8A5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Today text 4"/>
          <p:cNvSpPr txBox="1"/>
          <p:nvPr/>
        </p:nvSpPr>
        <p:spPr>
          <a:xfrm>
            <a:off x="12774167" y="9259214"/>
            <a:ext cx="1883663" cy="5248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8E2A20"/>
                </a:solidFill>
                <a:latin typeface="Calibri"/>
              </a:rPr>
              <a:t>AI reads news after people fall sick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14822423" y="9521647"/>
            <a:ext cx="320040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167" name="With pill 4"/>
          <p:cNvSpPr/>
          <p:nvPr/>
        </p:nvSpPr>
        <p:spPr>
          <a:xfrm>
            <a:off x="15197327" y="9259214"/>
            <a:ext cx="2176272" cy="524865"/>
          </a:xfrm>
          <a:prstGeom prst="roundRect">
            <a:avLst>
              <a:gd name="adj" fmla="val 50000"/>
            </a:avLst>
          </a:prstGeom>
          <a:solidFill>
            <a:srgbClr val="E5F5EA"/>
          </a:solidFill>
          <a:ln w="12700">
            <a:solidFill>
              <a:srgbClr val="9CD3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With text 4"/>
          <p:cNvSpPr txBox="1"/>
          <p:nvPr/>
        </p:nvSpPr>
        <p:spPr>
          <a:xfrm>
            <a:off x="15307055" y="9259214"/>
            <a:ext cx="1956815" cy="5248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17603A"/>
                </a:solidFill>
                <a:latin typeface="Calibri"/>
              </a:rPr>
              <a:t>Warns from rain, before anyone is sick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MCT RGIT header" descr="hdr_m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0"/>
            <a:ext cx="9867900" cy="1447800"/>
          </a:xfrm>
          <a:prstGeom prst="rect">
            <a:avLst/>
          </a:prstGeom>
        </p:spPr>
      </p:pic>
      <p:pic>
        <p:nvPicPr>
          <p:cNvPr id="4" name="ABIT logo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5" name="Synergy logo" descr="logo_sy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550" y="152400"/>
            <a:ext cx="1170940" cy="1295400"/>
          </a:xfrm>
          <a:prstGeom prst="rect">
            <a:avLst/>
          </a:prstGeom>
        </p:spPr>
      </p:pic>
      <p:sp>
        <p:nvSpPr>
          <p:cNvPr id="6" name="Slide title"/>
          <p:cNvSpPr txBox="1"/>
          <p:nvPr/>
        </p:nvSpPr>
        <p:spPr>
          <a:xfrm>
            <a:off x="1028700" y="1819656"/>
            <a:ext cx="114300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Times New Roman"/>
              </a:rPr>
              <a:t>Technical Approach &amp; Innovation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7328961" y="1984248"/>
            <a:ext cx="1031895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1">
                <a:solidFill>
                  <a:srgbClr val="8EE6E0"/>
                </a:solidFill>
                <a:latin typeface="Calibri"/>
              </a:rPr>
              <a:t>Real data in, decisions out. Every number has a source.</a:t>
            </a:r>
          </a:p>
        </p:txBody>
      </p:sp>
      <p:sp>
        <p:nvSpPr>
          <p:cNvPr id="8" name="Content panel"/>
          <p:cNvSpPr/>
          <p:nvPr/>
        </p:nvSpPr>
        <p:spPr>
          <a:xfrm>
            <a:off x="548640" y="2487168"/>
            <a:ext cx="17190720" cy="7644383"/>
          </a:xfrm>
          <a:prstGeom prst="roundRect">
            <a:avLst>
              <a:gd name="adj" fmla="val 2392"/>
            </a:avLst>
          </a:prstGeom>
          <a:solidFill>
            <a:srgbClr val="FBFCFE">
              <a:alpha val="97000"/>
            </a:srgbClr>
          </a:solidFill>
          <a:ln>
            <a:noFill/>
          </a:ln>
          <a:effectLst>
            <a:outerShdw blurRad="101600" dist="3175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Section bar"/>
          <p:cNvSpPr/>
          <p:nvPr/>
        </p:nvSpPr>
        <p:spPr>
          <a:xfrm>
            <a:off x="777240" y="2670048"/>
            <a:ext cx="16733520" cy="457200"/>
          </a:xfrm>
          <a:prstGeom prst="roundRect">
            <a:avLst>
              <a:gd name="adj" fmla="val 50000"/>
            </a:avLst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chnologies header"/>
          <p:cNvSpPr txBox="1"/>
          <p:nvPr/>
        </p:nvSpPr>
        <p:spPr>
          <a:xfrm>
            <a:off x="777240" y="2670048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11" name="Methodology header"/>
          <p:cNvSpPr txBox="1"/>
          <p:nvPr/>
        </p:nvSpPr>
        <p:spPr>
          <a:xfrm>
            <a:off x="7863840" y="2670048"/>
            <a:ext cx="96469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Methodology &amp; Process</a:t>
            </a:r>
          </a:p>
        </p:txBody>
      </p:sp>
      <p:sp>
        <p:nvSpPr>
          <p:cNvPr id="12" name="Tech bar: UI &amp; Presentation"/>
          <p:cNvSpPr/>
          <p:nvPr/>
        </p:nvSpPr>
        <p:spPr>
          <a:xfrm>
            <a:off x="777240" y="3291840"/>
            <a:ext cx="6858000" cy="932688"/>
          </a:xfrm>
          <a:prstGeom prst="roundRect">
            <a:avLst>
              <a:gd name="adj" fmla="val 11764"/>
            </a:avLst>
          </a:prstGeom>
          <a:solidFill>
            <a:srgbClr val="D7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Icon circle: map"/>
          <p:cNvSpPr/>
          <p:nvPr/>
        </p:nvSpPr>
        <p:spPr>
          <a:xfrm>
            <a:off x="932688" y="3474720"/>
            <a:ext cx="566928" cy="566928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Icon: map" descr="E800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081" y="3605113"/>
            <a:ext cx="306141" cy="306141"/>
          </a:xfrm>
          <a:prstGeom prst="rect">
            <a:avLst/>
          </a:prstGeom>
        </p:spPr>
      </p:pic>
      <p:sp>
        <p:nvSpPr>
          <p:cNvPr id="15" name="Tech text: UI &amp; Presentation"/>
          <p:cNvSpPr txBox="1"/>
          <p:nvPr/>
        </p:nvSpPr>
        <p:spPr>
          <a:xfrm>
            <a:off x="1645920" y="3364992"/>
            <a:ext cx="589788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0F2341"/>
                </a:solidFill>
                <a:latin typeface="Calibri"/>
              </a:rPr>
              <a:t>UI &amp; Presentation</a:t>
            </a:r>
          </a:p>
          <a:p>
            <a:pPr algn="l"/>
            <a:r>
              <a:rPr sz="1250" b="0" i="0">
                <a:solidFill>
                  <a:srgbClr val="1B2333"/>
                </a:solidFill>
                <a:latin typeface="Nirmala UI"/>
                <a:cs typeface="Nirmala UI"/>
              </a:rPr>
              <a:t>React 18 + Vite · Tailwind CSS · Leaflet ward maps · Recharts · English / हिंदी / मराठी toggle</a:t>
            </a:r>
          </a:p>
        </p:txBody>
      </p:sp>
      <p:sp>
        <p:nvSpPr>
          <p:cNvPr id="16" name="Tech bar: Backend &amp; API"/>
          <p:cNvSpPr/>
          <p:nvPr/>
        </p:nvSpPr>
        <p:spPr>
          <a:xfrm>
            <a:off x="777240" y="4370832"/>
            <a:ext cx="6858000" cy="932688"/>
          </a:xfrm>
          <a:prstGeom prst="roundRect">
            <a:avLst>
              <a:gd name="adj" fmla="val 11764"/>
            </a:avLst>
          </a:prstGeom>
          <a:solidFill>
            <a:srgbClr val="D7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Icon circle: code"/>
          <p:cNvSpPr/>
          <p:nvPr/>
        </p:nvSpPr>
        <p:spPr>
          <a:xfrm>
            <a:off x="932688" y="4553712"/>
            <a:ext cx="566928" cy="566928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Icon: code" descr="E943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081" y="4684105"/>
            <a:ext cx="306141" cy="306141"/>
          </a:xfrm>
          <a:prstGeom prst="rect">
            <a:avLst/>
          </a:prstGeom>
        </p:spPr>
      </p:pic>
      <p:sp>
        <p:nvSpPr>
          <p:cNvPr id="19" name="Tech text: Backend &amp; API"/>
          <p:cNvSpPr txBox="1"/>
          <p:nvPr/>
        </p:nvSpPr>
        <p:spPr>
          <a:xfrm>
            <a:off x="1645920" y="4443984"/>
            <a:ext cx="589788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0F2341"/>
                </a:solidFill>
                <a:latin typeface="Calibri"/>
              </a:rPr>
              <a:t>Backend &amp; API</a:t>
            </a:r>
          </a:p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Python 3.11 · FastAPI + Uvicorn · Pydantic v2 · scheduled jobs: rain every hour, outbreak data every week</a:t>
            </a:r>
          </a:p>
        </p:txBody>
      </p:sp>
      <p:sp>
        <p:nvSpPr>
          <p:cNvPr id="20" name="Tech bar: Intelligence Engine"/>
          <p:cNvSpPr/>
          <p:nvPr/>
        </p:nvSpPr>
        <p:spPr>
          <a:xfrm>
            <a:off x="777240" y="5449824"/>
            <a:ext cx="6858000" cy="932688"/>
          </a:xfrm>
          <a:prstGeom prst="roundRect">
            <a:avLst>
              <a:gd name="adj" fmla="val 11764"/>
            </a:avLst>
          </a:prstGeom>
          <a:solidFill>
            <a:srgbClr val="D7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Icon circle: chip"/>
          <p:cNvSpPr/>
          <p:nvPr/>
        </p:nvSpPr>
        <p:spPr>
          <a:xfrm>
            <a:off x="932688" y="5632704"/>
            <a:ext cx="566928" cy="566928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Icon: chip" descr="EEA1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081" y="5763097"/>
            <a:ext cx="306141" cy="306141"/>
          </a:xfrm>
          <a:prstGeom prst="rect">
            <a:avLst/>
          </a:prstGeom>
        </p:spPr>
      </p:pic>
      <p:sp>
        <p:nvSpPr>
          <p:cNvPr id="23" name="Tech text: Intelligence Engine"/>
          <p:cNvSpPr txBox="1"/>
          <p:nvPr/>
        </p:nvSpPr>
        <p:spPr>
          <a:xfrm>
            <a:off x="1645920" y="5522976"/>
            <a:ext cx="589788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0F2341"/>
                </a:solidFill>
                <a:latin typeface="Calibri"/>
              </a:rPr>
              <a:t>Intelligence Engine</a:t>
            </a:r>
          </a:p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Pandas, NumPy, SciPy · Statsmodels lag model · LightGBM · R surveillance (EARS, Farrington) · OR-Tools</a:t>
            </a:r>
          </a:p>
        </p:txBody>
      </p:sp>
      <p:sp>
        <p:nvSpPr>
          <p:cNvPr id="24" name="Tech bar: Data, Hosting &amp; Security"/>
          <p:cNvSpPr/>
          <p:nvPr/>
        </p:nvSpPr>
        <p:spPr>
          <a:xfrm>
            <a:off x="777240" y="6528816"/>
            <a:ext cx="6858000" cy="932688"/>
          </a:xfrm>
          <a:prstGeom prst="roundRect">
            <a:avLst>
              <a:gd name="adj" fmla="val 11764"/>
            </a:avLst>
          </a:prstGeom>
          <a:solidFill>
            <a:srgbClr val="D7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Icon circle: shield"/>
          <p:cNvSpPr/>
          <p:nvPr/>
        </p:nvSpPr>
        <p:spPr>
          <a:xfrm>
            <a:off x="932688" y="6711696"/>
            <a:ext cx="566928" cy="566928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Icon: shield" descr="EA18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081" y="6842089"/>
            <a:ext cx="306141" cy="306141"/>
          </a:xfrm>
          <a:prstGeom prst="rect">
            <a:avLst/>
          </a:prstGeom>
        </p:spPr>
      </p:pic>
      <p:sp>
        <p:nvSpPr>
          <p:cNvPr id="27" name="Tech text: Data, Hosting &amp; Security"/>
          <p:cNvSpPr txBox="1"/>
          <p:nvPr/>
        </p:nvSpPr>
        <p:spPr>
          <a:xfrm>
            <a:off x="1645920" y="6601968"/>
            <a:ext cx="589788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0F2341"/>
                </a:solidFill>
                <a:latin typeface="Calibri"/>
              </a:rPr>
              <a:t>Data, Hosting &amp; Security</a:t>
            </a:r>
          </a:p>
          <a:p>
            <a:pPr algn="l"/>
            <a:r>
              <a:rPr sz="1250" b="0" i="0">
                <a:solidFill>
                  <a:srgbClr val="1B2333"/>
                </a:solidFill>
                <a:latin typeface="Calibri"/>
              </a:rPr>
              <a:t>PostgreSQL + PostGIS · Open-Meteo, IMD &amp; NOAA rain data · SHA-256 source stamps · Docker on one server</a:t>
            </a:r>
          </a:p>
        </p:txBody>
      </p:sp>
      <p:sp>
        <p:nvSpPr>
          <p:cNvPr id="28" name="Links box"/>
          <p:cNvSpPr/>
          <p:nvPr/>
        </p:nvSpPr>
        <p:spPr>
          <a:xfrm>
            <a:off x="777240" y="7589520"/>
            <a:ext cx="6858000" cy="109728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 w="15875">
            <a:solidFill>
              <a:srgbClr val="9AA9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Icon circle: link"/>
          <p:cNvSpPr/>
          <p:nvPr/>
        </p:nvSpPr>
        <p:spPr>
          <a:xfrm>
            <a:off x="905256" y="7671816"/>
            <a:ext cx="347472" cy="347472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Icon: link" descr="E71B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174" y="7751734"/>
            <a:ext cx="187634" cy="187634"/>
          </a:xfrm>
          <a:prstGeom prst="rect">
            <a:avLst/>
          </a:prstGeom>
        </p:spPr>
      </p:pic>
      <p:sp>
        <p:nvSpPr>
          <p:cNvPr id="31" name="Links title"/>
          <p:cNvSpPr txBox="1"/>
          <p:nvPr/>
        </p:nvSpPr>
        <p:spPr>
          <a:xfrm>
            <a:off x="1325880" y="767181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0F2341"/>
                </a:solidFill>
                <a:latin typeface="Calibri"/>
              </a:rPr>
              <a:t>Links</a:t>
            </a:r>
          </a:p>
        </p:txBody>
      </p:sp>
      <p:pic>
        <p:nvPicPr>
          <p:cNvPr id="32" name="Icon: globe" descr="E909_0F234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4440" y="8046720"/>
            <a:ext cx="173736" cy="173736"/>
          </a:xfrm>
          <a:prstGeom prst="rect">
            <a:avLst/>
          </a:prstGeom>
        </p:spPr>
      </p:pic>
      <p:sp>
        <p:nvSpPr>
          <p:cNvPr id="33" name="Link 0"/>
          <p:cNvSpPr txBox="1"/>
          <p:nvPr/>
        </p:nvSpPr>
        <p:spPr>
          <a:xfrm>
            <a:off x="1490472" y="8028432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0F2341"/>
                </a:solidFill>
                <a:latin typeface="Calibri"/>
              </a:rPr>
              <a:t>Working Prototype ▸ </a:t>
            </a:r>
            <a:r>
              <a:rPr sz="1250" b="0" i="1">
                <a:solidFill>
                  <a:srgbClr val="2F6FD0"/>
                </a:solidFill>
                <a:latin typeface="Calibri"/>
              </a:rPr>
              <a:t>[add your prototype link]</a:t>
            </a:r>
          </a:p>
        </p:txBody>
      </p:sp>
      <p:pic>
        <p:nvPicPr>
          <p:cNvPr id="34" name="Icon: code" descr="E943_0F234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4440" y="8257032"/>
            <a:ext cx="173736" cy="173736"/>
          </a:xfrm>
          <a:prstGeom prst="rect">
            <a:avLst/>
          </a:prstGeom>
        </p:spPr>
      </p:pic>
      <p:sp>
        <p:nvSpPr>
          <p:cNvPr id="35" name="Link 1"/>
          <p:cNvSpPr txBox="1"/>
          <p:nvPr/>
        </p:nvSpPr>
        <p:spPr>
          <a:xfrm>
            <a:off x="1490472" y="8238744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0F2341"/>
                </a:solidFill>
                <a:latin typeface="Calibri"/>
              </a:rPr>
              <a:t>Code ▸ </a:t>
            </a:r>
            <a:r>
              <a:rPr sz="1250" b="0" i="1">
                <a:solidFill>
                  <a:srgbClr val="2F6FD0"/>
                </a:solidFill>
                <a:latin typeface="Calibri"/>
              </a:rPr>
              <a:t>[add your GitHub link]</a:t>
            </a:r>
          </a:p>
        </p:txBody>
      </p:sp>
      <p:pic>
        <p:nvPicPr>
          <p:cNvPr id="36" name="Icon: chart" descr="E9D2_0F234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4440" y="8467344"/>
            <a:ext cx="173736" cy="173736"/>
          </a:xfrm>
          <a:prstGeom prst="rect">
            <a:avLst/>
          </a:prstGeom>
        </p:spPr>
      </p:pic>
      <p:sp>
        <p:nvSpPr>
          <p:cNvPr id="37" name="Link 2"/>
          <p:cNvSpPr txBox="1"/>
          <p:nvPr/>
        </p:nvSpPr>
        <p:spPr>
          <a:xfrm>
            <a:off x="1490472" y="8449056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0F2341"/>
                </a:solidFill>
                <a:latin typeface="Calibri"/>
              </a:rPr>
              <a:t>Data sources &amp; test log ▸ </a:t>
            </a:r>
            <a:r>
              <a:rPr sz="1250" b="0" i="1">
                <a:solidFill>
                  <a:srgbClr val="2F6FD0"/>
                </a:solidFill>
                <a:latin typeface="Calibri"/>
              </a:rPr>
              <a:t>[add your link]</a:t>
            </a:r>
          </a:p>
        </p:txBody>
      </p:sp>
      <p:sp>
        <p:nvSpPr>
          <p:cNvPr id="38" name="Chip Python"/>
          <p:cNvSpPr/>
          <p:nvPr/>
        </p:nvSpPr>
        <p:spPr>
          <a:xfrm>
            <a:off x="777240" y="8814816"/>
            <a:ext cx="688467" cy="384048"/>
          </a:xfrm>
          <a:prstGeom prst="roundRect">
            <a:avLst>
              <a:gd name="adj" fmla="val 50000"/>
            </a:avLst>
          </a:prstGeom>
          <a:solidFill>
            <a:srgbClr val="DCE9F7"/>
          </a:solidFill>
          <a:ln w="12700">
            <a:solidFill>
              <a:srgbClr val="B9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Chip text Python"/>
          <p:cNvSpPr txBox="1"/>
          <p:nvPr/>
        </p:nvSpPr>
        <p:spPr>
          <a:xfrm>
            <a:off x="777240" y="8814816"/>
            <a:ext cx="68846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Python</a:t>
            </a:r>
          </a:p>
        </p:txBody>
      </p:sp>
      <p:sp>
        <p:nvSpPr>
          <p:cNvPr id="40" name="Chip FastAPI"/>
          <p:cNvSpPr/>
          <p:nvPr/>
        </p:nvSpPr>
        <p:spPr>
          <a:xfrm>
            <a:off x="1557147" y="8814816"/>
            <a:ext cx="709362" cy="384048"/>
          </a:xfrm>
          <a:prstGeom prst="roundRect">
            <a:avLst>
              <a:gd name="adj" fmla="val 50000"/>
            </a:avLst>
          </a:prstGeom>
          <a:solidFill>
            <a:srgbClr val="DDF3EE"/>
          </a:solidFill>
          <a:ln w="12700">
            <a:solidFill>
              <a:srgbClr val="B9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Chip text FastAPI"/>
          <p:cNvSpPr txBox="1"/>
          <p:nvPr/>
        </p:nvSpPr>
        <p:spPr>
          <a:xfrm>
            <a:off x="1557147" y="8814816"/>
            <a:ext cx="70936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FastAPI</a:t>
            </a:r>
          </a:p>
        </p:txBody>
      </p:sp>
      <p:sp>
        <p:nvSpPr>
          <p:cNvPr id="42" name="Chip React"/>
          <p:cNvSpPr/>
          <p:nvPr/>
        </p:nvSpPr>
        <p:spPr>
          <a:xfrm>
            <a:off x="2357949" y="8814816"/>
            <a:ext cx="595757" cy="384048"/>
          </a:xfrm>
          <a:prstGeom prst="roundRect">
            <a:avLst>
              <a:gd name="adj" fmla="val 50000"/>
            </a:avLst>
          </a:prstGeom>
          <a:solidFill>
            <a:srgbClr val="DCEFF8"/>
          </a:solidFill>
          <a:ln w="12700">
            <a:solidFill>
              <a:srgbClr val="B9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Chip text React"/>
          <p:cNvSpPr txBox="1"/>
          <p:nvPr/>
        </p:nvSpPr>
        <p:spPr>
          <a:xfrm>
            <a:off x="2357949" y="8814816"/>
            <a:ext cx="59575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React</a:t>
            </a:r>
          </a:p>
        </p:txBody>
      </p:sp>
      <p:sp>
        <p:nvSpPr>
          <p:cNvPr id="44" name="Chip Leaflet"/>
          <p:cNvSpPr/>
          <p:nvPr/>
        </p:nvSpPr>
        <p:spPr>
          <a:xfrm>
            <a:off x="3045146" y="8814816"/>
            <a:ext cx="670052" cy="384048"/>
          </a:xfrm>
          <a:prstGeom prst="roundRect">
            <a:avLst>
              <a:gd name="adj" fmla="val 50000"/>
            </a:avLst>
          </a:prstGeom>
          <a:solidFill>
            <a:srgbClr val="E3F2DC"/>
          </a:solidFill>
          <a:ln w="12700">
            <a:solidFill>
              <a:srgbClr val="B9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Chip text Leaflet"/>
          <p:cNvSpPr txBox="1"/>
          <p:nvPr/>
        </p:nvSpPr>
        <p:spPr>
          <a:xfrm>
            <a:off x="3045146" y="8814816"/>
            <a:ext cx="67005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Leaflet</a:t>
            </a:r>
          </a:p>
        </p:txBody>
      </p:sp>
      <p:sp>
        <p:nvSpPr>
          <p:cNvPr id="46" name="Chip PostgreSQL + PostGIS"/>
          <p:cNvSpPr/>
          <p:nvPr/>
        </p:nvSpPr>
        <p:spPr>
          <a:xfrm>
            <a:off x="3806638" y="8814816"/>
            <a:ext cx="1553337" cy="384048"/>
          </a:xfrm>
          <a:prstGeom prst="roundRect">
            <a:avLst>
              <a:gd name="adj" fmla="val 50000"/>
            </a:avLst>
          </a:prstGeom>
          <a:solidFill>
            <a:srgbClr val="DFE7F3"/>
          </a:solidFill>
          <a:ln w="12700">
            <a:solidFill>
              <a:srgbClr val="B9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Chip text PostgreSQL + PostGIS"/>
          <p:cNvSpPr txBox="1"/>
          <p:nvPr/>
        </p:nvSpPr>
        <p:spPr>
          <a:xfrm>
            <a:off x="3806638" y="8814816"/>
            <a:ext cx="155333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PostgreSQL + PostGIS</a:t>
            </a:r>
          </a:p>
        </p:txBody>
      </p:sp>
      <p:sp>
        <p:nvSpPr>
          <p:cNvPr id="48" name="Chip Pandas"/>
          <p:cNvSpPr/>
          <p:nvPr/>
        </p:nvSpPr>
        <p:spPr>
          <a:xfrm>
            <a:off x="5451415" y="8814816"/>
            <a:ext cx="692912" cy="384048"/>
          </a:xfrm>
          <a:prstGeom prst="roundRect">
            <a:avLst>
              <a:gd name="adj" fmla="val 50000"/>
            </a:avLst>
          </a:prstGeom>
          <a:solidFill>
            <a:srgbClr val="E7E4F7"/>
          </a:solidFill>
          <a:ln w="12700">
            <a:solidFill>
              <a:srgbClr val="B9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Chip text Pandas"/>
          <p:cNvSpPr txBox="1"/>
          <p:nvPr/>
        </p:nvSpPr>
        <p:spPr>
          <a:xfrm>
            <a:off x="5451415" y="8814816"/>
            <a:ext cx="6929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Pandas</a:t>
            </a:r>
          </a:p>
        </p:txBody>
      </p:sp>
      <p:sp>
        <p:nvSpPr>
          <p:cNvPr id="50" name="Chip Statsmodels"/>
          <p:cNvSpPr/>
          <p:nvPr/>
        </p:nvSpPr>
        <p:spPr>
          <a:xfrm>
            <a:off x="6235767" y="8814816"/>
            <a:ext cx="1000887" cy="384048"/>
          </a:xfrm>
          <a:prstGeom prst="roundRect">
            <a:avLst>
              <a:gd name="adj" fmla="val 50000"/>
            </a:avLst>
          </a:prstGeom>
          <a:solidFill>
            <a:srgbClr val="EAE7F2"/>
          </a:solidFill>
          <a:ln w="12700">
            <a:solidFill>
              <a:srgbClr val="B9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Chip text Statsmodels"/>
          <p:cNvSpPr txBox="1"/>
          <p:nvPr/>
        </p:nvSpPr>
        <p:spPr>
          <a:xfrm>
            <a:off x="6235767" y="8814816"/>
            <a:ext cx="100088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Statsmodels</a:t>
            </a:r>
          </a:p>
        </p:txBody>
      </p:sp>
      <p:sp>
        <p:nvSpPr>
          <p:cNvPr id="52" name="Chip LightGBM"/>
          <p:cNvSpPr/>
          <p:nvPr/>
        </p:nvSpPr>
        <p:spPr>
          <a:xfrm>
            <a:off x="777240" y="9290304"/>
            <a:ext cx="854202" cy="384048"/>
          </a:xfrm>
          <a:prstGeom prst="roundRect">
            <a:avLst>
              <a:gd name="adj" fmla="val 50000"/>
            </a:avLst>
          </a:prstGeom>
          <a:solidFill>
            <a:srgbClr val="E5F1DD"/>
          </a:solidFill>
          <a:ln w="12700">
            <a:solidFill>
              <a:srgbClr val="B9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Chip text LightGBM"/>
          <p:cNvSpPr txBox="1"/>
          <p:nvPr/>
        </p:nvSpPr>
        <p:spPr>
          <a:xfrm>
            <a:off x="777240" y="9290304"/>
            <a:ext cx="85420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LightGBM</a:t>
            </a:r>
          </a:p>
        </p:txBody>
      </p:sp>
      <p:sp>
        <p:nvSpPr>
          <p:cNvPr id="54" name="Chip R surveillance"/>
          <p:cNvSpPr/>
          <p:nvPr/>
        </p:nvSpPr>
        <p:spPr>
          <a:xfrm>
            <a:off x="1722882" y="9290304"/>
            <a:ext cx="1094232" cy="384048"/>
          </a:xfrm>
          <a:prstGeom prst="roundRect">
            <a:avLst>
              <a:gd name="adj" fmla="val 50000"/>
            </a:avLst>
          </a:prstGeom>
          <a:solidFill>
            <a:srgbClr val="DDE7F5"/>
          </a:solidFill>
          <a:ln w="12700">
            <a:solidFill>
              <a:srgbClr val="B9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Chip text R surveillance"/>
          <p:cNvSpPr txBox="1"/>
          <p:nvPr/>
        </p:nvSpPr>
        <p:spPr>
          <a:xfrm>
            <a:off x="1722882" y="9290304"/>
            <a:ext cx="109423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R surveillance</a:t>
            </a:r>
          </a:p>
        </p:txBody>
      </p:sp>
      <p:sp>
        <p:nvSpPr>
          <p:cNvPr id="56" name="Chip OR-Tools"/>
          <p:cNvSpPr/>
          <p:nvPr/>
        </p:nvSpPr>
        <p:spPr>
          <a:xfrm>
            <a:off x="2908554" y="9290304"/>
            <a:ext cx="805307" cy="384048"/>
          </a:xfrm>
          <a:prstGeom prst="roundRect">
            <a:avLst>
              <a:gd name="adj" fmla="val 50000"/>
            </a:avLst>
          </a:prstGeom>
          <a:solidFill>
            <a:srgbClr val="FBEBD6"/>
          </a:solidFill>
          <a:ln w="12700">
            <a:solidFill>
              <a:srgbClr val="B9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Chip text OR-Tools"/>
          <p:cNvSpPr txBox="1"/>
          <p:nvPr/>
        </p:nvSpPr>
        <p:spPr>
          <a:xfrm>
            <a:off x="2908554" y="9290304"/>
            <a:ext cx="80530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OR-Tools</a:t>
            </a:r>
          </a:p>
        </p:txBody>
      </p:sp>
      <p:sp>
        <p:nvSpPr>
          <p:cNvPr id="58" name="Chip Docker"/>
          <p:cNvSpPr/>
          <p:nvPr/>
        </p:nvSpPr>
        <p:spPr>
          <a:xfrm>
            <a:off x="3805301" y="9290304"/>
            <a:ext cx="683387" cy="384048"/>
          </a:xfrm>
          <a:prstGeom prst="roundRect">
            <a:avLst>
              <a:gd name="adj" fmla="val 50000"/>
            </a:avLst>
          </a:prstGeom>
          <a:solidFill>
            <a:srgbClr val="DCECFA"/>
          </a:solidFill>
          <a:ln w="12700">
            <a:solidFill>
              <a:srgbClr val="B9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Chip text Docker"/>
          <p:cNvSpPr txBox="1"/>
          <p:nvPr/>
        </p:nvSpPr>
        <p:spPr>
          <a:xfrm>
            <a:off x="3805301" y="9290304"/>
            <a:ext cx="68338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Docker</a:t>
            </a:r>
          </a:p>
        </p:txBody>
      </p:sp>
      <p:sp>
        <p:nvSpPr>
          <p:cNvPr id="60" name="Chip Telegram API"/>
          <p:cNvSpPr/>
          <p:nvPr/>
        </p:nvSpPr>
        <p:spPr>
          <a:xfrm>
            <a:off x="4580128" y="9290304"/>
            <a:ext cx="1061212" cy="384048"/>
          </a:xfrm>
          <a:prstGeom prst="roundRect">
            <a:avLst>
              <a:gd name="adj" fmla="val 50000"/>
            </a:avLst>
          </a:prstGeom>
          <a:solidFill>
            <a:srgbClr val="DCF0FA"/>
          </a:solidFill>
          <a:ln w="12700">
            <a:solidFill>
              <a:srgbClr val="B9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Chip text Telegram API"/>
          <p:cNvSpPr txBox="1"/>
          <p:nvPr/>
        </p:nvSpPr>
        <p:spPr>
          <a:xfrm>
            <a:off x="4580128" y="9290304"/>
            <a:ext cx="10612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0F2341"/>
                </a:solidFill>
                <a:latin typeface="Calibri"/>
              </a:rPr>
              <a:t>Telegram API</a:t>
            </a:r>
          </a:p>
        </p:txBody>
      </p:sp>
      <p:sp>
        <p:nvSpPr>
          <p:cNvPr id="62" name="Data hub"/>
          <p:cNvSpPr/>
          <p:nvPr/>
        </p:nvSpPr>
        <p:spPr>
          <a:xfrm>
            <a:off x="7863840" y="3291840"/>
            <a:ext cx="9646920" cy="1115568"/>
          </a:xfrm>
          <a:prstGeom prst="roundRect">
            <a:avLst>
              <a:gd name="adj" fmla="val 9836"/>
            </a:avLst>
          </a:prstGeom>
          <a:solidFill>
            <a:srgbClr val="C9DAE6"/>
          </a:solidFill>
          <a:ln w="15875">
            <a:solidFill>
              <a:srgbClr val="8EA9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Data hub text"/>
          <p:cNvSpPr txBox="1"/>
          <p:nvPr/>
        </p:nvSpPr>
        <p:spPr>
          <a:xfrm>
            <a:off x="8001000" y="3346704"/>
            <a:ext cx="9372600" cy="10241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0F2341"/>
                </a:solidFill>
                <a:latin typeface="Calibri"/>
              </a:rPr>
              <a:t>Mumbai Health-Weather Data Hub</a:t>
            </a:r>
          </a:p>
          <a:p>
            <a:pPr algn="ctr">
              <a:spcAft>
                <a:spcPts val="100"/>
              </a:spcAft>
            </a:pPr>
            <a:r>
              <a:rPr sz="1250" b="0" i="0">
                <a:solidFill>
                  <a:srgbClr val="1B2333"/>
                </a:solidFill>
                <a:latin typeface="Calibri"/>
              </a:rPr>
              <a:t>17 years of IDSP outbreak records (29,433 rows) • BMC monsoon disease reports • 24 wards, 386 flood spots, ~200 clinics</a:t>
            </a:r>
          </a:p>
          <a:p>
            <a:pPr algn="ctr"/>
            <a:r>
              <a:rPr sz="1250" b="0" i="0">
                <a:solidFill>
                  <a:srgbClr val="1B2333"/>
                </a:solidFill>
                <a:latin typeface="Calibri"/>
              </a:rPr>
              <a:t>Live rain forecasts (Open-Meteo) + real rain gauges (IMD, NOAA) + news (GDELT) • PostgreSQL + PostGIS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218420" y="4407408"/>
            <a:ext cx="0" cy="192024"/>
          </a:xfrm>
          <a:prstGeom prst="line">
            <a:avLst/>
          </a:prstGeom>
          <a:ln w="22225">
            <a:solidFill>
              <a:srgbClr val="6B7A8C"/>
            </a:solidFill>
            <a:tailEnd type="triangle" w="med" len="med"/>
          </a:ln>
        </p:spPr>
      </p:cxnSp>
      <p:cxnSp>
        <p:nvCxnSpPr>
          <p:cNvPr id="65" name="Connector 64"/>
          <p:cNvCxnSpPr/>
          <p:nvPr/>
        </p:nvCxnSpPr>
        <p:spPr>
          <a:xfrm>
            <a:off x="15156180" y="4407408"/>
            <a:ext cx="0" cy="192024"/>
          </a:xfrm>
          <a:prstGeom prst="line">
            <a:avLst/>
          </a:prstGeom>
          <a:ln w="22225">
            <a:solidFill>
              <a:srgbClr val="6B7A8C"/>
            </a:solidFill>
            <a:tailEnd type="triangle" w="med" len="med"/>
          </a:ln>
        </p:spPr>
      </p:cxnSp>
      <p:sp>
        <p:nvSpPr>
          <p:cNvPr id="66" name="Method box: Jal-Sanket: Ward Exposure Score"/>
          <p:cNvSpPr/>
          <p:nvPr/>
        </p:nvSpPr>
        <p:spPr>
          <a:xfrm>
            <a:off x="7863840" y="461772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BEE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Method text: Jal-Sanket: Ward Exposure Score"/>
          <p:cNvSpPr txBox="1"/>
          <p:nvPr/>
        </p:nvSpPr>
        <p:spPr>
          <a:xfrm>
            <a:off x="7973567" y="4672583"/>
            <a:ext cx="4489704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550" b="1" i="0">
                <a:solidFill>
                  <a:srgbClr val="0F2341"/>
                </a:solidFill>
                <a:latin typeface="Calibri"/>
              </a:rPr>
              <a:t>Jal-Sanket: Ward Exposure Score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Rain × flood spots × people, for every ward, every day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Rain corrected with real gauges, not raw free maps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0218420" y="5806440"/>
            <a:ext cx="0" cy="182880"/>
          </a:xfrm>
          <a:prstGeom prst="line">
            <a:avLst/>
          </a:prstGeom>
          <a:ln w="19050">
            <a:solidFill>
              <a:srgbClr val="6B7A8C"/>
            </a:solidFill>
          </a:ln>
        </p:spPr>
      </p:cxnSp>
      <p:sp>
        <p:nvSpPr>
          <p:cNvPr id="69" name="Method box: Rog-Ghadi: Leptospirosis Forecast"/>
          <p:cNvSpPr/>
          <p:nvPr/>
        </p:nvSpPr>
        <p:spPr>
          <a:xfrm>
            <a:off x="7863840" y="598932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BEE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Method text: Rog-Ghadi: Leptospirosis Forecast"/>
          <p:cNvSpPr txBox="1"/>
          <p:nvPr/>
        </p:nvSpPr>
        <p:spPr>
          <a:xfrm>
            <a:off x="7973567" y="6044183"/>
            <a:ext cx="4489704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550" b="1" i="0">
                <a:solidFill>
                  <a:srgbClr val="0F2341"/>
                </a:solidFill>
                <a:latin typeface="Calibri"/>
              </a:rPr>
              <a:t>Rog-Ghadi: Leptospirosis Forecast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Learns the 7–12 day gap between flooding and new cases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Predicts when the case wave comes and how big, with a range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218420" y="7178040"/>
            <a:ext cx="0" cy="182879"/>
          </a:xfrm>
          <a:prstGeom prst="line">
            <a:avLst/>
          </a:prstGeom>
          <a:ln w="19050">
            <a:solidFill>
              <a:srgbClr val="6B7A8C"/>
            </a:solidFill>
          </a:ln>
        </p:spPr>
      </p:cxnSp>
      <p:sp>
        <p:nvSpPr>
          <p:cNvPr id="72" name="Method box: Machhar-Mapak: Dengue &amp; Malaria Forecast"/>
          <p:cNvSpPr/>
          <p:nvPr/>
        </p:nvSpPr>
        <p:spPr>
          <a:xfrm>
            <a:off x="7863840" y="736092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BEE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Method text: Machhar-Mapak: Dengue &amp; Malaria Forecast"/>
          <p:cNvSpPr txBox="1"/>
          <p:nvPr/>
        </p:nvSpPr>
        <p:spPr>
          <a:xfrm>
            <a:off x="7973567" y="7415784"/>
            <a:ext cx="4489704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550" b="1" i="0">
                <a:solidFill>
                  <a:srgbClr val="0F2341"/>
                </a:solidFill>
                <a:latin typeface="Calibri"/>
              </a:rPr>
              <a:t>Machhar-Mapak: Dengue &amp; Malaria Forecast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Uses heat, humidity and rain from the past 2–8 weeks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Rates each ward's mosquito-disease risk weeks ahead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218420" y="8549640"/>
            <a:ext cx="0" cy="182880"/>
          </a:xfrm>
          <a:prstGeom prst="line">
            <a:avLst/>
          </a:prstGeom>
          <a:ln w="19050">
            <a:solidFill>
              <a:srgbClr val="6B7A8C"/>
            </a:solidFill>
          </a:ln>
        </p:spPr>
      </p:cxnSp>
      <p:sp>
        <p:nvSpPr>
          <p:cNvPr id="75" name="Method box: Early-Warning Alert Queue"/>
          <p:cNvSpPr/>
          <p:nvPr/>
        </p:nvSpPr>
        <p:spPr>
          <a:xfrm>
            <a:off x="7863840" y="873252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BEE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Method text: Early-Warning Alert Queue"/>
          <p:cNvSpPr txBox="1"/>
          <p:nvPr/>
        </p:nvSpPr>
        <p:spPr>
          <a:xfrm>
            <a:off x="7973567" y="8787384"/>
            <a:ext cx="4489704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550" b="1" i="0">
                <a:solidFill>
                  <a:srgbClr val="0F2341"/>
                </a:solidFill>
                <a:latin typeface="Calibri"/>
              </a:rPr>
              <a:t>Early-Warning Alert Queue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Combines all models into WATCH / WARNING / EMERGENCY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Ranks all 24 wards by urgency, every hour</a:t>
            </a:r>
          </a:p>
        </p:txBody>
      </p:sp>
      <p:sp>
        <p:nvSpPr>
          <p:cNvPr id="77" name="Method box: Satark: Unusual Spike Detector"/>
          <p:cNvSpPr/>
          <p:nvPr/>
        </p:nvSpPr>
        <p:spPr>
          <a:xfrm>
            <a:off x="12801600" y="461772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FAD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Method text: Satark: Unusual Spike Detector"/>
          <p:cNvSpPr txBox="1"/>
          <p:nvPr/>
        </p:nvSpPr>
        <p:spPr>
          <a:xfrm>
            <a:off x="12911328" y="4672583"/>
            <a:ext cx="4489704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550" b="1" i="0">
                <a:solidFill>
                  <a:srgbClr val="0F2341"/>
                </a:solidFill>
                <a:latin typeface="Calibri"/>
              </a:rPr>
              <a:t>Satark: Unusual Spike Detector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Same checks public-health agencies use (EARS, Farrington)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Flags unusual jumps in IDSP &amp; BMC data; news as cross-check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5156180" y="5806440"/>
            <a:ext cx="0" cy="182880"/>
          </a:xfrm>
          <a:prstGeom prst="line">
            <a:avLst/>
          </a:prstGeom>
          <a:ln w="19050">
            <a:solidFill>
              <a:srgbClr val="6B7A8C"/>
            </a:solidFill>
          </a:ln>
        </p:spPr>
      </p:cxnSp>
      <p:sp>
        <p:nvSpPr>
          <p:cNvPr id="80" name="Method box: Niyojan: Action Planner"/>
          <p:cNvSpPr/>
          <p:nvPr/>
        </p:nvSpPr>
        <p:spPr>
          <a:xfrm>
            <a:off x="12801600" y="598932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FAD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Method text: Niyojan: Action Planner"/>
          <p:cNvSpPr txBox="1"/>
          <p:nvPr/>
        </p:nvSpPr>
        <p:spPr>
          <a:xfrm>
            <a:off x="12911328" y="6044183"/>
            <a:ext cx="4489704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550" b="1" i="0">
                <a:solidFill>
                  <a:srgbClr val="0F2341"/>
                </a:solidFill>
                <a:latin typeface="Calibri"/>
              </a:rPr>
              <a:t>Niyojan: Action Planner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Places camps, doctors &amp; spray teams where they help most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Follows BMC's own monsoon action plan (OR-Tools)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5156180" y="7178040"/>
            <a:ext cx="0" cy="182879"/>
          </a:xfrm>
          <a:prstGeom prst="line">
            <a:avLst/>
          </a:prstGeom>
          <a:ln w="19050">
            <a:solidFill>
              <a:srgbClr val="6B7A8C"/>
            </a:solidFill>
          </a:ln>
        </p:spPr>
      </p:cxnSp>
      <p:sp>
        <p:nvSpPr>
          <p:cNvPr id="83" name="Method box: Nagrik Sandesh: Citizen Alerts"/>
          <p:cNvSpPr/>
          <p:nvPr/>
        </p:nvSpPr>
        <p:spPr>
          <a:xfrm>
            <a:off x="12801600" y="736092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FAD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Method text: Nagrik Sandesh: Citizen Alerts"/>
          <p:cNvSpPr txBox="1"/>
          <p:nvPr/>
        </p:nvSpPr>
        <p:spPr>
          <a:xfrm>
            <a:off x="12911328" y="7415784"/>
            <a:ext cx="4489704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550" b="1" i="0">
                <a:solidFill>
                  <a:srgbClr val="0F2341"/>
                </a:solidFill>
                <a:latin typeface="Calibri"/>
              </a:rPr>
              <a:t>Nagrik Sandesh: Citizen Alerts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Ward-level SMS / WhatsApp in Marathi, Hindi &amp; English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“Waded through floodwater? Visit an Aapla Dawakhana.”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5156180" y="8549640"/>
            <a:ext cx="0" cy="182880"/>
          </a:xfrm>
          <a:prstGeom prst="line">
            <a:avLst/>
          </a:prstGeom>
          <a:ln w="19050">
            <a:solidFill>
              <a:srgbClr val="6B7A8C"/>
            </a:solidFill>
          </a:ln>
        </p:spPr>
      </p:cxnSp>
      <p:sp>
        <p:nvSpPr>
          <p:cNvPr id="86" name="Method box: Ward Officer Cockpit"/>
          <p:cNvSpPr/>
          <p:nvPr/>
        </p:nvSpPr>
        <p:spPr>
          <a:xfrm>
            <a:off x="12801600" y="8732520"/>
            <a:ext cx="4709160" cy="1188720"/>
          </a:xfrm>
          <a:prstGeom prst="roundRect">
            <a:avLst>
              <a:gd name="adj" fmla="val 7692"/>
            </a:avLst>
          </a:prstGeom>
          <a:solidFill>
            <a:srgbClr val="FAD3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Method text: Ward Officer Cockpit"/>
          <p:cNvSpPr txBox="1"/>
          <p:nvPr/>
        </p:nvSpPr>
        <p:spPr>
          <a:xfrm>
            <a:off x="12911328" y="8787384"/>
            <a:ext cx="4489704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sz="1550" b="1" i="0">
                <a:solidFill>
                  <a:srgbClr val="0F2341"/>
                </a:solidFill>
                <a:latin typeface="Calibri"/>
              </a:rPr>
              <a:t>Ward Officer Cockpit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One-page action sheet for every ward health officer</a:t>
            </a:r>
          </a:p>
          <a:p>
            <a:pPr algn="ctr">
              <a:spcAft>
                <a:spcPts val="200"/>
              </a:spcAft>
            </a:pPr>
            <a:r>
              <a:rPr sz="1350" b="0" i="0">
                <a:solidFill>
                  <a:srgbClr val="1B2333"/>
                </a:solidFill>
                <a:latin typeface="Calibri"/>
              </a:rPr>
              <a:t>Officer approves alerts; every number shows its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MCT RGIT header" descr="hdr_m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0"/>
            <a:ext cx="9867900" cy="1447800"/>
          </a:xfrm>
          <a:prstGeom prst="rect">
            <a:avLst/>
          </a:prstGeom>
        </p:spPr>
      </p:pic>
      <p:pic>
        <p:nvPicPr>
          <p:cNvPr id="4" name="ABIT logo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5" name="Synergy logo" descr="logo_sy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550" y="152400"/>
            <a:ext cx="1170940" cy="1295400"/>
          </a:xfrm>
          <a:prstGeom prst="rect">
            <a:avLst/>
          </a:prstGeom>
        </p:spPr>
      </p:pic>
      <p:sp>
        <p:nvSpPr>
          <p:cNvPr id="6" name="Slide title"/>
          <p:cNvSpPr txBox="1"/>
          <p:nvPr/>
        </p:nvSpPr>
        <p:spPr>
          <a:xfrm>
            <a:off x="1028700" y="1819656"/>
            <a:ext cx="114300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Times New Roman"/>
              </a:rPr>
              <a:t>Impact &amp; Future Scope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5435600" y="1984248"/>
            <a:ext cx="12212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1">
                <a:solidFill>
                  <a:srgbClr val="8EE6E0"/>
                </a:solidFill>
                <a:latin typeface="Calibri"/>
              </a:rPr>
              <a:t>Hours, not weeks. Mumbai first, then every district.</a:t>
            </a:r>
          </a:p>
        </p:txBody>
      </p:sp>
      <p:sp>
        <p:nvSpPr>
          <p:cNvPr id="8" name="Content panel"/>
          <p:cNvSpPr/>
          <p:nvPr/>
        </p:nvSpPr>
        <p:spPr>
          <a:xfrm>
            <a:off x="548640" y="2487168"/>
            <a:ext cx="17190720" cy="7644383"/>
          </a:xfrm>
          <a:prstGeom prst="roundRect">
            <a:avLst>
              <a:gd name="adj" fmla="val 2392"/>
            </a:avLst>
          </a:prstGeom>
          <a:solidFill>
            <a:srgbClr val="FBFCFE">
              <a:alpha val="97000"/>
            </a:srgbClr>
          </a:solidFill>
          <a:ln>
            <a:noFill/>
          </a:ln>
          <a:effectLst>
            <a:outerShdw blurRad="101600" dist="3175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Icon circle: health"/>
          <p:cNvSpPr/>
          <p:nvPr/>
        </p:nvSpPr>
        <p:spPr>
          <a:xfrm>
            <a:off x="3776885" y="2670048"/>
            <a:ext cx="548640" cy="548640"/>
          </a:xfrm>
          <a:prstGeom prst="ellipse">
            <a:avLst/>
          </a:prstGeom>
          <a:solidFill>
            <a:srgbClr val="0E8C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Icon: health" descr="E95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3072" y="2796235"/>
            <a:ext cx="296265" cy="296265"/>
          </a:xfrm>
          <a:prstGeom prst="rect">
            <a:avLst/>
          </a:prstGeom>
        </p:spPr>
      </p:pic>
      <p:sp>
        <p:nvSpPr>
          <p:cNvPr id="11" name="Heading IMPACT"/>
          <p:cNvSpPr txBox="1"/>
          <p:nvPr/>
        </p:nvSpPr>
        <p:spPr>
          <a:xfrm>
            <a:off x="4435253" y="2651760"/>
            <a:ext cx="17273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0F2341"/>
                </a:solidFill>
                <a:latin typeface="Times New Roman"/>
              </a:rPr>
              <a:t>IMPACT</a:t>
            </a:r>
          </a:p>
        </p:txBody>
      </p:sp>
      <p:sp>
        <p:nvSpPr>
          <p:cNvPr id="12" name="Icon circle: trend"/>
          <p:cNvSpPr/>
          <p:nvPr/>
        </p:nvSpPr>
        <p:spPr>
          <a:xfrm>
            <a:off x="11587162" y="2670048"/>
            <a:ext cx="548640" cy="548640"/>
          </a:xfrm>
          <a:prstGeom prst="ellipse">
            <a:avLst/>
          </a:prstGeom>
          <a:solidFill>
            <a:srgbClr val="0E8C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Icon: trend" descr="EAFC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13349" y="2796235"/>
            <a:ext cx="296265" cy="296265"/>
          </a:xfrm>
          <a:prstGeom prst="rect">
            <a:avLst/>
          </a:prstGeom>
        </p:spPr>
      </p:pic>
      <p:sp>
        <p:nvSpPr>
          <p:cNvPr id="14" name="Heading FUTURE SCOPE"/>
          <p:cNvSpPr txBox="1"/>
          <p:nvPr/>
        </p:nvSpPr>
        <p:spPr>
          <a:xfrm>
            <a:off x="12245530" y="2651760"/>
            <a:ext cx="311467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000" b="1" i="0">
                <a:solidFill>
                  <a:srgbClr val="0F2341"/>
                </a:solidFill>
                <a:latin typeface="Times New Roman"/>
              </a:rPr>
              <a:t>FUTURE SCOPE</a:t>
            </a:r>
          </a:p>
        </p:txBody>
      </p:sp>
      <p:sp>
        <p:nvSpPr>
          <p:cNvPr id="15" name="Ribbon: Hours, Not Weeks"/>
          <p:cNvSpPr/>
          <p:nvPr/>
        </p:nvSpPr>
        <p:spPr>
          <a:xfrm>
            <a:off x="777240" y="3337560"/>
            <a:ext cx="1828800" cy="3246119"/>
          </a:xfrm>
          <a:custGeom>
            <a:avLst/>
            <a:gdLst/>
            <a:ahLst/>
            <a:cxnLst/>
            <a:rect l="l" t="t" r="r" b="b"/>
            <a:pathLst>
              <a:path w="1828800" h="3246119">
                <a:moveTo>
                  <a:pt x="0" y="0"/>
                </a:moveTo>
                <a:lnTo>
                  <a:pt x="1828800" y="0"/>
                </a:lnTo>
                <a:lnTo>
                  <a:pt x="1828800" y="3246119"/>
                </a:lnTo>
                <a:lnTo>
                  <a:pt x="914400" y="2898647"/>
                </a:lnTo>
                <a:lnTo>
                  <a:pt x="0" y="3246119"/>
                </a:lnTo>
                <a:lnTo>
                  <a:pt x="0" y="0"/>
                </a:lnTo>
                <a:close/>
              </a:path>
            </a:pathLst>
          </a:custGeom>
          <a:solidFill>
            <a:srgbClr val="BCD3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ibbon title: Hours, Not Weeks"/>
          <p:cNvSpPr txBox="1"/>
          <p:nvPr/>
        </p:nvSpPr>
        <p:spPr>
          <a:xfrm>
            <a:off x="850392" y="3447288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0F2341"/>
                </a:solidFill>
                <a:latin typeface="Calibri"/>
              </a:rPr>
              <a:t>Hours, Not Weeks</a:t>
            </a:r>
          </a:p>
        </p:txBody>
      </p:sp>
      <p:sp>
        <p:nvSpPr>
          <p:cNvPr id="17" name="Ribbon text: Hours, Not Weeks"/>
          <p:cNvSpPr txBox="1"/>
          <p:nvPr/>
        </p:nvSpPr>
        <p:spPr>
          <a:xfrm>
            <a:off x="886968" y="4105656"/>
            <a:ext cx="1609344" cy="1517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0" i="0">
                <a:solidFill>
                  <a:srgbClr val="1B2333"/>
                </a:solidFill>
                <a:latin typeface="Calibri"/>
              </a:rPr>
              <a:t>Ward alerts go out on the flood day, not days later, and not 6 weeks later like official data.</a:t>
            </a:r>
          </a:p>
        </p:txBody>
      </p:sp>
      <p:sp>
        <p:nvSpPr>
          <p:cNvPr id="18" name="Icon circle: clock"/>
          <p:cNvSpPr/>
          <p:nvPr/>
        </p:nvSpPr>
        <p:spPr>
          <a:xfrm>
            <a:off x="1389888" y="5532119"/>
            <a:ext cx="603504" cy="603504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Icon: clock" descr="E823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8693" y="5670925"/>
            <a:ext cx="325892" cy="325892"/>
          </a:xfrm>
          <a:prstGeom prst="rect">
            <a:avLst/>
          </a:prstGeom>
        </p:spPr>
      </p:pic>
      <p:sp>
        <p:nvSpPr>
          <p:cNvPr id="20" name="Ribbon: Inside the 72-Hour Window"/>
          <p:cNvSpPr/>
          <p:nvPr/>
        </p:nvSpPr>
        <p:spPr>
          <a:xfrm>
            <a:off x="2910840" y="3337560"/>
            <a:ext cx="1828800" cy="3246119"/>
          </a:xfrm>
          <a:custGeom>
            <a:avLst/>
            <a:gdLst/>
            <a:ahLst/>
            <a:cxnLst/>
            <a:rect l="l" t="t" r="r" b="b"/>
            <a:pathLst>
              <a:path w="1828800" h="3246119">
                <a:moveTo>
                  <a:pt x="0" y="0"/>
                </a:moveTo>
                <a:lnTo>
                  <a:pt x="1828800" y="0"/>
                </a:lnTo>
                <a:lnTo>
                  <a:pt x="1828800" y="3246119"/>
                </a:lnTo>
                <a:lnTo>
                  <a:pt x="914400" y="2898647"/>
                </a:lnTo>
                <a:lnTo>
                  <a:pt x="0" y="3246119"/>
                </a:lnTo>
                <a:lnTo>
                  <a:pt x="0" y="0"/>
                </a:lnTo>
                <a:close/>
              </a:path>
            </a:pathLst>
          </a:custGeom>
          <a:solidFill>
            <a:srgbClr val="F8CC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ibbon title: Inside the 72-Hour Window"/>
          <p:cNvSpPr txBox="1"/>
          <p:nvPr/>
        </p:nvSpPr>
        <p:spPr>
          <a:xfrm>
            <a:off x="2983992" y="3447288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0F2341"/>
                </a:solidFill>
                <a:latin typeface="Calibri"/>
              </a:rPr>
              <a:t>Inside the 72-Hour Window</a:t>
            </a:r>
          </a:p>
        </p:txBody>
      </p:sp>
      <p:sp>
        <p:nvSpPr>
          <p:cNvPr id="22" name="Ribbon text: Inside the 72-Hour Window"/>
          <p:cNvSpPr txBox="1"/>
          <p:nvPr/>
        </p:nvSpPr>
        <p:spPr>
          <a:xfrm>
            <a:off x="3020568" y="4105656"/>
            <a:ext cx="1609344" cy="1517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0" i="0">
                <a:solidFill>
                  <a:srgbClr val="1B2333"/>
                </a:solidFill>
                <a:latin typeface="Calibri"/>
              </a:rPr>
              <a:t>People exposed to floodwater are told to get free preventive care while it still works.</a:t>
            </a:r>
          </a:p>
        </p:txBody>
      </p:sp>
      <p:sp>
        <p:nvSpPr>
          <p:cNvPr id="23" name="Icon circle: stopwatch"/>
          <p:cNvSpPr/>
          <p:nvPr/>
        </p:nvSpPr>
        <p:spPr>
          <a:xfrm>
            <a:off x="3523488" y="5532119"/>
            <a:ext cx="603504" cy="603504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Icon: stopwatch" descr="E916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2293" y="5670925"/>
            <a:ext cx="325892" cy="325892"/>
          </a:xfrm>
          <a:prstGeom prst="rect">
            <a:avLst/>
          </a:prstGeom>
        </p:spPr>
      </p:pic>
      <p:sp>
        <p:nvSpPr>
          <p:cNvPr id="25" name="Ribbon: Right Ward, First"/>
          <p:cNvSpPr/>
          <p:nvPr/>
        </p:nvSpPr>
        <p:spPr>
          <a:xfrm>
            <a:off x="5044440" y="3337560"/>
            <a:ext cx="1828800" cy="3246119"/>
          </a:xfrm>
          <a:custGeom>
            <a:avLst/>
            <a:gdLst/>
            <a:ahLst/>
            <a:cxnLst/>
            <a:rect l="l" t="t" r="r" b="b"/>
            <a:pathLst>
              <a:path w="1828800" h="3246119">
                <a:moveTo>
                  <a:pt x="0" y="0"/>
                </a:moveTo>
                <a:lnTo>
                  <a:pt x="1828800" y="0"/>
                </a:lnTo>
                <a:lnTo>
                  <a:pt x="1828800" y="3246119"/>
                </a:lnTo>
                <a:lnTo>
                  <a:pt x="914400" y="2898647"/>
                </a:lnTo>
                <a:lnTo>
                  <a:pt x="0" y="3246119"/>
                </a:lnTo>
                <a:lnTo>
                  <a:pt x="0" y="0"/>
                </a:lnTo>
                <a:close/>
              </a:path>
            </a:pathLst>
          </a:custGeom>
          <a:solidFill>
            <a:srgbClr val="A9E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ibbon title: Right Ward, First"/>
          <p:cNvSpPr txBox="1"/>
          <p:nvPr/>
        </p:nvSpPr>
        <p:spPr>
          <a:xfrm>
            <a:off x="5117592" y="3447288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0F2341"/>
                </a:solidFill>
                <a:latin typeface="Calibri"/>
              </a:rPr>
              <a:t>Right Ward, First</a:t>
            </a:r>
          </a:p>
        </p:txBody>
      </p:sp>
      <p:sp>
        <p:nvSpPr>
          <p:cNvPr id="27" name="Ribbon text: Right Ward, First"/>
          <p:cNvSpPr txBox="1"/>
          <p:nvPr/>
        </p:nvSpPr>
        <p:spPr>
          <a:xfrm>
            <a:off x="5154168" y="4105656"/>
            <a:ext cx="1609344" cy="1517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0" i="0">
                <a:solidFill>
                  <a:srgbClr val="1B2333"/>
                </a:solidFill>
                <a:latin typeface="Calibri"/>
              </a:rPr>
              <a:t>Fever camps, doctors and spray teams reach the highest-risk wards first, not spread thin.</a:t>
            </a:r>
          </a:p>
        </p:txBody>
      </p:sp>
      <p:sp>
        <p:nvSpPr>
          <p:cNvPr id="28" name="Icon circle: pin"/>
          <p:cNvSpPr/>
          <p:nvPr/>
        </p:nvSpPr>
        <p:spPr>
          <a:xfrm>
            <a:off x="5657088" y="5532119"/>
            <a:ext cx="603504" cy="603504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Icon: pin" descr="ECAF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5893" y="5670925"/>
            <a:ext cx="325892" cy="325892"/>
          </a:xfrm>
          <a:prstGeom prst="rect">
            <a:avLst/>
          </a:prstGeom>
        </p:spPr>
      </p:pic>
      <p:sp>
        <p:nvSpPr>
          <p:cNvPr id="30" name="Ribbon: Protects the Most Vulnerable"/>
          <p:cNvSpPr/>
          <p:nvPr/>
        </p:nvSpPr>
        <p:spPr>
          <a:xfrm>
            <a:off x="7178040" y="3337560"/>
            <a:ext cx="1828800" cy="3246119"/>
          </a:xfrm>
          <a:custGeom>
            <a:avLst/>
            <a:gdLst/>
            <a:ahLst/>
            <a:cxnLst/>
            <a:rect l="l" t="t" r="r" b="b"/>
            <a:pathLst>
              <a:path w="1828800" h="3246119">
                <a:moveTo>
                  <a:pt x="0" y="0"/>
                </a:moveTo>
                <a:lnTo>
                  <a:pt x="1828800" y="0"/>
                </a:lnTo>
                <a:lnTo>
                  <a:pt x="1828800" y="3246119"/>
                </a:lnTo>
                <a:lnTo>
                  <a:pt x="914400" y="2898647"/>
                </a:lnTo>
                <a:lnTo>
                  <a:pt x="0" y="3246119"/>
                </a:lnTo>
                <a:lnTo>
                  <a:pt x="0" y="0"/>
                </a:lnTo>
                <a:close/>
              </a:path>
            </a:pathLst>
          </a:custGeom>
          <a:solidFill>
            <a:srgbClr val="F7AE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ibbon title: Protects the Most Vulnerable"/>
          <p:cNvSpPr txBox="1"/>
          <p:nvPr/>
        </p:nvSpPr>
        <p:spPr>
          <a:xfrm>
            <a:off x="7251192" y="3447288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0F2341"/>
                </a:solidFill>
                <a:latin typeface="Calibri"/>
              </a:rPr>
              <a:t>Protects the Most Vulnerable</a:t>
            </a:r>
          </a:p>
        </p:txBody>
      </p:sp>
      <p:sp>
        <p:nvSpPr>
          <p:cNvPr id="32" name="Ribbon text: Protects the Most Vulnerable"/>
          <p:cNvSpPr txBox="1"/>
          <p:nvPr/>
        </p:nvSpPr>
        <p:spPr>
          <a:xfrm>
            <a:off x="7287768" y="4105656"/>
            <a:ext cx="1609344" cy="1517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0" i="0">
                <a:solidFill>
                  <a:srgbClr val="1B2333"/>
                </a:solidFill>
                <a:latin typeface="Calibri"/>
              </a:rPr>
              <a:t>Focuses on flood-prone slums, home to about 4 in 10 of Mumbai's 12.4 million people.</a:t>
            </a:r>
          </a:p>
        </p:txBody>
      </p:sp>
      <p:sp>
        <p:nvSpPr>
          <p:cNvPr id="33" name="Icon circle: people"/>
          <p:cNvSpPr/>
          <p:nvPr/>
        </p:nvSpPr>
        <p:spPr>
          <a:xfrm>
            <a:off x="7790688" y="5532119"/>
            <a:ext cx="603504" cy="603504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Icon: people" descr="E716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9493" y="5670925"/>
            <a:ext cx="325892" cy="325892"/>
          </a:xfrm>
          <a:prstGeom prst="rect">
            <a:avLst/>
          </a:prstGeom>
        </p:spPr>
      </p:pic>
      <p:sp>
        <p:nvSpPr>
          <p:cNvPr id="35" name="Ribbon: Ward Pilot → Full City"/>
          <p:cNvSpPr/>
          <p:nvPr/>
        </p:nvSpPr>
        <p:spPr>
          <a:xfrm>
            <a:off x="9281160" y="3337560"/>
            <a:ext cx="1828800" cy="3246119"/>
          </a:xfrm>
          <a:custGeom>
            <a:avLst/>
            <a:gdLst/>
            <a:ahLst/>
            <a:cxnLst/>
            <a:rect l="l" t="t" r="r" b="b"/>
            <a:pathLst>
              <a:path w="1828800" h="3246119">
                <a:moveTo>
                  <a:pt x="0" y="0"/>
                </a:moveTo>
                <a:lnTo>
                  <a:pt x="1828800" y="0"/>
                </a:lnTo>
                <a:lnTo>
                  <a:pt x="1828800" y="3246119"/>
                </a:lnTo>
                <a:lnTo>
                  <a:pt x="914400" y="2898647"/>
                </a:lnTo>
                <a:lnTo>
                  <a:pt x="0" y="3246119"/>
                </a:lnTo>
                <a:lnTo>
                  <a:pt x="0" y="0"/>
                </a:lnTo>
                <a:close/>
              </a:path>
            </a:pathLst>
          </a:custGeom>
          <a:solidFill>
            <a:srgbClr val="BCD3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ibbon title: Ward Pilot → Full City"/>
          <p:cNvSpPr txBox="1"/>
          <p:nvPr/>
        </p:nvSpPr>
        <p:spPr>
          <a:xfrm>
            <a:off x="9354312" y="3447288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0F2341"/>
                </a:solidFill>
                <a:latin typeface="Calibri"/>
              </a:rPr>
              <a:t>Ward Pilot → Full City</a:t>
            </a:r>
          </a:p>
        </p:txBody>
      </p:sp>
      <p:sp>
        <p:nvSpPr>
          <p:cNvPr id="37" name="Ribbon text: Ward Pilot → Full City"/>
          <p:cNvSpPr txBox="1"/>
          <p:nvPr/>
        </p:nvSpPr>
        <p:spPr>
          <a:xfrm>
            <a:off x="9390888" y="4105656"/>
            <a:ext cx="1609344" cy="1517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0" i="0">
                <a:solidFill>
                  <a:srgbClr val="1B2333"/>
                </a:solidFill>
                <a:latin typeface="Calibri"/>
              </a:rPr>
              <a:t>Pilot in one flood-prone ward for one monsoon, then scale to all 24 wards with BMC's data.</a:t>
            </a:r>
          </a:p>
        </p:txBody>
      </p:sp>
      <p:sp>
        <p:nvSpPr>
          <p:cNvPr id="38" name="Icon circle: city"/>
          <p:cNvSpPr/>
          <p:nvPr/>
        </p:nvSpPr>
        <p:spPr>
          <a:xfrm>
            <a:off x="9893808" y="5532119"/>
            <a:ext cx="603504" cy="603504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Icon: city" descr="EC07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32613" y="5670925"/>
            <a:ext cx="325892" cy="325892"/>
          </a:xfrm>
          <a:prstGeom prst="rect">
            <a:avLst/>
          </a:prstGeom>
        </p:spPr>
      </p:pic>
      <p:sp>
        <p:nvSpPr>
          <p:cNvPr id="40" name="Ribbon: Every District in India"/>
          <p:cNvSpPr/>
          <p:nvPr/>
        </p:nvSpPr>
        <p:spPr>
          <a:xfrm>
            <a:off x="11414760" y="3337560"/>
            <a:ext cx="1828800" cy="3246119"/>
          </a:xfrm>
          <a:custGeom>
            <a:avLst/>
            <a:gdLst/>
            <a:ahLst/>
            <a:cxnLst/>
            <a:rect l="l" t="t" r="r" b="b"/>
            <a:pathLst>
              <a:path w="1828800" h="3246119">
                <a:moveTo>
                  <a:pt x="0" y="0"/>
                </a:moveTo>
                <a:lnTo>
                  <a:pt x="1828800" y="0"/>
                </a:lnTo>
                <a:lnTo>
                  <a:pt x="1828800" y="3246119"/>
                </a:lnTo>
                <a:lnTo>
                  <a:pt x="914400" y="2898647"/>
                </a:lnTo>
                <a:lnTo>
                  <a:pt x="0" y="3246119"/>
                </a:lnTo>
                <a:lnTo>
                  <a:pt x="0" y="0"/>
                </a:lnTo>
                <a:close/>
              </a:path>
            </a:pathLst>
          </a:custGeom>
          <a:solidFill>
            <a:srgbClr val="F8CC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ibbon title: Every District in India"/>
          <p:cNvSpPr txBox="1"/>
          <p:nvPr/>
        </p:nvSpPr>
        <p:spPr>
          <a:xfrm>
            <a:off x="11487912" y="3447288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0F2341"/>
                </a:solidFill>
                <a:latin typeface="Calibri"/>
              </a:rPr>
              <a:t>Every District in India</a:t>
            </a:r>
          </a:p>
        </p:txBody>
      </p:sp>
      <p:sp>
        <p:nvSpPr>
          <p:cNvPr id="42" name="Ribbon text: Every District in India"/>
          <p:cNvSpPr txBox="1"/>
          <p:nvPr/>
        </p:nvSpPr>
        <p:spPr>
          <a:xfrm>
            <a:off x="11524488" y="4105656"/>
            <a:ext cx="1609344" cy="1517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0" i="0">
                <a:solidFill>
                  <a:srgbClr val="1B2333"/>
                </a:solidFill>
                <a:latin typeface="Calibri"/>
              </a:rPr>
              <a:t>IDSP covers every district, so the same system can protect Chennai, Kolkata, Kerala and Assam.</a:t>
            </a:r>
          </a:p>
        </p:txBody>
      </p:sp>
      <p:sp>
        <p:nvSpPr>
          <p:cNvPr id="43" name="Icon circle: globe"/>
          <p:cNvSpPr/>
          <p:nvPr/>
        </p:nvSpPr>
        <p:spPr>
          <a:xfrm>
            <a:off x="12027408" y="5532119"/>
            <a:ext cx="603504" cy="603504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Icon: globe" descr="E909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66213" y="5670925"/>
            <a:ext cx="325892" cy="325892"/>
          </a:xfrm>
          <a:prstGeom prst="rect">
            <a:avLst/>
          </a:prstGeom>
        </p:spPr>
      </p:pic>
      <p:sp>
        <p:nvSpPr>
          <p:cNvPr id="45" name="Ribbon: More Health Risks"/>
          <p:cNvSpPr/>
          <p:nvPr/>
        </p:nvSpPr>
        <p:spPr>
          <a:xfrm>
            <a:off x="13548360" y="3337560"/>
            <a:ext cx="1828800" cy="3246119"/>
          </a:xfrm>
          <a:custGeom>
            <a:avLst/>
            <a:gdLst/>
            <a:ahLst/>
            <a:cxnLst/>
            <a:rect l="l" t="t" r="r" b="b"/>
            <a:pathLst>
              <a:path w="1828800" h="3246119">
                <a:moveTo>
                  <a:pt x="0" y="0"/>
                </a:moveTo>
                <a:lnTo>
                  <a:pt x="1828800" y="0"/>
                </a:lnTo>
                <a:lnTo>
                  <a:pt x="1828800" y="3246119"/>
                </a:lnTo>
                <a:lnTo>
                  <a:pt x="914400" y="2898647"/>
                </a:lnTo>
                <a:lnTo>
                  <a:pt x="0" y="3246119"/>
                </a:lnTo>
                <a:lnTo>
                  <a:pt x="0" y="0"/>
                </a:lnTo>
                <a:close/>
              </a:path>
            </a:pathLst>
          </a:custGeom>
          <a:solidFill>
            <a:srgbClr val="A9E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ibbon title: More Health Risks"/>
          <p:cNvSpPr txBox="1"/>
          <p:nvPr/>
        </p:nvSpPr>
        <p:spPr>
          <a:xfrm>
            <a:off x="13621512" y="3447288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0F2341"/>
                </a:solidFill>
                <a:latin typeface="Calibri"/>
              </a:rPr>
              <a:t>More Health Risks</a:t>
            </a:r>
          </a:p>
        </p:txBody>
      </p:sp>
      <p:sp>
        <p:nvSpPr>
          <p:cNvPr id="47" name="Ribbon text: More Health Risks"/>
          <p:cNvSpPr txBox="1"/>
          <p:nvPr/>
        </p:nvSpPr>
        <p:spPr>
          <a:xfrm>
            <a:off x="13658088" y="4105656"/>
            <a:ext cx="1609344" cy="1517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0" i="0">
                <a:solidFill>
                  <a:srgbClr val="1B2333"/>
                </a:solidFill>
                <a:latin typeface="Calibri"/>
              </a:rPr>
              <a:t>The same pipeline can warn about heatstroke, polluted-air illness and water-borne disease.</a:t>
            </a:r>
          </a:p>
        </p:txBody>
      </p:sp>
      <p:sp>
        <p:nvSpPr>
          <p:cNvPr id="48" name="Icon circle: health"/>
          <p:cNvSpPr/>
          <p:nvPr/>
        </p:nvSpPr>
        <p:spPr>
          <a:xfrm>
            <a:off x="14161008" y="5532119"/>
            <a:ext cx="603504" cy="603504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Icon: health" descr="E95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99813" y="5670925"/>
            <a:ext cx="325892" cy="325892"/>
          </a:xfrm>
          <a:prstGeom prst="rect">
            <a:avLst/>
          </a:prstGeom>
        </p:spPr>
      </p:pic>
      <p:sp>
        <p:nvSpPr>
          <p:cNvPr id="50" name="Ribbon: Blood Banks Ready"/>
          <p:cNvSpPr/>
          <p:nvPr/>
        </p:nvSpPr>
        <p:spPr>
          <a:xfrm>
            <a:off x="15681959" y="3337560"/>
            <a:ext cx="1828801" cy="3246119"/>
          </a:xfrm>
          <a:custGeom>
            <a:avLst/>
            <a:gdLst/>
            <a:ahLst/>
            <a:cxnLst/>
            <a:rect l="l" t="t" r="r" b="b"/>
            <a:pathLst>
              <a:path w="1828801" h="3246119">
                <a:moveTo>
                  <a:pt x="0" y="0"/>
                </a:moveTo>
                <a:lnTo>
                  <a:pt x="1828801" y="0"/>
                </a:lnTo>
                <a:lnTo>
                  <a:pt x="1828801" y="3246119"/>
                </a:lnTo>
                <a:lnTo>
                  <a:pt x="914400" y="2898647"/>
                </a:lnTo>
                <a:lnTo>
                  <a:pt x="0" y="3246119"/>
                </a:lnTo>
                <a:lnTo>
                  <a:pt x="0" y="0"/>
                </a:lnTo>
                <a:close/>
              </a:path>
            </a:pathLst>
          </a:custGeom>
          <a:solidFill>
            <a:srgbClr val="F7AE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ibbon title: Blood Banks Ready"/>
          <p:cNvSpPr txBox="1"/>
          <p:nvPr/>
        </p:nvSpPr>
        <p:spPr>
          <a:xfrm>
            <a:off x="15755111" y="3447288"/>
            <a:ext cx="16824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0F2341"/>
                </a:solidFill>
                <a:latin typeface="Calibri"/>
              </a:rPr>
              <a:t>Blood Banks Ready</a:t>
            </a:r>
          </a:p>
        </p:txBody>
      </p:sp>
      <p:sp>
        <p:nvSpPr>
          <p:cNvPr id="52" name="Ribbon text: Blood Banks Ready"/>
          <p:cNvSpPr txBox="1"/>
          <p:nvPr/>
        </p:nvSpPr>
        <p:spPr>
          <a:xfrm>
            <a:off x="15791688" y="4105656"/>
            <a:ext cx="1609344" cy="1517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50" b="0" i="0">
                <a:solidFill>
                  <a:srgbClr val="1B2333"/>
                </a:solidFill>
                <a:latin typeface="Calibri"/>
              </a:rPr>
              <a:t>Warn blood banks before dengue peaks, since platelets last only 5 days.</a:t>
            </a:r>
          </a:p>
        </p:txBody>
      </p:sp>
      <p:sp>
        <p:nvSpPr>
          <p:cNvPr id="53" name="Icon circle: drop"/>
          <p:cNvSpPr/>
          <p:nvPr/>
        </p:nvSpPr>
        <p:spPr>
          <a:xfrm>
            <a:off x="16294608" y="5532119"/>
            <a:ext cx="603504" cy="603504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Icon: drop" descr="EB42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433413" y="5670925"/>
            <a:ext cx="325892" cy="325892"/>
          </a:xfrm>
          <a:prstGeom prst="rect">
            <a:avLst/>
          </a:prstGeom>
        </p:spPr>
      </p:pic>
      <p:sp>
        <p:nvSpPr>
          <p:cNvPr id="55" name="Challenges title"/>
          <p:cNvSpPr txBox="1"/>
          <p:nvPr/>
        </p:nvSpPr>
        <p:spPr>
          <a:xfrm>
            <a:off x="777240" y="6729984"/>
            <a:ext cx="167335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1" i="0">
                <a:solidFill>
                  <a:srgbClr val="0F2341"/>
                </a:solidFill>
                <a:latin typeface="Times New Roman"/>
              </a:rPr>
              <a:t>POTENTIAL </a:t>
            </a:r>
            <a:r>
              <a:rPr sz="2200" b="1" i="0">
                <a:solidFill>
                  <a:srgbClr val="B83227"/>
                </a:solidFill>
                <a:latin typeface="Times New Roman"/>
              </a:rPr>
              <a:t>CHALLENGES</a:t>
            </a:r>
            <a:r>
              <a:rPr sz="2200" b="1" i="0">
                <a:solidFill>
                  <a:srgbClr val="0F2341"/>
                </a:solidFill>
                <a:latin typeface="Times New Roman"/>
              </a:rPr>
              <a:t> &amp; </a:t>
            </a:r>
            <a:r>
              <a:rPr sz="2200" b="1" i="0">
                <a:solidFill>
                  <a:srgbClr val="1E7A46"/>
                </a:solidFill>
                <a:latin typeface="Times New Roman"/>
              </a:rPr>
              <a:t>SOLUTIONS</a:t>
            </a:r>
          </a:p>
        </p:txBody>
      </p:sp>
      <p:sp>
        <p:nvSpPr>
          <p:cNvPr id="56" name="Challenge box"/>
          <p:cNvSpPr/>
          <p:nvPr/>
        </p:nvSpPr>
        <p:spPr>
          <a:xfrm>
            <a:off x="777240" y="7242048"/>
            <a:ext cx="3730752" cy="1261872"/>
          </a:xfrm>
          <a:prstGeom prst="roundRect">
            <a:avLst>
              <a:gd name="adj" fmla="val 10144"/>
            </a:avLst>
          </a:prstGeom>
          <a:solidFill>
            <a:srgbClr val="FBDCD9"/>
          </a:solidFill>
          <a:ln w="15875">
            <a:solidFill>
              <a:srgbClr val="E39B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Icon circle: warning"/>
          <p:cNvSpPr/>
          <p:nvPr/>
        </p:nvSpPr>
        <p:spPr>
          <a:xfrm>
            <a:off x="914400" y="7534656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322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Icon: warning" descr="E7BA_B8322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0030" y="7690286"/>
            <a:ext cx="365394" cy="365394"/>
          </a:xfrm>
          <a:prstGeom prst="rect">
            <a:avLst/>
          </a:prstGeom>
        </p:spPr>
      </p:pic>
      <p:sp>
        <p:nvSpPr>
          <p:cNvPr id="59" name="Challenge text"/>
          <p:cNvSpPr txBox="1"/>
          <p:nvPr/>
        </p:nvSpPr>
        <p:spPr>
          <a:xfrm>
            <a:off x="1709928" y="7333488"/>
            <a:ext cx="2706624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B83227"/>
                </a:solidFill>
                <a:latin typeface="Calibri"/>
              </a:rPr>
              <a:t>CHALLENGE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BMC shares only citywide case totals, not ward-wise numbers.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572000" y="7872983"/>
            <a:ext cx="621792" cy="0"/>
          </a:xfrm>
          <a:prstGeom prst="line">
            <a:avLst/>
          </a:prstGeom>
          <a:ln w="25400">
            <a:solidFill>
              <a:srgbClr val="B83227"/>
            </a:solidFill>
            <a:tailEnd type="triangle" w="med" len="med"/>
          </a:ln>
        </p:spPr>
      </p:cxnSp>
      <p:sp>
        <p:nvSpPr>
          <p:cNvPr id="61" name="Solution box"/>
          <p:cNvSpPr/>
          <p:nvPr/>
        </p:nvSpPr>
        <p:spPr>
          <a:xfrm>
            <a:off x="5257800" y="7242048"/>
            <a:ext cx="3730752" cy="1261872"/>
          </a:xfrm>
          <a:prstGeom prst="roundRect">
            <a:avLst>
              <a:gd name="adj" fmla="val 10144"/>
            </a:avLst>
          </a:prstGeom>
          <a:solidFill>
            <a:srgbClr val="E8F6EC"/>
          </a:solidFill>
          <a:ln w="15875">
            <a:solidFill>
              <a:srgbClr val="8CCB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Icon circle: bulb"/>
          <p:cNvSpPr/>
          <p:nvPr/>
        </p:nvSpPr>
        <p:spPr>
          <a:xfrm>
            <a:off x="8174736" y="7534656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7A46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3" name="Icon: bulb" descr="EA80_1E7A4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30366" y="7690286"/>
            <a:ext cx="365394" cy="365394"/>
          </a:xfrm>
          <a:prstGeom prst="rect">
            <a:avLst/>
          </a:prstGeom>
        </p:spPr>
      </p:pic>
      <p:sp>
        <p:nvSpPr>
          <p:cNvPr id="64" name="Solution text"/>
          <p:cNvSpPr txBox="1"/>
          <p:nvPr/>
        </p:nvSpPr>
        <p:spPr>
          <a:xfrm>
            <a:off x="5385816" y="7333488"/>
            <a:ext cx="2706624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E7A46"/>
                </a:solidFill>
                <a:latin typeface="Calibri"/>
              </a:rPr>
              <a:t>SOLUTION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Predict ward exposure now; add BMC's ward data later through an official tie-up.</a:t>
            </a:r>
          </a:p>
        </p:txBody>
      </p:sp>
      <p:sp>
        <p:nvSpPr>
          <p:cNvPr id="65" name="Challenge box"/>
          <p:cNvSpPr/>
          <p:nvPr/>
        </p:nvSpPr>
        <p:spPr>
          <a:xfrm>
            <a:off x="9281160" y="7242048"/>
            <a:ext cx="3730752" cy="1261872"/>
          </a:xfrm>
          <a:prstGeom prst="roundRect">
            <a:avLst>
              <a:gd name="adj" fmla="val 10144"/>
            </a:avLst>
          </a:prstGeom>
          <a:solidFill>
            <a:srgbClr val="FBDCD9"/>
          </a:solidFill>
          <a:ln w="15875">
            <a:solidFill>
              <a:srgbClr val="E39B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Icon circle: warning"/>
          <p:cNvSpPr/>
          <p:nvPr/>
        </p:nvSpPr>
        <p:spPr>
          <a:xfrm>
            <a:off x="9418320" y="7534656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322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Icon: warning" descr="E7BA_B8322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73950" y="7690286"/>
            <a:ext cx="365394" cy="365394"/>
          </a:xfrm>
          <a:prstGeom prst="rect">
            <a:avLst/>
          </a:prstGeom>
        </p:spPr>
      </p:pic>
      <p:sp>
        <p:nvSpPr>
          <p:cNvPr id="68" name="Challenge text"/>
          <p:cNvSpPr txBox="1"/>
          <p:nvPr/>
        </p:nvSpPr>
        <p:spPr>
          <a:xfrm>
            <a:off x="10213848" y="7333488"/>
            <a:ext cx="2706624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B83227"/>
                </a:solidFill>
                <a:latin typeface="Calibri"/>
              </a:rPr>
              <a:t>CHALLENGE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Free weather maps miss Mumbai cloudbursts (~70 mm vs ~944 mm, 26 Jul 2005).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3075920" y="7872983"/>
            <a:ext cx="621792" cy="0"/>
          </a:xfrm>
          <a:prstGeom prst="line">
            <a:avLst/>
          </a:prstGeom>
          <a:ln w="25400">
            <a:solidFill>
              <a:srgbClr val="B83227"/>
            </a:solidFill>
            <a:tailEnd type="triangle" w="med" len="med"/>
          </a:ln>
        </p:spPr>
      </p:cxnSp>
      <p:sp>
        <p:nvSpPr>
          <p:cNvPr id="70" name="Solution box"/>
          <p:cNvSpPr/>
          <p:nvPr/>
        </p:nvSpPr>
        <p:spPr>
          <a:xfrm>
            <a:off x="13761720" y="7242048"/>
            <a:ext cx="3730752" cy="1261872"/>
          </a:xfrm>
          <a:prstGeom prst="roundRect">
            <a:avLst>
              <a:gd name="adj" fmla="val 10144"/>
            </a:avLst>
          </a:prstGeom>
          <a:solidFill>
            <a:srgbClr val="E8F6EC"/>
          </a:solidFill>
          <a:ln w="15875">
            <a:solidFill>
              <a:srgbClr val="8CCB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Icon circle: bulb"/>
          <p:cNvSpPr/>
          <p:nvPr/>
        </p:nvSpPr>
        <p:spPr>
          <a:xfrm>
            <a:off x="16678656" y="7534656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7A46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2" name="Icon: bulb" descr="EA80_1E7A4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34286" y="7690286"/>
            <a:ext cx="365394" cy="365394"/>
          </a:xfrm>
          <a:prstGeom prst="rect">
            <a:avLst/>
          </a:prstGeom>
        </p:spPr>
      </p:pic>
      <p:sp>
        <p:nvSpPr>
          <p:cNvPr id="73" name="Solution text"/>
          <p:cNvSpPr txBox="1"/>
          <p:nvPr/>
        </p:nvSpPr>
        <p:spPr>
          <a:xfrm>
            <a:off x="13889736" y="7333488"/>
            <a:ext cx="2706624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E7A46"/>
                </a:solidFill>
                <a:latin typeface="Calibri"/>
              </a:rPr>
              <a:t>SOLUTION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Correct every forecast with real rain-gauge data (IMD, NOAA) before use.</a:t>
            </a:r>
          </a:p>
        </p:txBody>
      </p:sp>
      <p:sp>
        <p:nvSpPr>
          <p:cNvPr id="74" name="Challenge box"/>
          <p:cNvSpPr/>
          <p:nvPr/>
        </p:nvSpPr>
        <p:spPr>
          <a:xfrm>
            <a:off x="777240" y="8641080"/>
            <a:ext cx="3730752" cy="1261872"/>
          </a:xfrm>
          <a:prstGeom prst="roundRect">
            <a:avLst>
              <a:gd name="adj" fmla="val 10144"/>
            </a:avLst>
          </a:prstGeom>
          <a:solidFill>
            <a:srgbClr val="FBDCD9"/>
          </a:solidFill>
          <a:ln w="15875">
            <a:solidFill>
              <a:srgbClr val="E39B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Icon circle: warning"/>
          <p:cNvSpPr/>
          <p:nvPr/>
        </p:nvSpPr>
        <p:spPr>
          <a:xfrm>
            <a:off x="914400" y="893368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322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6" name="Icon: warning" descr="E7BA_B8322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0030" y="9089318"/>
            <a:ext cx="365394" cy="365394"/>
          </a:xfrm>
          <a:prstGeom prst="rect">
            <a:avLst/>
          </a:prstGeom>
        </p:spPr>
      </p:pic>
      <p:sp>
        <p:nvSpPr>
          <p:cNvPr id="77" name="Challenge text"/>
          <p:cNvSpPr txBox="1"/>
          <p:nvPr/>
        </p:nvSpPr>
        <p:spPr>
          <a:xfrm>
            <a:off x="1709928" y="8732519"/>
            <a:ext cx="2706624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B83227"/>
                </a:solidFill>
                <a:latin typeface="Calibri"/>
              </a:rPr>
              <a:t>CHALLENGE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Too many alerts make people ignore them.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572000" y="9272015"/>
            <a:ext cx="621792" cy="0"/>
          </a:xfrm>
          <a:prstGeom prst="line">
            <a:avLst/>
          </a:prstGeom>
          <a:ln w="25400">
            <a:solidFill>
              <a:srgbClr val="B83227"/>
            </a:solidFill>
            <a:tailEnd type="triangle" w="med" len="med"/>
          </a:ln>
        </p:spPr>
      </p:cxnSp>
      <p:sp>
        <p:nvSpPr>
          <p:cNvPr id="79" name="Solution box"/>
          <p:cNvSpPr/>
          <p:nvPr/>
        </p:nvSpPr>
        <p:spPr>
          <a:xfrm>
            <a:off x="5257800" y="8641080"/>
            <a:ext cx="3730752" cy="1261872"/>
          </a:xfrm>
          <a:prstGeom prst="roundRect">
            <a:avLst>
              <a:gd name="adj" fmla="val 10144"/>
            </a:avLst>
          </a:prstGeom>
          <a:solidFill>
            <a:srgbClr val="E8F6EC"/>
          </a:solidFill>
          <a:ln w="15875">
            <a:solidFill>
              <a:srgbClr val="8CCB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Icon circle: bulb"/>
          <p:cNvSpPr/>
          <p:nvPr/>
        </p:nvSpPr>
        <p:spPr>
          <a:xfrm>
            <a:off x="8174736" y="893368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7A46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1" name="Icon: bulb" descr="EA80_1E7A4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30366" y="9089318"/>
            <a:ext cx="365394" cy="365394"/>
          </a:xfrm>
          <a:prstGeom prst="rect">
            <a:avLst/>
          </a:prstGeom>
        </p:spPr>
      </p:pic>
      <p:sp>
        <p:nvSpPr>
          <p:cNvPr id="82" name="Solution text"/>
          <p:cNvSpPr txBox="1"/>
          <p:nvPr/>
        </p:nvSpPr>
        <p:spPr>
          <a:xfrm>
            <a:off x="5385816" y="8732519"/>
            <a:ext cx="2706624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E7A46"/>
                </a:solidFill>
                <a:latin typeface="Calibri"/>
              </a:rPr>
              <a:t>SOLUTION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Three clear alert levels, flood-hit wards only, and officer approval first.</a:t>
            </a:r>
          </a:p>
        </p:txBody>
      </p:sp>
      <p:sp>
        <p:nvSpPr>
          <p:cNvPr id="83" name="Challenge box"/>
          <p:cNvSpPr/>
          <p:nvPr/>
        </p:nvSpPr>
        <p:spPr>
          <a:xfrm>
            <a:off x="9281160" y="8641080"/>
            <a:ext cx="3730752" cy="1261872"/>
          </a:xfrm>
          <a:prstGeom prst="roundRect">
            <a:avLst>
              <a:gd name="adj" fmla="val 10144"/>
            </a:avLst>
          </a:prstGeom>
          <a:solidFill>
            <a:srgbClr val="FBDCD9"/>
          </a:solidFill>
          <a:ln w="15875">
            <a:solidFill>
              <a:srgbClr val="E39B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Icon circle: warning"/>
          <p:cNvSpPr/>
          <p:nvPr/>
        </p:nvSpPr>
        <p:spPr>
          <a:xfrm>
            <a:off x="9418320" y="893368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322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5" name="Icon: warning" descr="E7BA_B8322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73950" y="9089318"/>
            <a:ext cx="365394" cy="365394"/>
          </a:xfrm>
          <a:prstGeom prst="rect">
            <a:avLst/>
          </a:prstGeom>
        </p:spPr>
      </p:pic>
      <p:sp>
        <p:nvSpPr>
          <p:cNvPr id="86" name="Challenge text"/>
          <p:cNvSpPr txBox="1"/>
          <p:nvPr/>
        </p:nvSpPr>
        <p:spPr>
          <a:xfrm>
            <a:off x="10213848" y="8732519"/>
            <a:ext cx="2706624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B83227"/>
                </a:solidFill>
                <a:latin typeface="Calibri"/>
              </a:rPr>
              <a:t>CHALLENGE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Health advice must be safe and correct.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3075920" y="9272015"/>
            <a:ext cx="621792" cy="0"/>
          </a:xfrm>
          <a:prstGeom prst="line">
            <a:avLst/>
          </a:prstGeom>
          <a:ln w="25400">
            <a:solidFill>
              <a:srgbClr val="B83227"/>
            </a:solidFill>
            <a:tailEnd type="triangle" w="med" len="med"/>
          </a:ln>
        </p:spPr>
      </p:cxnSp>
      <p:sp>
        <p:nvSpPr>
          <p:cNvPr id="88" name="Solution box"/>
          <p:cNvSpPr/>
          <p:nvPr/>
        </p:nvSpPr>
        <p:spPr>
          <a:xfrm>
            <a:off x="13761720" y="8641080"/>
            <a:ext cx="3730752" cy="1261872"/>
          </a:xfrm>
          <a:prstGeom prst="roundRect">
            <a:avLst>
              <a:gd name="adj" fmla="val 10144"/>
            </a:avLst>
          </a:prstGeom>
          <a:solidFill>
            <a:srgbClr val="E8F6EC"/>
          </a:solidFill>
          <a:ln w="15875">
            <a:solidFill>
              <a:srgbClr val="8CCB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Icon circle: bulb"/>
          <p:cNvSpPr/>
          <p:nvPr/>
        </p:nvSpPr>
        <p:spPr>
          <a:xfrm>
            <a:off x="16678656" y="893368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7A46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0" name="Icon: bulb" descr="EA80_1E7A4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34286" y="9089318"/>
            <a:ext cx="365394" cy="365394"/>
          </a:xfrm>
          <a:prstGeom prst="rect">
            <a:avLst/>
          </a:prstGeom>
        </p:spPr>
      </p:pic>
      <p:sp>
        <p:nvSpPr>
          <p:cNvPr id="91" name="Solution text"/>
          <p:cNvSpPr txBox="1"/>
          <p:nvPr/>
        </p:nvSpPr>
        <p:spPr>
          <a:xfrm>
            <a:off x="13889736" y="8732519"/>
            <a:ext cx="2706624" cy="11155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E7A46"/>
                </a:solidFill>
                <a:latin typeface="Calibri"/>
              </a:rPr>
              <a:t>SOLUTION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VARSHA never prescribes; it only points people to BMC clinics, as BMC's own advice does.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emplate background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MCT RGIT header" descr="hdr_m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0"/>
            <a:ext cx="9867900" cy="1447800"/>
          </a:xfrm>
          <a:prstGeom prst="rect">
            <a:avLst/>
          </a:prstGeom>
        </p:spPr>
      </p:pic>
      <p:pic>
        <p:nvPicPr>
          <p:cNvPr id="4" name="ABIT logo" descr="logo_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52400"/>
            <a:ext cx="1295400" cy="1295400"/>
          </a:xfrm>
          <a:prstGeom prst="rect">
            <a:avLst/>
          </a:prstGeom>
        </p:spPr>
      </p:pic>
      <p:pic>
        <p:nvPicPr>
          <p:cNvPr id="5" name="Synergy logo" descr="logo_syner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84550" y="152400"/>
            <a:ext cx="1170940" cy="1295400"/>
          </a:xfrm>
          <a:prstGeom prst="rect">
            <a:avLst/>
          </a:prstGeom>
        </p:spPr>
      </p:pic>
      <p:sp>
        <p:nvSpPr>
          <p:cNvPr id="6" name="Slide title"/>
          <p:cNvSpPr txBox="1"/>
          <p:nvPr/>
        </p:nvSpPr>
        <p:spPr>
          <a:xfrm>
            <a:off x="1028700" y="1819656"/>
            <a:ext cx="114300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Times New Roman"/>
              </a:rPr>
              <a:t>Supporting Information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5483225" y="1984248"/>
            <a:ext cx="1216469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1">
                <a:solidFill>
                  <a:srgbClr val="8EE6E0"/>
                </a:solidFill>
                <a:latin typeface="Calibri"/>
              </a:rPr>
              <a:t>A real flood replay, verified data, and the research behind every claim</a:t>
            </a:r>
          </a:p>
        </p:txBody>
      </p:sp>
      <p:sp>
        <p:nvSpPr>
          <p:cNvPr id="8" name="Content panel"/>
          <p:cNvSpPr/>
          <p:nvPr/>
        </p:nvSpPr>
        <p:spPr>
          <a:xfrm>
            <a:off x="548640" y="2487168"/>
            <a:ext cx="17190720" cy="7644383"/>
          </a:xfrm>
          <a:prstGeom prst="roundRect">
            <a:avLst>
              <a:gd name="adj" fmla="val 2392"/>
            </a:avLst>
          </a:prstGeom>
          <a:solidFill>
            <a:srgbClr val="FBFCFE">
              <a:alpha val="97000"/>
            </a:srgbClr>
          </a:solidFill>
          <a:ln>
            <a:noFill/>
          </a:ln>
          <a:effectLst>
            <a:outerShdw blurRad="101600" dist="3175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Card: Case Study: July 2026 Floods"/>
          <p:cNvSpPr/>
          <p:nvPr/>
        </p:nvSpPr>
        <p:spPr>
          <a:xfrm>
            <a:off x="777240" y="2670048"/>
            <a:ext cx="4572000" cy="3035808"/>
          </a:xfrm>
          <a:prstGeom prst="roundRect">
            <a:avLst>
              <a:gd name="adj" fmla="val 4819"/>
            </a:avLst>
          </a:prstGeom>
          <a:solidFill>
            <a:srgbClr val="FCE4E1"/>
          </a:solidFill>
          <a:ln w="15875">
            <a:solidFill>
              <a:srgbClr val="E8A5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Icon circle: calendar"/>
          <p:cNvSpPr/>
          <p:nvPr/>
        </p:nvSpPr>
        <p:spPr>
          <a:xfrm>
            <a:off x="923544" y="2798063"/>
            <a:ext cx="475488" cy="47548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Icon: calendar" descr="E787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906" y="2907426"/>
            <a:ext cx="256763" cy="256763"/>
          </a:xfrm>
          <a:prstGeom prst="rect">
            <a:avLst/>
          </a:prstGeom>
        </p:spPr>
      </p:pic>
      <p:sp>
        <p:nvSpPr>
          <p:cNvPr id="12" name="Card title: Case Study: July 2026 Floods"/>
          <p:cNvSpPr txBox="1"/>
          <p:nvPr/>
        </p:nvSpPr>
        <p:spPr>
          <a:xfrm>
            <a:off x="1508760" y="2798064"/>
            <a:ext cx="37033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B83227"/>
                </a:solidFill>
                <a:latin typeface="Calibri"/>
              </a:rPr>
              <a:t>Case Study: July 2026 Floods</a:t>
            </a:r>
          </a:p>
        </p:txBody>
      </p:sp>
      <p:sp>
        <p:nvSpPr>
          <p:cNvPr id="13" name="Card body: Case Study: July 2026 Floods"/>
          <p:cNvSpPr txBox="1"/>
          <p:nvPr/>
        </p:nvSpPr>
        <p:spPr>
          <a:xfrm>
            <a:off x="960120" y="3346704"/>
            <a:ext cx="4224528" cy="2267712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 marL="160999" indent="-160999">
              <a:spcAft>
                <a:spcPts val="400"/>
              </a:spcAft>
              <a:buClr>
                <a:srgbClr val="B83227"/>
              </a:buClr>
              <a:buFont typeface="Arial"/>
              <a:buChar char="•"/>
            </a:pPr>
            <a:r>
              <a:rPr sz="1450" b="1" i="0">
                <a:solidFill>
                  <a:srgbClr val="1B2333"/>
                </a:solidFill>
                <a:latin typeface="Calibri"/>
              </a:rPr>
              <a:t>1–7 Jul: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 ~984 mm of rain at Santacruz</a:t>
            </a:r>
          </a:p>
          <a:p>
            <a:pPr algn="l" marL="160999" indent="-160999">
              <a:spcAft>
                <a:spcPts val="400"/>
              </a:spcAft>
              <a:buClr>
                <a:srgbClr val="B83227"/>
              </a:buClr>
              <a:buFont typeface="Arial"/>
              <a:buChar char="•"/>
            </a:pPr>
            <a:r>
              <a:rPr sz="1450" b="1" i="0">
                <a:solidFill>
                  <a:srgbClr val="1B2333"/>
                </a:solidFill>
                <a:latin typeface="Calibri"/>
              </a:rPr>
              <a:t>4–6 Jul: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 red alert; flooding in Andheri, Kurla, Chembur, Powai</a:t>
            </a:r>
          </a:p>
          <a:p>
            <a:pPr algn="l" marL="160999" indent="-160999">
              <a:spcAft>
                <a:spcPts val="400"/>
              </a:spcAft>
              <a:buClr>
                <a:srgbClr val="B83227"/>
              </a:buClr>
              <a:buFont typeface="Arial"/>
              <a:buChar char="•"/>
            </a:pPr>
            <a:r>
              <a:rPr sz="1450" b="1" i="0">
                <a:solidFill>
                  <a:srgbClr val="1B2333"/>
                </a:solidFill>
                <a:latin typeface="Calibri"/>
              </a:rPr>
              <a:t>6 Jul, 10:39 PM: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 BMC's citywide advice to get preventive care within 72 hours</a:t>
            </a:r>
          </a:p>
          <a:p>
            <a:pPr algn="l" marL="160999" indent="-160999">
              <a:buClr>
                <a:srgbClr val="B83227"/>
              </a:buClr>
              <a:buFont typeface="Arial"/>
              <a:buChar char="•"/>
            </a:pPr>
            <a:r>
              <a:rPr sz="1450" b="1" i="0">
                <a:solidFill>
                  <a:srgbClr val="1B2333"/>
                </a:solidFill>
                <a:latin typeface="Calibri"/>
              </a:rPr>
              <a:t>July: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 leptospirosis cases more than doubled (</a:t>
            </a:r>
            <a:r>
              <a:rPr sz="1450" b="1" i="0">
                <a:solidFill>
                  <a:srgbClr val="1B2333"/>
                </a:solidFill>
                <a:latin typeface="Calibri"/>
              </a:rPr>
              <a:t>33 → 78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)</a:t>
            </a:r>
          </a:p>
        </p:txBody>
      </p:sp>
      <p:sp>
        <p:nvSpPr>
          <p:cNvPr id="14" name="Card: What VARSHA Would Have Done"/>
          <p:cNvSpPr/>
          <p:nvPr/>
        </p:nvSpPr>
        <p:spPr>
          <a:xfrm>
            <a:off x="5532120" y="2670048"/>
            <a:ext cx="5577840" cy="3035808"/>
          </a:xfrm>
          <a:prstGeom prst="roundRect">
            <a:avLst>
              <a:gd name="adj" fmla="val 4819"/>
            </a:avLst>
          </a:prstGeom>
          <a:solidFill>
            <a:srgbClr val="E5F5EA"/>
          </a:solidFill>
          <a:ln w="15875">
            <a:solidFill>
              <a:srgbClr val="9CD3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circle: bulb"/>
          <p:cNvSpPr/>
          <p:nvPr/>
        </p:nvSpPr>
        <p:spPr>
          <a:xfrm>
            <a:off x="5678424" y="2798063"/>
            <a:ext cx="475488" cy="475488"/>
          </a:xfrm>
          <a:prstGeom prst="ellipse">
            <a:avLst/>
          </a:prstGeom>
          <a:solidFill>
            <a:srgbClr val="1E7A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Icon: bulb" descr="EA80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7786" y="2907426"/>
            <a:ext cx="256763" cy="256763"/>
          </a:xfrm>
          <a:prstGeom prst="rect">
            <a:avLst/>
          </a:prstGeom>
        </p:spPr>
      </p:pic>
      <p:sp>
        <p:nvSpPr>
          <p:cNvPr id="17" name="Card title: What VARSHA Would Have Done"/>
          <p:cNvSpPr txBox="1"/>
          <p:nvPr/>
        </p:nvSpPr>
        <p:spPr>
          <a:xfrm>
            <a:off x="6263640" y="2798064"/>
            <a:ext cx="4709159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7A46"/>
                </a:solidFill>
                <a:latin typeface="Calibri"/>
              </a:rPr>
              <a:t>What VARSHA Would Have Done</a:t>
            </a:r>
          </a:p>
        </p:txBody>
      </p:sp>
      <p:sp>
        <p:nvSpPr>
          <p:cNvPr id="18" name="Card body: What VARSHA Would Have Done"/>
          <p:cNvSpPr txBox="1"/>
          <p:nvPr/>
        </p:nvSpPr>
        <p:spPr>
          <a:xfrm>
            <a:off x="5715000" y="3346704"/>
            <a:ext cx="5230368" cy="2267712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1B2333"/>
                </a:solidFill>
                <a:latin typeface="Calibri"/>
              </a:rPr>
              <a:t>Replayed on the real July 2026 rain data, VARSHA's rules give a </a:t>
            </a:r>
            <a:r>
              <a:rPr sz="1450" b="1" i="0">
                <a:solidFill>
                  <a:srgbClr val="1B2333"/>
                </a:solidFill>
                <a:latin typeface="Calibri"/>
              </a:rPr>
              <a:t>WATCH on 1 Jul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 and a </a:t>
            </a:r>
            <a:r>
              <a:rPr sz="1450" b="1" i="0">
                <a:solidFill>
                  <a:srgbClr val="1B2333"/>
                </a:solidFill>
                <a:latin typeface="Calibri"/>
              </a:rPr>
              <a:t>WARNING by 5 Jul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, before BMC's citywide advice on the night of 6 Jul. It would then:</a:t>
            </a:r>
          </a:p>
          <a:p>
            <a:pPr algn="l" marL="160999" indent="-160999">
              <a:spcAft>
                <a:spcPts val="300"/>
              </a:spcAft>
              <a:buClr>
                <a:srgbClr val="1E7A46"/>
              </a:buClr>
              <a:buFont typeface="Arial"/>
              <a:buChar char="•"/>
            </a:pPr>
            <a:r>
              <a:rPr sz="1450" b="0" i="0">
                <a:solidFill>
                  <a:srgbClr val="1B2333"/>
                </a:solidFill>
                <a:latin typeface="Calibri"/>
              </a:rPr>
              <a:t>Alert </a:t>
            </a:r>
            <a:r>
              <a:rPr sz="1450" b="1" i="0">
                <a:solidFill>
                  <a:srgbClr val="1B2333"/>
                </a:solidFill>
                <a:latin typeface="Calibri"/>
              </a:rPr>
              <a:t>only flood-hit wards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, in Marathi, Hindi &amp; English</a:t>
            </a:r>
          </a:p>
          <a:p>
            <a:pPr algn="l" marL="160999" indent="-160999">
              <a:spcAft>
                <a:spcPts val="300"/>
              </a:spcAft>
              <a:buClr>
                <a:srgbClr val="1E7A46"/>
              </a:buClr>
              <a:buFont typeface="Arial"/>
              <a:buChar char="•"/>
            </a:pPr>
            <a:r>
              <a:rPr sz="1450" b="0" i="0">
                <a:solidFill>
                  <a:srgbClr val="1B2333"/>
                </a:solidFill>
                <a:latin typeface="Calibri"/>
              </a:rPr>
              <a:t>Send people to an </a:t>
            </a:r>
            <a:r>
              <a:rPr sz="1450" b="1" i="0">
                <a:solidFill>
                  <a:srgbClr val="1B2333"/>
                </a:solidFill>
                <a:latin typeface="Calibri"/>
              </a:rPr>
              <a:t>Aapla Dawakhana within 72 hours</a:t>
            </a:r>
          </a:p>
          <a:p>
            <a:pPr algn="l" marL="160999" indent="-160999">
              <a:spcAft>
                <a:spcPts val="300"/>
              </a:spcAft>
              <a:buClr>
                <a:srgbClr val="1E7A46"/>
              </a:buClr>
              <a:buFont typeface="Arial"/>
              <a:buChar char="•"/>
            </a:pPr>
            <a:r>
              <a:rPr sz="1450" b="0" i="0">
                <a:solidFill>
                  <a:srgbClr val="1B2333"/>
                </a:solidFill>
                <a:latin typeface="Calibri"/>
              </a:rPr>
              <a:t>Place </a:t>
            </a:r>
            <a:r>
              <a:rPr sz="1450" b="1" i="0">
                <a:solidFill>
                  <a:srgbClr val="1B2333"/>
                </a:solidFill>
                <a:latin typeface="Calibri"/>
              </a:rPr>
              <a:t>fever camps</a:t>
            </a:r>
            <a:r>
              <a:rPr sz="1450" b="0" i="0">
                <a:solidFill>
                  <a:srgbClr val="1B2333"/>
                </a:solidFill>
                <a:latin typeface="Calibri"/>
              </a:rPr>
              <a:t> where risk is highest</a:t>
            </a:r>
          </a:p>
          <a:p>
            <a:pPr algn="l" marL="160999" indent="-160999">
              <a:buClr>
                <a:srgbClr val="1E7A46"/>
              </a:buClr>
              <a:buFont typeface="Arial"/>
              <a:buChar char="•"/>
            </a:pPr>
            <a:r>
              <a:rPr sz="1450" b="0" i="0">
                <a:solidFill>
                  <a:srgbClr val="1B2333"/>
                </a:solidFill>
                <a:latin typeface="Calibri"/>
              </a:rPr>
              <a:t>Forecast the </a:t>
            </a:r>
            <a:r>
              <a:rPr sz="1450" b="1" i="0">
                <a:solidFill>
                  <a:srgbClr val="1B2333"/>
                </a:solidFill>
                <a:latin typeface="Calibri"/>
              </a:rPr>
              <a:t>case wave for ~11–20 Jul</a:t>
            </a:r>
          </a:p>
        </p:txBody>
      </p:sp>
      <p:sp>
        <p:nvSpPr>
          <p:cNvPr id="19" name="Card: KEY RESEARCH FINDINGS"/>
          <p:cNvSpPr/>
          <p:nvPr/>
        </p:nvSpPr>
        <p:spPr>
          <a:xfrm>
            <a:off x="11292840" y="2670048"/>
            <a:ext cx="6217920" cy="303580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5875">
            <a:solidFill>
              <a:srgbClr val="C9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Header bar: KEY RESEARCH FINDINGS"/>
          <p:cNvSpPr/>
          <p:nvPr/>
        </p:nvSpPr>
        <p:spPr>
          <a:xfrm>
            <a:off x="11292840" y="2670048"/>
            <a:ext cx="6217920" cy="475488"/>
          </a:xfrm>
          <a:prstGeom prst="round2SameRect">
            <a:avLst>
              <a:gd name="adj1" fmla="val 30769"/>
              <a:gd name="adj2" fmla="val 0"/>
            </a:avLst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Header: KEY RESEARCH FINDINGS"/>
          <p:cNvSpPr txBox="1"/>
          <p:nvPr/>
        </p:nvSpPr>
        <p:spPr>
          <a:xfrm>
            <a:off x="11292840" y="2670048"/>
            <a:ext cx="62179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KEY RESEARCH FINDINGS</a:t>
            </a:r>
          </a:p>
        </p:txBody>
      </p:sp>
      <p:sp>
        <p:nvSpPr>
          <p:cNvPr id="22" name="Letter circle a"/>
          <p:cNvSpPr/>
          <p:nvPr/>
        </p:nvSpPr>
        <p:spPr>
          <a:xfrm>
            <a:off x="11457432" y="3319272"/>
            <a:ext cx="402336" cy="402336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Letter a"/>
          <p:cNvSpPr txBox="1"/>
          <p:nvPr/>
        </p:nvSpPr>
        <p:spPr>
          <a:xfrm>
            <a:off x="11457432" y="33192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4" name="Row 0: Cases follow floods by 7–12 days"/>
          <p:cNvSpPr txBox="1"/>
          <p:nvPr/>
        </p:nvSpPr>
        <p:spPr>
          <a:xfrm>
            <a:off x="11969496" y="3273552"/>
            <a:ext cx="5431536" cy="7802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F2341"/>
                </a:solidFill>
                <a:latin typeface="Calibri"/>
              </a:rPr>
              <a:t>Cases follow floods by 7–12 days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After the 2005 deluge, leptospirosis patients rose 8×, mostly on days 7–12 (Supe et al., 2018).</a:t>
            </a:r>
          </a:p>
        </p:txBody>
      </p:sp>
      <p:sp>
        <p:nvSpPr>
          <p:cNvPr id="25" name="Letter circle b"/>
          <p:cNvSpPr/>
          <p:nvPr/>
        </p:nvSpPr>
        <p:spPr>
          <a:xfrm>
            <a:off x="11457432" y="4099560"/>
            <a:ext cx="402336" cy="402336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Letter b"/>
          <p:cNvSpPr txBox="1"/>
          <p:nvPr/>
        </p:nvSpPr>
        <p:spPr>
          <a:xfrm>
            <a:off x="11457432" y="40995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7" name="Row 1: Official data is ~6 weeks late"/>
          <p:cNvSpPr txBox="1"/>
          <p:nvPr/>
        </p:nvSpPr>
        <p:spPr>
          <a:xfrm>
            <a:off x="11969496" y="4053840"/>
            <a:ext cx="5431536" cy="7802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F2341"/>
                </a:solidFill>
                <a:latin typeface="Calibri"/>
              </a:rPr>
              <a:t>Official data is ~6 weeks late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IDSP outbreak reports go online 37–51 days after each week ends (our check of 7 reports, 2025–26).</a:t>
            </a:r>
          </a:p>
        </p:txBody>
      </p:sp>
      <p:sp>
        <p:nvSpPr>
          <p:cNvPr id="28" name="Letter circle c"/>
          <p:cNvSpPr/>
          <p:nvPr/>
        </p:nvSpPr>
        <p:spPr>
          <a:xfrm>
            <a:off x="11457432" y="4879848"/>
            <a:ext cx="402336" cy="402336"/>
          </a:xfrm>
          <a:prstGeom prst="ellipse">
            <a:avLst/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Letter c"/>
          <p:cNvSpPr txBox="1"/>
          <p:nvPr/>
        </p:nvSpPr>
        <p:spPr>
          <a:xfrm>
            <a:off x="11457432" y="48798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0" name="Row 2: Free weather maps miss cloudbursts"/>
          <p:cNvSpPr txBox="1"/>
          <p:nvPr/>
        </p:nvSpPr>
        <p:spPr>
          <a:xfrm>
            <a:off x="11969496" y="4834128"/>
            <a:ext cx="5431536" cy="780288"/>
          </a:xfrm>
          <a:prstGeom prst="rect">
            <a:avLst/>
          </a:prstGeom>
          <a:noFill/>
        </p:spPr>
        <p:txBody>
          <a:bodyPr wrap="square" lIns="54864" tIns="36576" rIns="54864" bIns="36576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F2341"/>
                </a:solidFill>
                <a:latin typeface="Calibri"/>
              </a:rPr>
              <a:t>Free weather maps miss cloudbursts</a:t>
            </a:r>
          </a:p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26 Jul 2005: a free global map shows ~70 mm; real gauges recorded ~944 mm. VARSHA corrects with gauges.</a:t>
            </a:r>
          </a:p>
        </p:txBody>
      </p:sp>
      <p:sp>
        <p:nvSpPr>
          <p:cNvPr id="31" name="Flow heading 0"/>
          <p:cNvSpPr txBox="1"/>
          <p:nvPr/>
        </p:nvSpPr>
        <p:spPr>
          <a:xfrm>
            <a:off x="777240" y="5870448"/>
            <a:ext cx="1975104" cy="512064"/>
          </a:xfrm>
          <a:prstGeom prst="rect">
            <a:avLst/>
          </a:prstGeom>
          <a:noFill/>
        </p:spPr>
        <p:txBody>
          <a:bodyPr wrap="square" lIns="0" tIns="0" rIns="0" bIns="18288" anchor="b">
            <a:noAutofit/>
          </a:bodyPr>
          <a:lstStyle/>
          <a:p>
            <a:pPr algn="ctr"/>
            <a:r>
              <a:rPr sz="1100" b="1" i="0">
                <a:solidFill>
                  <a:srgbClr val="4F7F3F"/>
                </a:solidFill>
                <a:latin typeface="Calibri"/>
              </a:rPr>
              <a:t>STEP 1</a:t>
            </a:r>
          </a:p>
          <a:p>
            <a:pPr algn="ctr"/>
            <a:r>
              <a:rPr sz="1350" b="1" i="0">
                <a:solidFill>
                  <a:srgbClr val="4F7F3F"/>
                </a:solidFill>
                <a:latin typeface="Calibri"/>
              </a:rPr>
              <a:t>WHAT GOES IN</a:t>
            </a:r>
          </a:p>
        </p:txBody>
      </p:sp>
      <p:sp>
        <p:nvSpPr>
          <p:cNvPr id="32" name="Flow box 0.0: LIVE RAIN"/>
          <p:cNvSpPr/>
          <p:nvPr/>
        </p:nvSpPr>
        <p:spPr>
          <a:xfrm>
            <a:off x="777240" y="6437376"/>
            <a:ext cx="1975104" cy="1517904"/>
          </a:xfrm>
          <a:prstGeom prst="roundRect">
            <a:avLst>
              <a:gd name="adj" fmla="val 7228"/>
            </a:avLst>
          </a:prstGeom>
          <a:solidFill>
            <a:srgbClr val="DDEB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Icon: rain" descr="EA91_3F6B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6528816"/>
            <a:ext cx="246888" cy="246888"/>
          </a:xfrm>
          <a:prstGeom prst="rect">
            <a:avLst/>
          </a:prstGeom>
        </p:spPr>
      </p:pic>
      <p:sp>
        <p:nvSpPr>
          <p:cNvPr id="34" name="Flow box title 0.0"/>
          <p:cNvSpPr txBox="1"/>
          <p:nvPr/>
        </p:nvSpPr>
        <p:spPr>
          <a:xfrm>
            <a:off x="1161288" y="651052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3F6B32"/>
                </a:solidFill>
                <a:latin typeface="Calibri"/>
              </a:rPr>
              <a:t>LIVE RAIN</a:t>
            </a:r>
          </a:p>
        </p:txBody>
      </p:sp>
      <p:sp>
        <p:nvSpPr>
          <p:cNvPr id="35" name="Flow box body 0.0"/>
          <p:cNvSpPr txBox="1"/>
          <p:nvPr/>
        </p:nvSpPr>
        <p:spPr>
          <a:xfrm>
            <a:off x="868680" y="6830568"/>
            <a:ext cx="1810512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Hourly forecast for all 24 wards + real gauges (IMD, NOAA).</a:t>
            </a:r>
          </a:p>
        </p:txBody>
      </p:sp>
      <p:sp>
        <p:nvSpPr>
          <p:cNvPr id="36" name="Flow box 0.1: FLOOD &amp; PEOPLE MAP"/>
          <p:cNvSpPr/>
          <p:nvPr/>
        </p:nvSpPr>
        <p:spPr>
          <a:xfrm>
            <a:off x="777240" y="8083296"/>
            <a:ext cx="1975104" cy="1517904"/>
          </a:xfrm>
          <a:prstGeom prst="roundRect">
            <a:avLst>
              <a:gd name="adj" fmla="val 7228"/>
            </a:avLst>
          </a:prstGeom>
          <a:solidFill>
            <a:srgbClr val="DDEB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Icon: map" descr="E800_3F6B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8174736"/>
            <a:ext cx="246888" cy="246888"/>
          </a:xfrm>
          <a:prstGeom prst="rect">
            <a:avLst/>
          </a:prstGeom>
        </p:spPr>
      </p:pic>
      <p:sp>
        <p:nvSpPr>
          <p:cNvPr id="38" name="Flow box title 0.1"/>
          <p:cNvSpPr txBox="1"/>
          <p:nvPr/>
        </p:nvSpPr>
        <p:spPr>
          <a:xfrm>
            <a:off x="1161288" y="8156448"/>
            <a:ext cx="1536192" cy="432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3F6B32"/>
                </a:solidFill>
                <a:latin typeface="Calibri"/>
              </a:rPr>
              <a:t>FLOOD &amp; PEOPLE MAP</a:t>
            </a:r>
          </a:p>
        </p:txBody>
      </p:sp>
      <p:sp>
        <p:nvSpPr>
          <p:cNvPr id="39" name="Flow box body 0.1"/>
          <p:cNvSpPr txBox="1"/>
          <p:nvPr/>
        </p:nvSpPr>
        <p:spPr>
          <a:xfrm>
            <a:off x="868680" y="8625839"/>
            <a:ext cx="1810512" cy="920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386 flood spots, ward slum population, ~200 clinics.</a:t>
            </a:r>
          </a:p>
        </p:txBody>
      </p:sp>
      <p:sp>
        <p:nvSpPr>
          <p:cNvPr id="40" name="Flow arrow 0"/>
          <p:cNvSpPr/>
          <p:nvPr/>
        </p:nvSpPr>
        <p:spPr>
          <a:xfrm>
            <a:off x="2798064" y="7872983"/>
            <a:ext cx="182879" cy="292608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Flow heading 1"/>
          <p:cNvSpPr txBox="1"/>
          <p:nvPr/>
        </p:nvSpPr>
        <p:spPr>
          <a:xfrm>
            <a:off x="3026664" y="5870448"/>
            <a:ext cx="1975104" cy="512064"/>
          </a:xfrm>
          <a:prstGeom prst="rect">
            <a:avLst/>
          </a:prstGeom>
          <a:noFill/>
        </p:spPr>
        <p:txBody>
          <a:bodyPr wrap="square" lIns="0" tIns="0" rIns="0" bIns="18288" anchor="b">
            <a:noAutofit/>
          </a:bodyPr>
          <a:lstStyle/>
          <a:p>
            <a:pPr algn="ctr"/>
            <a:r>
              <a:rPr sz="1100" b="1" i="0">
                <a:solidFill>
                  <a:srgbClr val="A84C50"/>
                </a:solidFill>
                <a:latin typeface="Calibri"/>
              </a:rPr>
              <a:t>STEP 2</a:t>
            </a:r>
          </a:p>
          <a:p>
            <a:pPr algn="ctr"/>
            <a:r>
              <a:rPr sz="1350" b="1" i="0">
                <a:solidFill>
                  <a:srgbClr val="A84C50"/>
                </a:solidFill>
                <a:latin typeface="Calibri"/>
              </a:rPr>
              <a:t>MEASURING</a:t>
            </a:r>
          </a:p>
        </p:txBody>
      </p:sp>
      <p:sp>
        <p:nvSpPr>
          <p:cNvPr id="42" name="Flow box 1.0: RAIN CORRECTION"/>
          <p:cNvSpPr/>
          <p:nvPr/>
        </p:nvSpPr>
        <p:spPr>
          <a:xfrm>
            <a:off x="3026664" y="6437376"/>
            <a:ext cx="1975104" cy="1517904"/>
          </a:xfrm>
          <a:prstGeom prst="roundRect">
            <a:avLst>
              <a:gd name="adj" fmla="val 7228"/>
            </a:avLst>
          </a:prstGeom>
          <a:solidFill>
            <a:srgbClr val="F6D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Icon: ruler" descr="E9E9_8E3A3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18104" y="6528816"/>
            <a:ext cx="246888" cy="246888"/>
          </a:xfrm>
          <a:prstGeom prst="rect">
            <a:avLst/>
          </a:prstGeom>
        </p:spPr>
      </p:pic>
      <p:sp>
        <p:nvSpPr>
          <p:cNvPr id="44" name="Flow box title 1.0"/>
          <p:cNvSpPr txBox="1"/>
          <p:nvPr/>
        </p:nvSpPr>
        <p:spPr>
          <a:xfrm>
            <a:off x="3410712" y="651052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8E3A3E"/>
                </a:solidFill>
                <a:latin typeface="Calibri"/>
              </a:rPr>
              <a:t>RAIN CORRECTION</a:t>
            </a:r>
          </a:p>
        </p:txBody>
      </p:sp>
      <p:sp>
        <p:nvSpPr>
          <p:cNvPr id="45" name="Flow box body 1.0"/>
          <p:cNvSpPr txBox="1"/>
          <p:nvPr/>
        </p:nvSpPr>
        <p:spPr>
          <a:xfrm>
            <a:off x="3118104" y="6830568"/>
            <a:ext cx="1810512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Fixes forecast errors using real gauge records.</a:t>
            </a:r>
          </a:p>
        </p:txBody>
      </p:sp>
      <p:sp>
        <p:nvSpPr>
          <p:cNvPr id="46" name="Flow box 1.1: EXPOSURE SCORE"/>
          <p:cNvSpPr/>
          <p:nvPr/>
        </p:nvSpPr>
        <p:spPr>
          <a:xfrm>
            <a:off x="3026664" y="8083296"/>
            <a:ext cx="1975104" cy="1517904"/>
          </a:xfrm>
          <a:prstGeom prst="roundRect">
            <a:avLst>
              <a:gd name="adj" fmla="val 7228"/>
            </a:avLst>
          </a:prstGeom>
          <a:solidFill>
            <a:srgbClr val="F6D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Icon: gauge" descr="EC48_8E3A3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18104" y="8174736"/>
            <a:ext cx="246888" cy="246888"/>
          </a:xfrm>
          <a:prstGeom prst="rect">
            <a:avLst/>
          </a:prstGeom>
        </p:spPr>
      </p:pic>
      <p:sp>
        <p:nvSpPr>
          <p:cNvPr id="48" name="Flow box title 1.1"/>
          <p:cNvSpPr txBox="1"/>
          <p:nvPr/>
        </p:nvSpPr>
        <p:spPr>
          <a:xfrm>
            <a:off x="3410712" y="815644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8E3A3E"/>
                </a:solidFill>
                <a:latin typeface="Calibri"/>
              </a:rPr>
              <a:t>EXPOSURE SCORE</a:t>
            </a:r>
          </a:p>
        </p:txBody>
      </p:sp>
      <p:sp>
        <p:nvSpPr>
          <p:cNvPr id="49" name="Flow box body 1.1"/>
          <p:cNvSpPr txBox="1"/>
          <p:nvPr/>
        </p:nvSpPr>
        <p:spPr>
          <a:xfrm>
            <a:off x="3118104" y="8476487"/>
            <a:ext cx="1810512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Rain × flood spots × people, for each ward, each day.</a:t>
            </a:r>
          </a:p>
        </p:txBody>
      </p:sp>
      <p:sp>
        <p:nvSpPr>
          <p:cNvPr id="50" name="Flow arrow 1"/>
          <p:cNvSpPr/>
          <p:nvPr/>
        </p:nvSpPr>
        <p:spPr>
          <a:xfrm>
            <a:off x="5047488" y="7872983"/>
            <a:ext cx="182879" cy="292608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Flow heading 2"/>
          <p:cNvSpPr txBox="1"/>
          <p:nvPr/>
        </p:nvSpPr>
        <p:spPr>
          <a:xfrm>
            <a:off x="5276088" y="5870448"/>
            <a:ext cx="1975104" cy="512064"/>
          </a:xfrm>
          <a:prstGeom prst="rect">
            <a:avLst/>
          </a:prstGeom>
          <a:noFill/>
        </p:spPr>
        <p:txBody>
          <a:bodyPr wrap="square" lIns="0" tIns="0" rIns="0" bIns="18288" anchor="b">
            <a:noAutofit/>
          </a:bodyPr>
          <a:lstStyle/>
          <a:p>
            <a:pPr algn="ctr"/>
            <a:r>
              <a:rPr sz="1100" b="1" i="0">
                <a:solidFill>
                  <a:srgbClr val="B37A10"/>
                </a:solidFill>
                <a:latin typeface="Calibri"/>
              </a:rPr>
              <a:t>STEP 3</a:t>
            </a:r>
          </a:p>
          <a:p>
            <a:pPr algn="ctr"/>
            <a:r>
              <a:rPr sz="1350" b="1" i="0">
                <a:solidFill>
                  <a:srgbClr val="B37A10"/>
                </a:solidFill>
                <a:latin typeface="Calibri"/>
              </a:rPr>
              <a:t>FORECAST</a:t>
            </a:r>
          </a:p>
        </p:txBody>
      </p:sp>
      <p:sp>
        <p:nvSpPr>
          <p:cNvPr id="52" name="Flow box 2.0: OUTBREAK FORECAST"/>
          <p:cNvSpPr/>
          <p:nvPr/>
        </p:nvSpPr>
        <p:spPr>
          <a:xfrm>
            <a:off x="5276088" y="6437376"/>
            <a:ext cx="1975104" cy="3163824"/>
          </a:xfrm>
          <a:prstGeom prst="roundRect">
            <a:avLst>
              <a:gd name="adj" fmla="val 5555"/>
            </a:avLst>
          </a:prstGeom>
          <a:solidFill>
            <a:srgbClr val="FBE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Icon: chart" descr="E9D2_8A5A0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67527" y="6528816"/>
            <a:ext cx="246888" cy="246888"/>
          </a:xfrm>
          <a:prstGeom prst="rect">
            <a:avLst/>
          </a:prstGeom>
        </p:spPr>
      </p:pic>
      <p:sp>
        <p:nvSpPr>
          <p:cNvPr id="54" name="Flow box title 2.0"/>
          <p:cNvSpPr txBox="1"/>
          <p:nvPr/>
        </p:nvSpPr>
        <p:spPr>
          <a:xfrm>
            <a:off x="5660136" y="651052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8A5A08"/>
                </a:solidFill>
                <a:latin typeface="Calibri"/>
              </a:rPr>
              <a:t>OUTBREAK FORECAST</a:t>
            </a:r>
          </a:p>
        </p:txBody>
      </p:sp>
      <p:sp>
        <p:nvSpPr>
          <p:cNvPr id="55" name="Flow box body 2.0"/>
          <p:cNvSpPr txBox="1"/>
          <p:nvPr/>
        </p:nvSpPr>
        <p:spPr>
          <a:xfrm>
            <a:off x="5367527" y="6830568"/>
            <a:ext cx="1810512" cy="2715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49896" indent="-149896">
              <a:spcAft>
                <a:spcPts val="600"/>
              </a:spcAft>
              <a:buClr>
                <a:srgbClr val="8A5A08"/>
              </a:buClr>
              <a:buFont typeface="Arial"/>
              <a:buChar char="•"/>
            </a:pPr>
            <a:r>
              <a:rPr sz="1350" b="0" i="0">
                <a:solidFill>
                  <a:srgbClr val="1B2333"/>
                </a:solidFill>
                <a:latin typeface="Calibri"/>
              </a:rPr>
              <a:t>Leptospirosis: case wave 7–14 days after floods</a:t>
            </a:r>
          </a:p>
          <a:p>
            <a:pPr algn="l" marL="149896" indent="-149896">
              <a:spcAft>
                <a:spcPts val="600"/>
              </a:spcAft>
              <a:buClr>
                <a:srgbClr val="8A5A08"/>
              </a:buClr>
              <a:buFont typeface="Arial"/>
              <a:buChar char="•"/>
            </a:pPr>
            <a:r>
              <a:rPr sz="1350" b="0" i="0">
                <a:solidFill>
                  <a:srgbClr val="1B2333"/>
                </a:solidFill>
                <a:latin typeface="Calibri"/>
              </a:rPr>
              <a:t>Dengue &amp; malaria: risk weeks ahead</a:t>
            </a:r>
          </a:p>
          <a:p>
            <a:pPr algn="l" marL="149896" indent="-149896">
              <a:spcAft>
                <a:spcPts val="1000"/>
              </a:spcAft>
              <a:buClr>
                <a:srgbClr val="8A5A08"/>
              </a:buClr>
              <a:buFont typeface="Arial"/>
              <a:buChar char="•"/>
            </a:pPr>
            <a:r>
              <a:rPr sz="1350" b="0" i="0">
                <a:solidFill>
                  <a:srgbClr val="1B2333"/>
                </a:solidFill>
                <a:latin typeface="Calibri"/>
              </a:rPr>
              <a:t>Spike check on IDSP &amp; BMC data</a:t>
            </a:r>
          </a:p>
          <a:p>
            <a:pPr algn="l"/>
            <a:r>
              <a:rPr sz="1350" b="1" i="0">
                <a:solidFill>
                  <a:srgbClr val="8A5A08"/>
                </a:solidFill>
                <a:latin typeface="Calibri"/>
              </a:rPr>
              <a:t>Result:</a:t>
            </a:r>
            <a:r>
              <a:rPr sz="1350" b="0" i="0">
                <a:solidFill>
                  <a:srgbClr val="8A5A08"/>
                </a:solidFill>
                <a:latin typeface="Calibri"/>
              </a:rPr>
              <a:t> WATCH / WARNING / EMERGENCY for every ward</a:t>
            </a:r>
          </a:p>
        </p:txBody>
      </p:sp>
      <p:sp>
        <p:nvSpPr>
          <p:cNvPr id="56" name="Flow arrow 2"/>
          <p:cNvSpPr/>
          <p:nvPr/>
        </p:nvSpPr>
        <p:spPr>
          <a:xfrm>
            <a:off x="7296912" y="7872983"/>
            <a:ext cx="182879" cy="292608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Flow heading 3"/>
          <p:cNvSpPr txBox="1"/>
          <p:nvPr/>
        </p:nvSpPr>
        <p:spPr>
          <a:xfrm>
            <a:off x="7525512" y="5870448"/>
            <a:ext cx="1975104" cy="512064"/>
          </a:xfrm>
          <a:prstGeom prst="rect">
            <a:avLst/>
          </a:prstGeom>
          <a:noFill/>
        </p:spPr>
        <p:txBody>
          <a:bodyPr wrap="square" lIns="0" tIns="0" rIns="0" bIns="18288" anchor="b">
            <a:noAutofit/>
          </a:bodyPr>
          <a:lstStyle/>
          <a:p>
            <a:pPr algn="ctr"/>
            <a:r>
              <a:rPr sz="1100" b="1" i="0">
                <a:solidFill>
                  <a:srgbClr val="6E54A0"/>
                </a:solidFill>
                <a:latin typeface="Calibri"/>
              </a:rPr>
              <a:t>STEP 4</a:t>
            </a:r>
          </a:p>
          <a:p>
            <a:pPr algn="ctr"/>
            <a:r>
              <a:rPr sz="1350" b="1" i="0">
                <a:solidFill>
                  <a:srgbClr val="6E54A0"/>
                </a:solidFill>
                <a:latin typeface="Calibri"/>
              </a:rPr>
              <a:t>DECISION</a:t>
            </a:r>
          </a:p>
        </p:txBody>
      </p:sp>
      <p:sp>
        <p:nvSpPr>
          <p:cNvPr id="58" name="Flow box 3.0: ACTION PLANNER"/>
          <p:cNvSpPr/>
          <p:nvPr/>
        </p:nvSpPr>
        <p:spPr>
          <a:xfrm>
            <a:off x="7525512" y="6437376"/>
            <a:ext cx="1975104" cy="1517904"/>
          </a:xfrm>
          <a:prstGeom prst="roundRect">
            <a:avLst>
              <a:gd name="adj" fmla="val 7228"/>
            </a:avLst>
          </a:prstGeom>
          <a:solidFill>
            <a:srgbClr val="E8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Icon: target" descr="F272_57408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16952" y="6528816"/>
            <a:ext cx="246888" cy="246888"/>
          </a:xfrm>
          <a:prstGeom prst="rect">
            <a:avLst/>
          </a:prstGeom>
        </p:spPr>
      </p:pic>
      <p:sp>
        <p:nvSpPr>
          <p:cNvPr id="60" name="Flow box title 3.0"/>
          <p:cNvSpPr txBox="1"/>
          <p:nvPr/>
        </p:nvSpPr>
        <p:spPr>
          <a:xfrm>
            <a:off x="7909560" y="651052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57408A"/>
                </a:solidFill>
                <a:latin typeface="Calibri"/>
              </a:rPr>
              <a:t>ACTION PLANNER</a:t>
            </a:r>
          </a:p>
        </p:txBody>
      </p:sp>
      <p:sp>
        <p:nvSpPr>
          <p:cNvPr id="61" name="Flow box body 3.0"/>
          <p:cNvSpPr txBox="1"/>
          <p:nvPr/>
        </p:nvSpPr>
        <p:spPr>
          <a:xfrm>
            <a:off x="7616952" y="6830568"/>
            <a:ext cx="1810512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Camps, doctors and spray teams go to the top-risk wards first.</a:t>
            </a:r>
          </a:p>
        </p:txBody>
      </p:sp>
      <p:sp>
        <p:nvSpPr>
          <p:cNvPr id="62" name="Flow box 3.1: WHY THIS ALERT?"/>
          <p:cNvSpPr/>
          <p:nvPr/>
        </p:nvSpPr>
        <p:spPr>
          <a:xfrm>
            <a:off x="7525512" y="8083296"/>
            <a:ext cx="1975104" cy="1517904"/>
          </a:xfrm>
          <a:prstGeom prst="roundRect">
            <a:avLst>
              <a:gd name="adj" fmla="val 7228"/>
            </a:avLst>
          </a:prstGeom>
          <a:solidFill>
            <a:srgbClr val="E8E0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3" name="Icon: search" descr="E721_57408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16952" y="8174736"/>
            <a:ext cx="246888" cy="246888"/>
          </a:xfrm>
          <a:prstGeom prst="rect">
            <a:avLst/>
          </a:prstGeom>
        </p:spPr>
      </p:pic>
      <p:sp>
        <p:nvSpPr>
          <p:cNvPr id="64" name="Flow box title 3.1"/>
          <p:cNvSpPr txBox="1"/>
          <p:nvPr/>
        </p:nvSpPr>
        <p:spPr>
          <a:xfrm>
            <a:off x="7909560" y="815644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57408A"/>
                </a:solidFill>
                <a:latin typeface="Calibri"/>
              </a:rPr>
              <a:t>WHY THIS ALERT?</a:t>
            </a:r>
          </a:p>
        </p:txBody>
      </p:sp>
      <p:sp>
        <p:nvSpPr>
          <p:cNvPr id="65" name="Flow box body 3.1"/>
          <p:cNvSpPr txBox="1"/>
          <p:nvPr/>
        </p:nvSpPr>
        <p:spPr>
          <a:xfrm>
            <a:off x="7616952" y="8476487"/>
            <a:ext cx="1810512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0" i="0">
                <a:solidFill>
                  <a:srgbClr val="1B2333"/>
                </a:solidFill>
                <a:latin typeface="Calibri"/>
              </a:rPr>
              <a:t>Shows the rain, flood spots and past floods behind it.</a:t>
            </a:r>
          </a:p>
        </p:txBody>
      </p:sp>
      <p:sp>
        <p:nvSpPr>
          <p:cNvPr id="66" name="Flow arrow 3"/>
          <p:cNvSpPr/>
          <p:nvPr/>
        </p:nvSpPr>
        <p:spPr>
          <a:xfrm>
            <a:off x="9546336" y="7872983"/>
            <a:ext cx="182879" cy="292608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Flow heading 4"/>
          <p:cNvSpPr txBox="1"/>
          <p:nvPr/>
        </p:nvSpPr>
        <p:spPr>
          <a:xfrm>
            <a:off x="9774936" y="5870448"/>
            <a:ext cx="1975104" cy="512064"/>
          </a:xfrm>
          <a:prstGeom prst="rect">
            <a:avLst/>
          </a:prstGeom>
          <a:noFill/>
        </p:spPr>
        <p:txBody>
          <a:bodyPr wrap="square" lIns="0" tIns="0" rIns="0" bIns="18288" anchor="b">
            <a:noAutofit/>
          </a:bodyPr>
          <a:lstStyle/>
          <a:p>
            <a:pPr algn="ctr"/>
            <a:r>
              <a:rPr sz="1100" b="1" i="0">
                <a:solidFill>
                  <a:srgbClr val="2F7E6E"/>
                </a:solidFill>
                <a:latin typeface="Calibri"/>
              </a:rPr>
              <a:t>STEP 5</a:t>
            </a:r>
          </a:p>
          <a:p>
            <a:pPr algn="ctr"/>
            <a:r>
              <a:rPr sz="1350" b="1" i="0">
                <a:solidFill>
                  <a:srgbClr val="2F7E6E"/>
                </a:solidFill>
                <a:latin typeface="Calibri"/>
              </a:rPr>
              <a:t>ALERTS</a:t>
            </a:r>
          </a:p>
        </p:txBody>
      </p:sp>
      <p:sp>
        <p:nvSpPr>
          <p:cNvPr id="68" name="Flow box 4.0: CITIZEN ALERTS"/>
          <p:cNvSpPr/>
          <p:nvPr/>
        </p:nvSpPr>
        <p:spPr>
          <a:xfrm>
            <a:off x="9774936" y="6437376"/>
            <a:ext cx="1975104" cy="969263"/>
          </a:xfrm>
          <a:prstGeom prst="roundRect">
            <a:avLst>
              <a:gd name="adj" fmla="val 11320"/>
            </a:avLst>
          </a:prstGeom>
          <a:solidFill>
            <a:srgbClr val="D6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9" name="Icon: message" descr="E8BD_23645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66376" y="6528816"/>
            <a:ext cx="246888" cy="246888"/>
          </a:xfrm>
          <a:prstGeom prst="rect">
            <a:avLst/>
          </a:prstGeom>
        </p:spPr>
      </p:pic>
      <p:sp>
        <p:nvSpPr>
          <p:cNvPr id="70" name="Flow box title 4.0"/>
          <p:cNvSpPr txBox="1"/>
          <p:nvPr/>
        </p:nvSpPr>
        <p:spPr>
          <a:xfrm>
            <a:off x="10158984" y="651052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36456"/>
                </a:solidFill>
                <a:latin typeface="Calibri"/>
              </a:rPr>
              <a:t>CITIZEN ALERTS</a:t>
            </a:r>
          </a:p>
        </p:txBody>
      </p:sp>
      <p:sp>
        <p:nvSpPr>
          <p:cNvPr id="71" name="Flow box body 4.0"/>
          <p:cNvSpPr txBox="1"/>
          <p:nvPr/>
        </p:nvSpPr>
        <p:spPr>
          <a:xfrm>
            <a:off x="9866376" y="6830568"/>
            <a:ext cx="1810512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“Visit an Aapla Dawakhana within 72 hours.”</a:t>
            </a:r>
          </a:p>
        </p:txBody>
      </p:sp>
      <p:sp>
        <p:nvSpPr>
          <p:cNvPr id="72" name="Flow box 4.1: WARD ACTION SHEET"/>
          <p:cNvSpPr/>
          <p:nvPr/>
        </p:nvSpPr>
        <p:spPr>
          <a:xfrm>
            <a:off x="9774936" y="7534656"/>
            <a:ext cx="1975104" cy="969263"/>
          </a:xfrm>
          <a:prstGeom prst="roundRect">
            <a:avLst>
              <a:gd name="adj" fmla="val 11320"/>
            </a:avLst>
          </a:prstGeom>
          <a:solidFill>
            <a:srgbClr val="D6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3" name="Icon: pdf" descr="EA90_23645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66376" y="7626096"/>
            <a:ext cx="246888" cy="246888"/>
          </a:xfrm>
          <a:prstGeom prst="rect">
            <a:avLst/>
          </a:prstGeom>
        </p:spPr>
      </p:pic>
      <p:sp>
        <p:nvSpPr>
          <p:cNvPr id="74" name="Flow box title 4.1"/>
          <p:cNvSpPr txBox="1"/>
          <p:nvPr/>
        </p:nvSpPr>
        <p:spPr>
          <a:xfrm>
            <a:off x="10158984" y="760780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36456"/>
                </a:solidFill>
                <a:latin typeface="Calibri"/>
              </a:rPr>
              <a:t>WARD ACTION SHEET</a:t>
            </a:r>
          </a:p>
        </p:txBody>
      </p:sp>
      <p:sp>
        <p:nvSpPr>
          <p:cNvPr id="75" name="Flow box body 4.1"/>
          <p:cNvSpPr txBox="1"/>
          <p:nvPr/>
        </p:nvSpPr>
        <p:spPr>
          <a:xfrm>
            <a:off x="9866376" y="7927847"/>
            <a:ext cx="1810512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One-page plan for each ward health officer.</a:t>
            </a:r>
          </a:p>
        </p:txBody>
      </p:sp>
      <p:sp>
        <p:nvSpPr>
          <p:cNvPr id="76" name="Flow box 4.2: DOCTOR ALERT"/>
          <p:cNvSpPr/>
          <p:nvPr/>
        </p:nvSpPr>
        <p:spPr>
          <a:xfrm>
            <a:off x="9774936" y="8631936"/>
            <a:ext cx="1975104" cy="969263"/>
          </a:xfrm>
          <a:prstGeom prst="roundRect">
            <a:avLst>
              <a:gd name="adj" fmla="val 11320"/>
            </a:avLst>
          </a:prstGeom>
          <a:solidFill>
            <a:srgbClr val="D6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Icon: cross" descr="F10E_23645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66376" y="8723376"/>
            <a:ext cx="246888" cy="246888"/>
          </a:xfrm>
          <a:prstGeom prst="rect">
            <a:avLst/>
          </a:prstGeom>
        </p:spPr>
      </p:pic>
      <p:sp>
        <p:nvSpPr>
          <p:cNvPr id="78" name="Flow box title 4.2"/>
          <p:cNvSpPr txBox="1"/>
          <p:nvPr/>
        </p:nvSpPr>
        <p:spPr>
          <a:xfrm>
            <a:off x="10158984" y="8705088"/>
            <a:ext cx="1536192" cy="234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36456"/>
                </a:solidFill>
                <a:latin typeface="Calibri"/>
              </a:rPr>
              <a:t>DOCTOR ALERT</a:t>
            </a:r>
          </a:p>
        </p:txBody>
      </p:sp>
      <p:sp>
        <p:nvSpPr>
          <p:cNvPr id="79" name="Flow box body 4.2"/>
          <p:cNvSpPr txBox="1"/>
          <p:nvPr/>
        </p:nvSpPr>
        <p:spPr>
          <a:xfrm>
            <a:off x="9866376" y="9025127"/>
            <a:ext cx="1810512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1B2333"/>
                </a:solidFill>
                <a:latin typeface="Calibri"/>
              </a:rPr>
              <a:t>Expect leptospirosis cases; treat fever early.</a:t>
            </a:r>
          </a:p>
        </p:txBody>
      </p:sp>
      <p:sp>
        <p:nvSpPr>
          <p:cNvPr id="80" name="Card: KEY REFERENCES"/>
          <p:cNvSpPr/>
          <p:nvPr/>
        </p:nvSpPr>
        <p:spPr>
          <a:xfrm>
            <a:off x="12024360" y="5870448"/>
            <a:ext cx="5486400" cy="3730752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15875">
            <a:solidFill>
              <a:srgbClr val="C9D3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Header bar: KEY REFERENCES"/>
          <p:cNvSpPr/>
          <p:nvPr/>
        </p:nvSpPr>
        <p:spPr>
          <a:xfrm>
            <a:off x="12024360" y="5870448"/>
            <a:ext cx="5486400" cy="457200"/>
          </a:xfrm>
          <a:prstGeom prst="round2SameRect">
            <a:avLst>
              <a:gd name="adj1" fmla="val 32000"/>
              <a:gd name="adj2" fmla="val 0"/>
            </a:avLst>
          </a:prstGeom>
          <a:solidFill>
            <a:srgbClr val="0F23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Header: KEY REFERENCES"/>
          <p:cNvSpPr txBox="1"/>
          <p:nvPr/>
        </p:nvSpPr>
        <p:spPr>
          <a:xfrm>
            <a:off x="12024360" y="587044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KEY REFERENCES</a:t>
            </a:r>
          </a:p>
        </p:txBody>
      </p:sp>
      <p:sp>
        <p:nvSpPr>
          <p:cNvPr id="83" name="Column label left"/>
          <p:cNvSpPr txBox="1"/>
          <p:nvPr/>
        </p:nvSpPr>
        <p:spPr>
          <a:xfrm>
            <a:off x="12161520" y="6382512"/>
            <a:ext cx="228234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1" i="0">
                <a:solidFill>
                  <a:srgbClr val="5B6577"/>
                </a:solidFill>
                <a:latin typeface="Calibri"/>
              </a:rPr>
              <a:t>OUR CLAIM</a:t>
            </a:r>
          </a:p>
        </p:txBody>
      </p:sp>
      <p:sp>
        <p:nvSpPr>
          <p:cNvPr id="84" name="Column label right"/>
          <p:cNvSpPr txBox="1"/>
          <p:nvPr/>
        </p:nvSpPr>
        <p:spPr>
          <a:xfrm>
            <a:off x="14901062" y="6382512"/>
            <a:ext cx="247253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50" b="1" i="0">
                <a:solidFill>
                  <a:srgbClr val="5B6577"/>
                </a:solidFill>
                <a:latin typeface="Calibri"/>
              </a:rPr>
              <a:t>SOURCE</a:t>
            </a:r>
          </a:p>
        </p:txBody>
      </p:sp>
      <p:sp>
        <p:nvSpPr>
          <p:cNvPr id="85" name="Pill left 0"/>
          <p:cNvSpPr/>
          <p:nvPr/>
        </p:nvSpPr>
        <p:spPr>
          <a:xfrm>
            <a:off x="12161520" y="6711696"/>
            <a:ext cx="2282342" cy="479145"/>
          </a:xfrm>
          <a:prstGeom prst="roundRect">
            <a:avLst>
              <a:gd name="adj" fmla="val 50000"/>
            </a:avLst>
          </a:prstGeom>
          <a:solidFill>
            <a:srgbClr val="FCD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Pill left text 0"/>
          <p:cNvSpPr txBox="1"/>
          <p:nvPr/>
        </p:nvSpPr>
        <p:spPr>
          <a:xfrm>
            <a:off x="12252960" y="6711696"/>
            <a:ext cx="2099462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6B3D0F"/>
                </a:solidFill>
                <a:latin typeface="Calibri"/>
              </a:rPr>
              <a:t>Cases rise 7–12 days after floods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4507870" y="6951268"/>
            <a:ext cx="329184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88" name="Pill right 0"/>
          <p:cNvSpPr/>
          <p:nvPr/>
        </p:nvSpPr>
        <p:spPr>
          <a:xfrm>
            <a:off x="14901062" y="6711696"/>
            <a:ext cx="2472537" cy="479145"/>
          </a:xfrm>
          <a:prstGeom prst="roundRect">
            <a:avLst>
              <a:gd name="adj" fmla="val 50000"/>
            </a:avLst>
          </a:prstGeom>
          <a:solidFill>
            <a:srgbClr val="F6A8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Pill right text 0"/>
          <p:cNvSpPr txBox="1"/>
          <p:nvPr/>
        </p:nvSpPr>
        <p:spPr>
          <a:xfrm>
            <a:off x="14992502" y="6711696"/>
            <a:ext cx="2289657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3D1E06"/>
                </a:solidFill>
                <a:latin typeface="Calibri"/>
              </a:rPr>
              <a:t>Supe et al., Natl Med J India, 2018</a:t>
            </a:r>
          </a:p>
        </p:txBody>
      </p:sp>
      <p:sp>
        <p:nvSpPr>
          <p:cNvPr id="90" name="Pill left 1"/>
          <p:cNvSpPr/>
          <p:nvPr/>
        </p:nvSpPr>
        <p:spPr>
          <a:xfrm>
            <a:off x="12161520" y="7282281"/>
            <a:ext cx="2282342" cy="479145"/>
          </a:xfrm>
          <a:prstGeom prst="roundRect">
            <a:avLst>
              <a:gd name="adj" fmla="val 50000"/>
            </a:avLst>
          </a:prstGeom>
          <a:solidFill>
            <a:srgbClr val="FCD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Pill left text 1"/>
          <p:cNvSpPr txBox="1"/>
          <p:nvPr/>
        </p:nvSpPr>
        <p:spPr>
          <a:xfrm>
            <a:off x="12252960" y="7282281"/>
            <a:ext cx="2099462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6B3D0F"/>
                </a:solidFill>
                <a:latin typeface="Calibri"/>
              </a:rPr>
              <a:t>Lepto cases 33 → 78 in July 2026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4507870" y="7521854"/>
            <a:ext cx="329184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93" name="Pill right 1"/>
          <p:cNvSpPr/>
          <p:nvPr/>
        </p:nvSpPr>
        <p:spPr>
          <a:xfrm>
            <a:off x="14901062" y="7282281"/>
            <a:ext cx="2472537" cy="479145"/>
          </a:xfrm>
          <a:prstGeom prst="roundRect">
            <a:avLst>
              <a:gd name="adj" fmla="val 50000"/>
            </a:avLst>
          </a:prstGeom>
          <a:solidFill>
            <a:srgbClr val="F6A8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Pill right text 1"/>
          <p:cNvSpPr txBox="1"/>
          <p:nvPr/>
        </p:nvSpPr>
        <p:spPr>
          <a:xfrm>
            <a:off x="14992502" y="7282281"/>
            <a:ext cx="2289657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3D1E06"/>
                </a:solidFill>
                <a:latin typeface="Calibri"/>
              </a:rPr>
              <a:t>BMC data via Free Press Journal, 2026</a:t>
            </a:r>
          </a:p>
        </p:txBody>
      </p:sp>
      <p:sp>
        <p:nvSpPr>
          <p:cNvPr id="95" name="Pill left 2"/>
          <p:cNvSpPr/>
          <p:nvPr/>
        </p:nvSpPr>
        <p:spPr>
          <a:xfrm>
            <a:off x="12161520" y="7852867"/>
            <a:ext cx="2282342" cy="479145"/>
          </a:xfrm>
          <a:prstGeom prst="roundRect">
            <a:avLst>
              <a:gd name="adj" fmla="val 50000"/>
            </a:avLst>
          </a:prstGeom>
          <a:solidFill>
            <a:srgbClr val="FCD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Pill left text 2"/>
          <p:cNvSpPr txBox="1"/>
          <p:nvPr/>
        </p:nvSpPr>
        <p:spPr>
          <a:xfrm>
            <a:off x="12252960" y="7852867"/>
            <a:ext cx="2099462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6B3D0F"/>
                </a:solidFill>
                <a:latin typeface="Calibri"/>
              </a:rPr>
              <a:t>Care within 24–72 hours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4507870" y="8092440"/>
            <a:ext cx="329184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98" name="Pill right 2"/>
          <p:cNvSpPr/>
          <p:nvPr/>
        </p:nvSpPr>
        <p:spPr>
          <a:xfrm>
            <a:off x="14901062" y="7852867"/>
            <a:ext cx="2472537" cy="479145"/>
          </a:xfrm>
          <a:prstGeom prst="roundRect">
            <a:avLst>
              <a:gd name="adj" fmla="val 50000"/>
            </a:avLst>
          </a:prstGeom>
          <a:solidFill>
            <a:srgbClr val="F6A8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Pill right text 2"/>
          <p:cNvSpPr txBox="1"/>
          <p:nvPr/>
        </p:nvSpPr>
        <p:spPr>
          <a:xfrm>
            <a:off x="14992502" y="7852867"/>
            <a:ext cx="2289657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3D1E06"/>
                </a:solidFill>
                <a:latin typeface="Calibri"/>
              </a:rPr>
              <a:t>BMC advisory, 6 Jul 2026</a:t>
            </a:r>
          </a:p>
        </p:txBody>
      </p:sp>
      <p:sp>
        <p:nvSpPr>
          <p:cNvPr id="100" name="Pill left 3"/>
          <p:cNvSpPr/>
          <p:nvPr/>
        </p:nvSpPr>
        <p:spPr>
          <a:xfrm>
            <a:off x="12161520" y="8423452"/>
            <a:ext cx="2282342" cy="479145"/>
          </a:xfrm>
          <a:prstGeom prst="roundRect">
            <a:avLst>
              <a:gd name="adj" fmla="val 50000"/>
            </a:avLst>
          </a:prstGeom>
          <a:solidFill>
            <a:srgbClr val="FCD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Pill left text 3"/>
          <p:cNvSpPr txBox="1"/>
          <p:nvPr/>
        </p:nvSpPr>
        <p:spPr>
          <a:xfrm>
            <a:off x="12252960" y="8423452"/>
            <a:ext cx="2099462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6B3D0F"/>
                </a:solidFill>
                <a:latin typeface="Calibri"/>
              </a:rPr>
              <a:t>29,433 IDSP outbreak records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4507870" y="8663025"/>
            <a:ext cx="329184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103" name="Pill right 3"/>
          <p:cNvSpPr/>
          <p:nvPr/>
        </p:nvSpPr>
        <p:spPr>
          <a:xfrm>
            <a:off x="14901062" y="8423452"/>
            <a:ext cx="2472537" cy="479145"/>
          </a:xfrm>
          <a:prstGeom prst="roundRect">
            <a:avLst>
              <a:gd name="adj" fmla="val 50000"/>
            </a:avLst>
          </a:prstGeom>
          <a:solidFill>
            <a:srgbClr val="F6A8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Pill right text 3"/>
          <p:cNvSpPr txBox="1"/>
          <p:nvPr/>
        </p:nvSpPr>
        <p:spPr>
          <a:xfrm>
            <a:off x="14992502" y="8423452"/>
            <a:ext cx="2289657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3D1E06"/>
                </a:solidFill>
                <a:latin typeface="Calibri"/>
              </a:rPr>
              <a:t>IDSP (NCDC), via Dataful</a:t>
            </a:r>
          </a:p>
        </p:txBody>
      </p:sp>
      <p:sp>
        <p:nvSpPr>
          <p:cNvPr id="105" name="Pill left 4"/>
          <p:cNvSpPr/>
          <p:nvPr/>
        </p:nvSpPr>
        <p:spPr>
          <a:xfrm>
            <a:off x="12161520" y="8994038"/>
            <a:ext cx="2282342" cy="479145"/>
          </a:xfrm>
          <a:prstGeom prst="roundRect">
            <a:avLst>
              <a:gd name="adj" fmla="val 50000"/>
            </a:avLst>
          </a:prstGeom>
          <a:solidFill>
            <a:srgbClr val="FCD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Pill left text 4"/>
          <p:cNvSpPr txBox="1"/>
          <p:nvPr/>
        </p:nvSpPr>
        <p:spPr>
          <a:xfrm>
            <a:off x="12252960" y="8994038"/>
            <a:ext cx="2099462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6B3D0F"/>
                </a:solidFill>
                <a:latin typeface="Calibri"/>
              </a:rPr>
              <a:t>Dengue warning is “rudimentary”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4507870" y="9233611"/>
            <a:ext cx="329184" cy="0"/>
          </a:xfrm>
          <a:prstGeom prst="line">
            <a:avLst/>
          </a:prstGeom>
          <a:ln w="22225">
            <a:solidFill>
              <a:srgbClr val="7C8796"/>
            </a:solidFill>
            <a:tailEnd type="triangle" w="med" len="med"/>
          </a:ln>
        </p:spPr>
      </p:cxnSp>
      <p:sp>
        <p:nvSpPr>
          <p:cNvPr id="108" name="Pill right 4"/>
          <p:cNvSpPr/>
          <p:nvPr/>
        </p:nvSpPr>
        <p:spPr>
          <a:xfrm>
            <a:off x="14901062" y="8994038"/>
            <a:ext cx="2472537" cy="479145"/>
          </a:xfrm>
          <a:prstGeom prst="roundRect">
            <a:avLst>
              <a:gd name="adj" fmla="val 50000"/>
            </a:avLst>
          </a:prstGeom>
          <a:solidFill>
            <a:srgbClr val="F6A8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Pill right text 4"/>
          <p:cNvSpPr txBox="1"/>
          <p:nvPr/>
        </p:nvSpPr>
        <p:spPr>
          <a:xfrm>
            <a:off x="14992502" y="8994038"/>
            <a:ext cx="2289657" cy="4791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3D1E06"/>
                </a:solidFill>
                <a:latin typeface="Calibri"/>
              </a:rPr>
              <a:t>IITM Pune, Scientific Reports, 2025</a:t>
            </a:r>
          </a:p>
        </p:txBody>
      </p:sp>
      <p:sp>
        <p:nvSpPr>
          <p:cNvPr id="110" name="Sources line"/>
          <p:cNvSpPr txBox="1"/>
          <p:nvPr/>
        </p:nvSpPr>
        <p:spPr>
          <a:xfrm>
            <a:off x="777240" y="9656064"/>
            <a:ext cx="16733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1">
                <a:solidFill>
                  <a:srgbClr val="5B6577"/>
                </a:solidFill>
                <a:latin typeface="Calibri"/>
              </a:rPr>
              <a:t>Rain data checked live on 8 Oct 2026: Open-Meteo archive and NOAA GSOD (Santacruz station 43003). Full evidence log: CODEASTRA_2_MASTER_RESEARCH.md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VARSHA: CODEASTRA 2.0 Idea PPT</dc:title>
  <dc:subject>Health Outbreak Detection &amp; Alert System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