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" charset="1" panose="02020603050405020304"/>
      <p:regular r:id="rId15"/>
    </p:embeddedFont>
    <p:embeddedFont>
      <p:font typeface="Times New Roman Bold" charset="1" panose="02020803070505020304"/>
      <p:regular r:id="rId16"/>
    </p:embeddedFont>
    <p:embeddedFont>
      <p:font typeface="Times New Roman Italics" charset="1" panose="02020503050405090304"/>
      <p:regular r:id="rId17"/>
    </p:embeddedFon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Montserrat Bold" charset="1" panose="00000800000000000000"/>
      <p:regular r:id="rId22"/>
    </p:embeddedFont>
    <p:embeddedFont>
      <p:font typeface="Nirmala UI" charset="1" panose="020B0502040204020203"/>
      <p:regular r:id="rId24"/>
    </p:embeddedFont>
    <p:embeddedFont>
      <p:font typeface="Montserrat" charset="1" panose="00000500000000000000"/>
      <p:regular r:id="rId25"/>
    </p:embeddedFont>
    <p:embeddedFont>
      <p:font typeface="Canva Sans" charset="1" panose="020B0503030501040103"/>
      <p:regular r:id="rId28"/>
    </p:embeddedFont>
    <p:embeddedFont>
      <p:font typeface="Poppins Bold" charset="1" panose="00000800000000000000"/>
      <p:regular r:id="rId29"/>
    </p:embeddedFont>
    <p:embeddedFont>
      <p:font typeface="Poppin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team. Domain: Web &amp; Product Development. Problem statement: Health Outbreak Detection &amp; Alert System. Our solution is VARSHA (Vector-And-Rain-driven Surveillance for Health Alerts). Varsha means rain, and that is exactly where the warning comes from. Replace the yellow [Enter ...] placeholders before submitting.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monsoon Mumbai floods, and every monsoon the same diseases follow: leptospirosis, dengue, malaria. In 2025 BMC reviewed 66 suspected deaths from these three. The pattern is predictable: people wade through floodwater on known days, BMC itself says preventive care must start within 72 hours, and cases surge 7 to 12 days later. But advice is citywide and late (6 July 2026 for floods that began 1 July), official IDSP outbreak reports go online about 6 weeks later, and existing AI tools only read the news after people are sick. The warning arrives after the window has closed.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VARSHA turns live rainfall into ward-level disease alerts. The hero chart is the real July 2026 rain at Santacruz (Open-Meteo): our rules raise a WATCH on 1 July and a WARNING by 5 July, before BMC's citywide advice on the night of 6 July, and they forecast the case wave 7 to 14 days after the floods. Data flows from public sources, through ingestion and a PostGIS database, into four analytics engines, and out to a ward dashboard plus action sheets, citizen alerts, doctor alerts and a weekly bulletin. Three things change: same-day ward alerts, a 1 to 2 week forecast, and a planner that puts scarce teams where risk is highest. Re-run the replay on your prototype and keep these dates only if it reproduces them.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Stack: React + Vite + Leaflet on the front end, FastAPI on the back end, PostgreSQL + PostGIS for ward and flood-spot geography. The intelligence engine uses standard, explainable methods: a lagged exposure model for leptospirosis, a climate-lag model for dengue and malaria, CDC-style EARS and Farrington checks for unusual spikes, and OR-Tools to place scarce teams. LLMs, if used, only translate and explain; they never produce numbers. Fill in the three links before submitting.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Impact: alerts in hours instead of weeks, inside the 72-hour prevention window, reaching the highest-risk wards first and focusing on the flood-prone slums where about 4 in 10 Mumbaikars live. Future scope: a one-ward pilot for one monsoon, then all 24 wards with BMC's data; the same pipeline works for any IDSP district and for heat, air-quality and platelet-demand warnings. Challenges are real and each has a concrete answer.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evidence. In July 2026 Santacruz recorded about 984 mm of rain in a week; streets flooded on 4 July; BMC's citywide advice came on the night of 6 July; leptospirosis cases went from 33 in June to 78 in July. Replayed on the real rain data, VARSHA's rules give a WATCH on 1 July and a WARNING by 5 July. Three research findings drive the design: cases follow floods by 7 to 12 days, official data is about 6 weeks late, and free weather maps miss cloudbursts, so we correct rain with real gauges.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22" Target="../media/image22.png" Type="http://schemas.openxmlformats.org/officeDocument/2006/relationships/image"/><Relationship Id="rId23" Target="../media/image23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27" Target="../media/image27.svg" Type="http://schemas.openxmlformats.org/officeDocument/2006/relationships/image"/><Relationship Id="rId28" Target="../media/image28.png" Type="http://schemas.openxmlformats.org/officeDocument/2006/relationships/image"/><Relationship Id="rId29" Target="../media/image29.sv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22" Target="../media/image44.png" Type="http://schemas.openxmlformats.org/officeDocument/2006/relationships/image"/><Relationship Id="rId23" Target="../media/image45.svg" Type="http://schemas.openxmlformats.org/officeDocument/2006/relationships/image"/><Relationship Id="rId24" Target="../media/image46.png" Type="http://schemas.openxmlformats.org/officeDocument/2006/relationships/image"/><Relationship Id="rId25" Target="../media/image47.svg" Type="http://schemas.openxmlformats.org/officeDocument/2006/relationships/image"/><Relationship Id="rId26" Target="../media/image48.png" Type="http://schemas.openxmlformats.org/officeDocument/2006/relationships/image"/><Relationship Id="rId27" Target="../media/image49.svg" Type="http://schemas.openxmlformats.org/officeDocument/2006/relationships/image"/><Relationship Id="rId28" Target="../media/image50.png" Type="http://schemas.openxmlformats.org/officeDocument/2006/relationships/image"/><Relationship Id="rId29" Target="../media/image51.svg" Type="http://schemas.openxmlformats.org/officeDocument/2006/relationships/image"/><Relationship Id="rId3" Target="../media/image6.png" Type="http://schemas.openxmlformats.org/officeDocument/2006/relationships/image"/><Relationship Id="rId30" Target="../media/image52.png" Type="http://schemas.openxmlformats.org/officeDocument/2006/relationships/image"/><Relationship Id="rId31" Target="../media/image53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7.jpe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7.jpe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19" Target="../media/image65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66.svg" Type="http://schemas.openxmlformats.org/officeDocument/2006/relationships/image"/><Relationship Id="rId21" Target="../media/image67.png" Type="http://schemas.openxmlformats.org/officeDocument/2006/relationships/image"/><Relationship Id="rId22" Target="../media/image68.svg" Type="http://schemas.openxmlformats.org/officeDocument/2006/relationships/image"/><Relationship Id="rId23" Target="../media/image69.png" Type="http://schemas.openxmlformats.org/officeDocument/2006/relationships/image"/><Relationship Id="rId24" Target="../media/image70.sv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svg" Type="http://schemas.openxmlformats.org/officeDocument/2006/relationships/image"/><Relationship Id="rId18" Target="../media/image81.png" Type="http://schemas.openxmlformats.org/officeDocument/2006/relationships/image"/><Relationship Id="rId19" Target="../media/image8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7.jpe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88.png" Type="http://schemas.openxmlformats.org/officeDocument/2006/relationships/image"/><Relationship Id="rId14" Target="../media/image89.png" Type="http://schemas.openxmlformats.org/officeDocument/2006/relationships/image"/><Relationship Id="rId15" Target="../media/image90.png" Type="http://schemas.openxmlformats.org/officeDocument/2006/relationships/image"/><Relationship Id="rId16" Target="../media/image91.png" Type="http://schemas.openxmlformats.org/officeDocument/2006/relationships/image"/><Relationship Id="rId17" Target="../media/image92.png" Type="http://schemas.openxmlformats.org/officeDocument/2006/relationships/image"/><Relationship Id="rId18" Target="../media/image93.png" Type="http://schemas.openxmlformats.org/officeDocument/2006/relationships/image"/><Relationship Id="rId19" Target="../media/image94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titl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74207" y="-680723"/>
            <a:ext cx="8515350" cy="5676900"/>
            <a:chOff x="0" y="0"/>
            <a:chExt cx="11353800" cy="7569200"/>
          </a:xfrm>
        </p:grpSpPr>
        <p:sp>
          <p:nvSpPr>
            <p:cNvPr name="Freeform 11" id="11" descr="codeastra.png"/>
            <p:cNvSpPr/>
            <p:nvPr/>
          </p:nvSpPr>
          <p:spPr>
            <a:xfrm flipH="false" flipV="false" rot="0">
              <a:off x="0" y="0"/>
              <a:ext cx="11353800" cy="7569200"/>
            </a:xfrm>
            <a:custGeom>
              <a:avLst/>
              <a:gdLst/>
              <a:ahLst/>
              <a:cxnLst/>
              <a:rect r="r" b="b" t="t" l="l"/>
              <a:pathLst>
                <a:path h="7569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7569200"/>
                  </a:lnTo>
                  <a:lnTo>
                    <a:pt x="0" y="756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" t="0" r="-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13832" y="3007614"/>
            <a:ext cx="640080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8943" y="4515355"/>
            <a:ext cx="10058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8943" y="5116068"/>
            <a:ext cx="10058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: BubbleSort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943" y="5715505"/>
            <a:ext cx="10058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 Name : Amey Bauchkar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8943" y="6316218"/>
            <a:ext cx="100584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Chosen : </a:t>
            </a:r>
            <a:r>
              <a:rPr lang="en-US" sz="3399" b="true">
                <a:solidFill>
                  <a:srgbClr val="8EE6E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&amp; Product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8943" y="6915655"/>
            <a:ext cx="100584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6400" y="7473058"/>
            <a:ext cx="9601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8EE6E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Outbreak Detection &amp; Alert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8943" y="8174098"/>
            <a:ext cx="10241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Solution:  </a:t>
            </a:r>
            <a:r>
              <a:rPr lang="en-US" sz="2100" b="true">
                <a:solidFill>
                  <a:srgbClr val="8EE6E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VARSHA</a:t>
            </a:r>
            <a:r>
              <a:rPr lang="en-US" sz="2100" i="true">
                <a:solidFill>
                  <a:srgbClr val="D6F5F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 —  Vector-And-Rain-driven Surveillance for Health Alerts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42" y="0"/>
            <a:ext cx="18288000" cy="10425684"/>
            <a:chOff x="0" y="0"/>
            <a:chExt cx="24384000" cy="13900912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900913"/>
            </a:xfrm>
            <a:custGeom>
              <a:avLst/>
              <a:gdLst/>
              <a:ahLst/>
              <a:cxnLst/>
              <a:rect r="r" b="b" t="t" l="l"/>
              <a:pathLst>
                <a:path h="139009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900913"/>
                  </a:lnTo>
                  <a:lnTo>
                    <a:pt x="0" y="13900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01" t="0" r="-70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78808" y="30480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9306" y="2662114"/>
            <a:ext cx="4587878" cy="3051686"/>
            <a:chOff x="0" y="0"/>
            <a:chExt cx="6117171" cy="40689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17209" cy="4068953"/>
            </a:xfrm>
            <a:custGeom>
              <a:avLst/>
              <a:gdLst/>
              <a:ahLst/>
              <a:cxnLst/>
              <a:rect r="r" b="b" t="t" l="l"/>
              <a:pathLst>
                <a:path h="4068953" w="611720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5921121" y="0"/>
                  </a:lnTo>
                  <a:cubicBezTo>
                    <a:pt x="6029452" y="0"/>
                    <a:pt x="6117209" y="87757"/>
                    <a:pt x="6117209" y="196088"/>
                  </a:cubicBezTo>
                  <a:lnTo>
                    <a:pt x="6117209" y="3872865"/>
                  </a:lnTo>
                  <a:cubicBezTo>
                    <a:pt x="6117209" y="3981196"/>
                    <a:pt x="6029452" y="4068953"/>
                    <a:pt x="592112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2E3643"/>
            </a:solidFill>
            <a:ln w="15875" cap="sq">
              <a:solidFill>
                <a:srgbClr val="FCE4E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3544" y="2798064"/>
            <a:ext cx="475488" cy="475488"/>
            <a:chOff x="0" y="0"/>
            <a:chExt cx="633984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859"/>
                    <a:pt x="633984" y="316992"/>
                  </a:cubicBezTo>
                  <a:cubicBezTo>
                    <a:pt x="633984" y="492125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FBDCD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24186" y="2662114"/>
            <a:ext cx="5593718" cy="3051686"/>
            <a:chOff x="0" y="0"/>
            <a:chExt cx="7458291" cy="40689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58329" cy="4068953"/>
            </a:xfrm>
            <a:custGeom>
              <a:avLst/>
              <a:gdLst/>
              <a:ahLst/>
              <a:cxnLst/>
              <a:rect r="r" b="b" t="t" l="l"/>
              <a:pathLst>
                <a:path h="4068953" w="745832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7262241" y="0"/>
                  </a:lnTo>
                  <a:cubicBezTo>
                    <a:pt x="7370573" y="0"/>
                    <a:pt x="7458329" y="87757"/>
                    <a:pt x="7458329" y="196088"/>
                  </a:cubicBezTo>
                  <a:lnTo>
                    <a:pt x="7458329" y="3872865"/>
                  </a:lnTo>
                  <a:cubicBezTo>
                    <a:pt x="7458329" y="3981196"/>
                    <a:pt x="7370573" y="4068953"/>
                    <a:pt x="726224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2E3643"/>
            </a:solidFill>
            <a:ln w="15875" cap="sq">
              <a:solidFill>
                <a:srgbClr val="FFEDA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84906" y="2662114"/>
            <a:ext cx="6233798" cy="3051686"/>
            <a:chOff x="0" y="0"/>
            <a:chExt cx="8311731" cy="40689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11769" cy="4068953"/>
            </a:xfrm>
            <a:custGeom>
              <a:avLst/>
              <a:gdLst/>
              <a:ahLst/>
              <a:cxnLst/>
              <a:rect r="r" b="b" t="t" l="l"/>
              <a:pathLst>
                <a:path h="4068953" w="831176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8115681" y="0"/>
                  </a:lnTo>
                  <a:cubicBezTo>
                    <a:pt x="8224013" y="0"/>
                    <a:pt x="8311769" y="87757"/>
                    <a:pt x="8311769" y="196088"/>
                  </a:cubicBezTo>
                  <a:lnTo>
                    <a:pt x="8311769" y="3872865"/>
                  </a:lnTo>
                  <a:cubicBezTo>
                    <a:pt x="8311769" y="3981196"/>
                    <a:pt x="8224013" y="4068953"/>
                    <a:pt x="811568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77240" y="5870448"/>
            <a:ext cx="1975104" cy="512064"/>
            <a:chOff x="0" y="0"/>
            <a:chExt cx="2633472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DDE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0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DE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HEAVY RAIN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7240" y="6437376"/>
            <a:ext cx="1975104" cy="1517904"/>
            <a:chOff x="0" y="0"/>
            <a:chExt cx="2633472" cy="20238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47D76"/>
            </a:solidFill>
            <a:ln w="19050" cap="sq">
              <a:solidFill>
                <a:srgbClr val="DDEBD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77240" y="8083296"/>
            <a:ext cx="1975104" cy="1517904"/>
            <a:chOff x="0" y="0"/>
            <a:chExt cx="2633472" cy="20238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47D76"/>
            </a:solidFill>
            <a:ln w="19050" cap="sq">
              <a:solidFill>
                <a:srgbClr val="DDEBD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52344" y="7955280"/>
            <a:ext cx="274320" cy="148273"/>
            <a:chOff x="0" y="0"/>
            <a:chExt cx="243840" cy="1317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026664" y="5870448"/>
            <a:ext cx="1975104" cy="512064"/>
            <a:chOff x="0" y="0"/>
            <a:chExt cx="2633472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F6DC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0–3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6DC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EXPOSURE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026664" y="6437376"/>
            <a:ext cx="1975104" cy="1517904"/>
            <a:chOff x="0" y="0"/>
            <a:chExt cx="2633472" cy="20238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81767B"/>
            </a:solidFill>
            <a:ln w="19050" cap="sq">
              <a:solidFill>
                <a:srgbClr val="F6DCD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026664" y="8083296"/>
            <a:ext cx="1975104" cy="1517904"/>
            <a:chOff x="0" y="0"/>
            <a:chExt cx="2633472" cy="20238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81767B"/>
            </a:solidFill>
            <a:ln w="19050" cap="sq">
              <a:solidFill>
                <a:srgbClr val="F6DCD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276088" y="5870448"/>
            <a:ext cx="1975104" cy="512064"/>
            <a:chOff x="0" y="0"/>
            <a:chExt cx="2633472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FBE8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3–12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BE8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SILENT SPREAD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76088" y="6437376"/>
            <a:ext cx="1975104" cy="3163824"/>
            <a:chOff x="0" y="0"/>
            <a:chExt cx="2633472" cy="4218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33472" cy="4218432"/>
            </a:xfrm>
            <a:custGeom>
              <a:avLst/>
              <a:gdLst/>
              <a:ahLst/>
              <a:cxnLst/>
              <a:rect r="r" b="b" t="t" l="l"/>
              <a:pathLst>
                <a:path h="421843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4072128"/>
                  </a:lnTo>
                  <a:cubicBezTo>
                    <a:pt x="2633472" y="4152900"/>
                    <a:pt x="2567940" y="4218432"/>
                    <a:pt x="2487168" y="4218432"/>
                  </a:cubicBezTo>
                  <a:lnTo>
                    <a:pt x="146304" y="4218432"/>
                  </a:lnTo>
                  <a:cubicBezTo>
                    <a:pt x="65532" y="4218432"/>
                    <a:pt x="0" y="4152900"/>
                    <a:pt x="0" y="4072128"/>
                  </a:cubicBezTo>
                  <a:close/>
                </a:path>
              </a:pathLst>
            </a:custGeom>
            <a:solidFill>
              <a:srgbClr val="847B6E"/>
            </a:solidFill>
            <a:ln w="19050" cap="sq">
              <a:solidFill>
                <a:srgbClr val="FBE8C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25512" y="5870448"/>
            <a:ext cx="1975104" cy="512064"/>
            <a:chOff x="0" y="0"/>
            <a:chExt cx="2633472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E8E0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7–12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E8E0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SURGE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25512" y="6437376"/>
            <a:ext cx="1975104" cy="1517904"/>
            <a:chOff x="0" y="0"/>
            <a:chExt cx="2633472" cy="20238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97886"/>
            </a:solidFill>
            <a:ln w="19050" cap="sq">
              <a:solidFill>
                <a:srgbClr val="E8E0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525512" y="8083296"/>
            <a:ext cx="1975104" cy="1517904"/>
            <a:chOff x="0" y="0"/>
            <a:chExt cx="2633472" cy="20238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97886"/>
            </a:solidFill>
            <a:ln w="19050" cap="sq">
              <a:solidFill>
                <a:srgbClr val="E8E0F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74936" y="5870448"/>
            <a:ext cx="1975104" cy="512064"/>
            <a:chOff x="0" y="0"/>
            <a:chExt cx="2633472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D6E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WEEKS LATER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6E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 RESPONSE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74936" y="6437376"/>
            <a:ext cx="1975104" cy="969264"/>
            <a:chOff x="0" y="0"/>
            <a:chExt cx="2633472" cy="12923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707D80"/>
            </a:solidFill>
            <a:ln w="19050" cap="sq">
              <a:solidFill>
                <a:srgbClr val="D6EEE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74936" y="7534656"/>
            <a:ext cx="1975104" cy="969264"/>
            <a:chOff x="0" y="0"/>
            <a:chExt cx="2633472" cy="12923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707D80"/>
            </a:solidFill>
            <a:ln w="19050" cap="sq">
              <a:solidFill>
                <a:srgbClr val="D6EE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774936" y="8631936"/>
            <a:ext cx="1975104" cy="969264"/>
            <a:chOff x="0" y="0"/>
            <a:chExt cx="2633472" cy="12923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707D80"/>
            </a:solidFill>
            <a:ln w="19050" cap="sq">
              <a:solidFill>
                <a:srgbClr val="D6EEE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016426" y="6092190"/>
            <a:ext cx="5502278" cy="3516954"/>
            <a:chOff x="0" y="0"/>
            <a:chExt cx="7336371" cy="46892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36282" cy="4689188"/>
            </a:xfrm>
            <a:custGeom>
              <a:avLst/>
              <a:gdLst/>
              <a:ahLst/>
              <a:cxnLst/>
              <a:rect r="r" b="b" t="t" l="l"/>
              <a:pathLst>
                <a:path h="4689188" w="7336282">
                  <a:moveTo>
                    <a:pt x="0" y="183829"/>
                  </a:moveTo>
                  <a:cubicBezTo>
                    <a:pt x="0" y="82377"/>
                    <a:pt x="87757" y="0"/>
                    <a:pt x="195834" y="0"/>
                  </a:cubicBezTo>
                  <a:lnTo>
                    <a:pt x="7140448" y="0"/>
                  </a:lnTo>
                  <a:cubicBezTo>
                    <a:pt x="7248652" y="0"/>
                    <a:pt x="7336282" y="82377"/>
                    <a:pt x="7336282" y="183829"/>
                  </a:cubicBezTo>
                  <a:lnTo>
                    <a:pt x="7336282" y="4505359"/>
                  </a:lnTo>
                  <a:cubicBezTo>
                    <a:pt x="7336282" y="4606930"/>
                    <a:pt x="7248525" y="4689188"/>
                    <a:pt x="7140448" y="4689188"/>
                  </a:cubicBezTo>
                  <a:lnTo>
                    <a:pt x="195834" y="4689188"/>
                  </a:lnTo>
                  <a:cubicBezTo>
                    <a:pt x="87757" y="4689310"/>
                    <a:pt x="0" y="4606930"/>
                    <a:pt x="0" y="4505359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161520" y="6711696"/>
            <a:ext cx="2282342" cy="479146"/>
            <a:chOff x="0" y="0"/>
            <a:chExt cx="3043123" cy="63886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252960" y="6711696"/>
            <a:ext cx="2099462" cy="479146"/>
            <a:chOff x="0" y="0"/>
            <a:chExt cx="2799283" cy="6388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IHIP (govt health portal)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flipV="true">
            <a:off x="14443805" y="6887191"/>
            <a:ext cx="457257" cy="64078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3" id="63"/>
          <p:cNvGrpSpPr/>
          <p:nvPr/>
        </p:nvGrpSpPr>
        <p:grpSpPr>
          <a:xfrm rot="0">
            <a:off x="14901062" y="6711696"/>
            <a:ext cx="2472538" cy="479146"/>
            <a:chOff x="0" y="0"/>
            <a:chExt cx="3296717" cy="6388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992502" y="6711696"/>
            <a:ext cx="2289658" cy="479146"/>
            <a:chOff x="0" y="0"/>
            <a:chExt cx="3052877" cy="63886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Officials only; counts cases already seen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161520" y="7282282"/>
            <a:ext cx="2282342" cy="479146"/>
            <a:chOff x="0" y="0"/>
            <a:chExt cx="3043123" cy="63886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252960" y="7282282"/>
            <a:ext cx="2099462" cy="479146"/>
            <a:chOff x="0" y="0"/>
            <a:chExt cx="2799283" cy="63886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IDSP weekly reports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901062" y="7282282"/>
            <a:ext cx="2472538" cy="479146"/>
            <a:chOff x="0" y="0"/>
            <a:chExt cx="3296717" cy="63886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4992502" y="7282282"/>
            <a:ext cx="2289658" cy="479146"/>
            <a:chOff x="0" y="0"/>
            <a:chExt cx="3052877" cy="63886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 online ~6 weeks late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161520" y="7852867"/>
            <a:ext cx="2282342" cy="479146"/>
            <a:chOff x="0" y="0"/>
            <a:chExt cx="3043123" cy="63886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2252960" y="7852867"/>
            <a:ext cx="2099462" cy="479146"/>
            <a:chOff x="0" y="0"/>
            <a:chExt cx="2799283" cy="63886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Sentinel (AI news scan)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901062" y="7852867"/>
            <a:ext cx="2472538" cy="479146"/>
            <a:chOff x="0" y="0"/>
            <a:chExt cx="3296717" cy="63886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992502" y="7852867"/>
            <a:ext cx="2289658" cy="479146"/>
            <a:chOff x="0" y="0"/>
            <a:chExt cx="3052877" cy="63886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Alerts after people fall sick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161520" y="8423453"/>
            <a:ext cx="2282342" cy="479146"/>
            <a:chOff x="0" y="0"/>
            <a:chExt cx="3043123" cy="63886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252960" y="8423453"/>
            <a:ext cx="2099462" cy="479146"/>
            <a:chOff x="0" y="0"/>
            <a:chExt cx="2799283" cy="63886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ARTPARK dengue forecast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901062" y="8423453"/>
            <a:ext cx="2472538" cy="479146"/>
            <a:chOff x="0" y="0"/>
            <a:chExt cx="3296717" cy="63886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4992502" y="8423453"/>
            <a:ext cx="2289658" cy="479146"/>
            <a:chOff x="0" y="0"/>
            <a:chExt cx="3052877" cy="63886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Dengue only; Karnataka, not Mumbai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161520" y="8994038"/>
            <a:ext cx="2282342" cy="479146"/>
            <a:chOff x="0" y="0"/>
            <a:chExt cx="3043123" cy="63886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252960" y="8994038"/>
            <a:ext cx="2099462" cy="479146"/>
            <a:chOff x="0" y="0"/>
            <a:chExt cx="2799283" cy="63886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BMC advisories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901062" y="8994038"/>
            <a:ext cx="2472538" cy="479146"/>
            <a:chOff x="0" y="0"/>
            <a:chExt cx="3296717" cy="63886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992502" y="8994038"/>
            <a:ext cx="2289658" cy="479146"/>
            <a:chOff x="0" y="0"/>
            <a:chExt cx="3052877" cy="63886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Citywide, days after the flood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028700" y="2907430"/>
            <a:ext cx="250185" cy="225166"/>
          </a:xfrm>
          <a:custGeom>
            <a:avLst/>
            <a:gdLst/>
            <a:ahLst/>
            <a:cxnLst/>
            <a:rect r="r" b="b" t="t" l="l"/>
            <a:pathLst>
              <a:path h="225166" w="250185">
                <a:moveTo>
                  <a:pt x="0" y="0"/>
                </a:moveTo>
                <a:lnTo>
                  <a:pt x="250185" y="0"/>
                </a:lnTo>
                <a:lnTo>
                  <a:pt x="250185" y="225166"/>
                </a:lnTo>
                <a:lnTo>
                  <a:pt x="0" y="225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5660136" y="2822067"/>
            <a:ext cx="475488" cy="475488"/>
            <a:chOff x="0" y="0"/>
            <a:chExt cx="633984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859"/>
                    <a:pt x="633984" y="316992"/>
                  </a:cubicBezTo>
                  <a:cubicBezTo>
                    <a:pt x="633984" y="492125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FFEDA4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5765292" y="2931433"/>
            <a:ext cx="250185" cy="225166"/>
          </a:xfrm>
          <a:custGeom>
            <a:avLst/>
            <a:gdLst/>
            <a:ahLst/>
            <a:cxnLst/>
            <a:rect r="r" b="b" t="t" l="l"/>
            <a:pathLst>
              <a:path h="225166" w="250185">
                <a:moveTo>
                  <a:pt x="0" y="0"/>
                </a:moveTo>
                <a:lnTo>
                  <a:pt x="250185" y="0"/>
                </a:lnTo>
                <a:lnTo>
                  <a:pt x="250185" y="225166"/>
                </a:lnTo>
                <a:lnTo>
                  <a:pt x="0" y="225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11276962" y="2635953"/>
            <a:ext cx="6233798" cy="466344"/>
            <a:chOff x="0" y="0"/>
            <a:chExt cx="8311731" cy="6217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311731" cy="621792"/>
            </a:xfrm>
            <a:custGeom>
              <a:avLst/>
              <a:gdLst/>
              <a:ahLst/>
              <a:cxnLst/>
              <a:rect r="r" b="b" t="t" l="l"/>
              <a:pathLst>
                <a:path h="621792" w="8311731">
                  <a:moveTo>
                    <a:pt x="0" y="310896"/>
                  </a:moveTo>
                  <a:cubicBezTo>
                    <a:pt x="0" y="139192"/>
                    <a:pt x="71080" y="0"/>
                    <a:pt x="158763" y="0"/>
                  </a:cubicBezTo>
                  <a:lnTo>
                    <a:pt x="8152967" y="0"/>
                  </a:lnTo>
                  <a:cubicBezTo>
                    <a:pt x="8240650" y="0"/>
                    <a:pt x="8311731" y="139192"/>
                    <a:pt x="8311731" y="310896"/>
                  </a:cubicBezTo>
                  <a:cubicBezTo>
                    <a:pt x="8311731" y="482600"/>
                    <a:pt x="8240650" y="621792"/>
                    <a:pt x="8152967" y="621792"/>
                  </a:cubicBezTo>
                  <a:lnTo>
                    <a:pt x="158763" y="621792"/>
                  </a:lnTo>
                  <a:cubicBezTo>
                    <a:pt x="7108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4992624" y="7955280"/>
            <a:ext cx="274320" cy="148273"/>
            <a:chOff x="0" y="0"/>
            <a:chExt cx="243840" cy="13179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7296912" y="7955280"/>
            <a:ext cx="274320" cy="148273"/>
            <a:chOff x="0" y="0"/>
            <a:chExt cx="243840" cy="1317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473184" y="7955280"/>
            <a:ext cx="274320" cy="148273"/>
            <a:chOff x="0" y="0"/>
            <a:chExt cx="243840" cy="13179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847948" y="6541242"/>
            <a:ext cx="305845" cy="249263"/>
          </a:xfrm>
          <a:custGeom>
            <a:avLst/>
            <a:gdLst/>
            <a:ahLst/>
            <a:cxnLst/>
            <a:rect r="r" b="b" t="t" l="l"/>
            <a:pathLst>
              <a:path h="249263" w="305845">
                <a:moveTo>
                  <a:pt x="0" y="0"/>
                </a:moveTo>
                <a:lnTo>
                  <a:pt x="305844" y="0"/>
                </a:lnTo>
                <a:lnTo>
                  <a:pt x="305844" y="249264"/>
                </a:lnTo>
                <a:lnTo>
                  <a:pt x="0" y="249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861689" y="8188452"/>
            <a:ext cx="278362" cy="237999"/>
          </a:xfrm>
          <a:custGeom>
            <a:avLst/>
            <a:gdLst/>
            <a:ahLst/>
            <a:cxnLst/>
            <a:rect r="r" b="b" t="t" l="l"/>
            <a:pathLst>
              <a:path h="237999" w="278362">
                <a:moveTo>
                  <a:pt x="0" y="0"/>
                </a:moveTo>
                <a:lnTo>
                  <a:pt x="278362" y="0"/>
                </a:lnTo>
                <a:lnTo>
                  <a:pt x="278362" y="237999"/>
                </a:lnTo>
                <a:lnTo>
                  <a:pt x="0" y="2379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3101536" y="8188452"/>
            <a:ext cx="213067" cy="223107"/>
          </a:xfrm>
          <a:custGeom>
            <a:avLst/>
            <a:gdLst/>
            <a:ahLst/>
            <a:cxnLst/>
            <a:rect r="r" b="b" t="t" l="l"/>
            <a:pathLst>
              <a:path h="223107" w="213067">
                <a:moveTo>
                  <a:pt x="0" y="0"/>
                </a:moveTo>
                <a:lnTo>
                  <a:pt x="213067" y="0"/>
                </a:lnTo>
                <a:lnTo>
                  <a:pt x="213067" y="223107"/>
                </a:lnTo>
                <a:lnTo>
                  <a:pt x="0" y="2231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7622667" y="8159176"/>
            <a:ext cx="231968" cy="231968"/>
          </a:xfrm>
          <a:custGeom>
            <a:avLst/>
            <a:gdLst/>
            <a:ahLst/>
            <a:cxnLst/>
            <a:rect r="r" b="b" t="t" l="l"/>
            <a:pathLst>
              <a:path h="231968" w="231968">
                <a:moveTo>
                  <a:pt x="0" y="0"/>
                </a:moveTo>
                <a:lnTo>
                  <a:pt x="231968" y="0"/>
                </a:lnTo>
                <a:lnTo>
                  <a:pt x="231968" y="231968"/>
                </a:lnTo>
                <a:lnTo>
                  <a:pt x="0" y="2319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3118104" y="6548526"/>
            <a:ext cx="200352" cy="200352"/>
          </a:xfrm>
          <a:custGeom>
            <a:avLst/>
            <a:gdLst/>
            <a:ahLst/>
            <a:cxnLst/>
            <a:rect r="r" b="b" t="t" l="l"/>
            <a:pathLst>
              <a:path h="200352" w="200352">
                <a:moveTo>
                  <a:pt x="0" y="0"/>
                </a:moveTo>
                <a:lnTo>
                  <a:pt x="200352" y="0"/>
                </a:lnTo>
                <a:lnTo>
                  <a:pt x="200352" y="200352"/>
                </a:lnTo>
                <a:lnTo>
                  <a:pt x="0" y="2003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9862566" y="6510528"/>
            <a:ext cx="263032" cy="207795"/>
          </a:xfrm>
          <a:custGeom>
            <a:avLst/>
            <a:gdLst/>
            <a:ahLst/>
            <a:cxnLst/>
            <a:rect r="r" b="b" t="t" l="l"/>
            <a:pathLst>
              <a:path h="207795" w="263032">
                <a:moveTo>
                  <a:pt x="0" y="0"/>
                </a:moveTo>
                <a:lnTo>
                  <a:pt x="263032" y="0"/>
                </a:lnTo>
                <a:lnTo>
                  <a:pt x="263032" y="207795"/>
                </a:lnTo>
                <a:lnTo>
                  <a:pt x="0" y="2077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9891141" y="8714537"/>
            <a:ext cx="196291" cy="196291"/>
          </a:xfrm>
          <a:custGeom>
            <a:avLst/>
            <a:gdLst/>
            <a:ahLst/>
            <a:cxnLst/>
            <a:rect r="r" b="b" t="t" l="l"/>
            <a:pathLst>
              <a:path h="196291" w="196291">
                <a:moveTo>
                  <a:pt x="0" y="0"/>
                </a:moveTo>
                <a:lnTo>
                  <a:pt x="196291" y="0"/>
                </a:lnTo>
                <a:lnTo>
                  <a:pt x="196291" y="196291"/>
                </a:lnTo>
                <a:lnTo>
                  <a:pt x="0" y="19629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5357184" y="6565888"/>
            <a:ext cx="264852" cy="275888"/>
          </a:xfrm>
          <a:custGeom>
            <a:avLst/>
            <a:gdLst/>
            <a:ahLst/>
            <a:cxnLst/>
            <a:rect r="r" b="b" t="t" l="l"/>
            <a:pathLst>
              <a:path h="275888" w="264852">
                <a:moveTo>
                  <a:pt x="0" y="0"/>
                </a:moveTo>
                <a:lnTo>
                  <a:pt x="264852" y="0"/>
                </a:lnTo>
                <a:lnTo>
                  <a:pt x="264852" y="275888"/>
                </a:lnTo>
                <a:lnTo>
                  <a:pt x="0" y="2758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7616952" y="6519672"/>
            <a:ext cx="283323" cy="301407"/>
          </a:xfrm>
          <a:custGeom>
            <a:avLst/>
            <a:gdLst/>
            <a:ahLst/>
            <a:cxnLst/>
            <a:rect r="r" b="b" t="t" l="l"/>
            <a:pathLst>
              <a:path h="301407" w="283323">
                <a:moveTo>
                  <a:pt x="0" y="0"/>
                </a:moveTo>
                <a:lnTo>
                  <a:pt x="283323" y="0"/>
                </a:lnTo>
                <a:lnTo>
                  <a:pt x="283323" y="301407"/>
                </a:lnTo>
                <a:lnTo>
                  <a:pt x="0" y="30140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9896941" y="7599967"/>
            <a:ext cx="194282" cy="271723"/>
          </a:xfrm>
          <a:custGeom>
            <a:avLst/>
            <a:gdLst/>
            <a:ahLst/>
            <a:cxnLst/>
            <a:rect r="r" b="b" t="t" l="l"/>
            <a:pathLst>
              <a:path h="271723" w="194282">
                <a:moveTo>
                  <a:pt x="0" y="0"/>
                </a:moveTo>
                <a:lnTo>
                  <a:pt x="194282" y="0"/>
                </a:lnTo>
                <a:lnTo>
                  <a:pt x="194282" y="271723"/>
                </a:lnTo>
                <a:lnTo>
                  <a:pt x="0" y="2717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0" id="130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Analysis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4477007" y="1946148"/>
            <a:ext cx="13170913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EE6E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Mumbai's monsoon outbreaks are predictable. The response isn't.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5769864" y="3345180"/>
            <a:ext cx="512064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catch leptospirosis on predictable days: when they wade through floodwater. BMC says preventive care must start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within 72 hours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 But today: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Advice is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citywide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and comes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days after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the flood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Official outbreak reports go online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~6 weeks later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 tools read the news only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people fall sick</a:t>
            </a:r>
          </a:p>
          <a:p>
            <a:pPr algn="l" marL="180975" indent="-90488" lvl="1">
              <a:lnSpc>
                <a:spcPts val="1800"/>
              </a:lnSpc>
            </a:pPr>
            <a:r>
              <a:rPr lang="en-US" b="true" sz="1500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Result:</a:t>
            </a:r>
            <a:r>
              <a:rPr lang="en-US" sz="1500">
                <a:solidFill>
                  <a:srgbClr val="FBDCD9"/>
                </a:solidFill>
                <a:latin typeface="Calibri (MS)"/>
                <a:ea typeface="Calibri (MS)"/>
                <a:cs typeface="Calibri (MS)"/>
                <a:sym typeface="Calibri (MS)"/>
              </a:rPr>
              <a:t> the warning comes after the window has closed.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2024360" y="3272028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Families in flood-prone slums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About 4 in 10 Mumbaikars live in slums, many next to chronic flood spots.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2024360" y="4052316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BMC health teams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Must spread limited fever camps, doctors and spray teams over 24 wards, without knowing where cases will hit.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024360" y="4832604"/>
            <a:ext cx="532180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Hospitals &amp; blood banks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Get sudden fever surges; dengue patients need platelets that last only 5 days.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5665470" y="6556248"/>
            <a:ext cx="15361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BE8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NOBODY IS WARNED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358384" y="7022973"/>
            <a:ext cx="1810512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symptoms yet (germs incubate up to 2 weeks)</a:t>
            </a:r>
          </a:p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Mosquitoes breed in stagnant water</a:t>
            </a:r>
          </a:p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ward-level warning goes out</a:t>
            </a:r>
          </a:p>
          <a:p>
            <a:pPr algn="l" marL="162878" indent="-81439" lvl="1">
              <a:lnSpc>
                <a:spcPts val="1620"/>
              </a:lnSpc>
            </a:pPr>
            <a:r>
              <a:rPr lang="en-US" b="true" sz="1350">
                <a:solidFill>
                  <a:srgbClr val="FFEDA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Result:</a:t>
            </a:r>
            <a:r>
              <a:rPr lang="en-US" sz="1350">
                <a:solidFill>
                  <a:srgbClr val="FFEDA4"/>
                </a:solidFill>
                <a:latin typeface="Calibri (MS)"/>
                <a:ea typeface="Calibri (MS)"/>
                <a:cs typeface="Calibri (MS)"/>
                <a:sym typeface="Calibri (MS)"/>
              </a:rPr>
              <a:t> people fall sick before anyone warns them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7978766" y="6548283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E8E0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HOSPITALS FILL UP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7616952" y="6858616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Fever cases jump; late treatment makes leptospirosis deadly.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914894" y="8138763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E8E0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BLOOD RUSH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640574" y="8420481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Dengue patients need platelets, which last only 5 days.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158984" y="6472428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6EEE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CITYWIDE ADVICE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9866376" y="680199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One message for all wards, days later.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0189076" y="7605979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6EEE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OFFICIAL REPORTS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866376" y="789927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IDSP outbreak data goes online ~6 weeks later.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0158984" y="8666988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6EEE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NEWS-BASED AI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9866376" y="899655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Flags outbreaks only after media reports.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2161520" y="6353937"/>
            <a:ext cx="228234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EXISTS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4901062" y="6353937"/>
            <a:ext cx="247253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IT MISSES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777240" y="9627489"/>
            <a:ext cx="1673352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i="true">
                <a:solidFill>
                  <a:srgbClr val="5B65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Sources: BMC data via Free Press Journal (2025–26) · Supe et al., Natl Med J India (2018) · IDSP/NCDC weekly outbreak reports · Wadhwani AI Health Sentinel (2025) · ARTPARK–BBMP · Census 2011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014984" y="3345180"/>
            <a:ext cx="411480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Every monsoon, floods spread leptospirosis, dengue and malaria across Mumbai.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66 suspected deaths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from these 3 diseases in 2025 (BMC review)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8× jump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in leptospirosis after the 26 July 2005 deluge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July 2026: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leptospirosis cases more than doubled,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 → 78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after a week of heavy rain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216152" y="6510426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DE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CLOUDBURST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875157" y="6911581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Up to ~944 mm of rain in a single day (26 Jul 2005).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233297" y="8188119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DE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FLOODED STREETS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873252" y="8562594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BMC lists 386 flood spots (2022); people wade through to get home.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3416046" y="6510147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6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INFECTION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3122676" y="6911581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Germs from rat urine in floodwater enter through cuts and wet skin.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3398423" y="8167211"/>
            <a:ext cx="15538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6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72-HOUR WINDOW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3122676" y="8513635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BMC advice: start preventive care within 24–72 hours.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527048" y="2821500"/>
            <a:ext cx="24505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lang="en-US" b="true" sz="2199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EAL-</a:t>
            </a:r>
            <a:r>
              <a:rPr lang="en-US" b="true" sz="2199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WORLD ISSUE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6332220" y="2845498"/>
            <a:ext cx="434232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EDA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KEEPS HAPPENING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2947206" y="2714957"/>
            <a:ext cx="27945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IS AFFECTED</a:t>
            </a:r>
          </a:p>
        </p:txBody>
      </p:sp>
      <p:grpSp>
        <p:nvGrpSpPr>
          <p:cNvPr name="Group 163" id="163"/>
          <p:cNvGrpSpPr/>
          <p:nvPr/>
        </p:nvGrpSpPr>
        <p:grpSpPr>
          <a:xfrm rot="0">
            <a:off x="12016426" y="5859018"/>
            <a:ext cx="5502278" cy="466344"/>
            <a:chOff x="0" y="0"/>
            <a:chExt cx="7336371" cy="6217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336371" cy="621792"/>
            </a:xfrm>
            <a:custGeom>
              <a:avLst/>
              <a:gdLst/>
              <a:ahLst/>
              <a:cxnLst/>
              <a:rect r="r" b="b" t="t" l="l"/>
              <a:pathLst>
                <a:path h="621792" w="7336371">
                  <a:moveTo>
                    <a:pt x="0" y="310896"/>
                  </a:moveTo>
                  <a:cubicBezTo>
                    <a:pt x="0" y="139192"/>
                    <a:pt x="62739" y="0"/>
                    <a:pt x="140133" y="0"/>
                  </a:cubicBezTo>
                  <a:lnTo>
                    <a:pt x="7196238" y="0"/>
                  </a:lnTo>
                  <a:cubicBezTo>
                    <a:pt x="7273632" y="0"/>
                    <a:pt x="7336371" y="139192"/>
                    <a:pt x="7336371" y="310896"/>
                  </a:cubicBezTo>
                  <a:cubicBezTo>
                    <a:pt x="7336371" y="482600"/>
                    <a:pt x="7273632" y="621792"/>
                    <a:pt x="7196238" y="621792"/>
                  </a:cubicBezTo>
                  <a:lnTo>
                    <a:pt x="140133" y="621792"/>
                  </a:lnTo>
                  <a:cubicBezTo>
                    <a:pt x="62739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TextBox 165" id="165"/>
          <p:cNvSpPr txBox="true"/>
          <p:nvPr/>
        </p:nvSpPr>
        <p:spPr>
          <a:xfrm rot="0">
            <a:off x="12159796" y="5938022"/>
            <a:ext cx="52356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EXISTING SOLUTIONS &amp; THEIR GAPS</a:t>
            </a:r>
          </a:p>
        </p:txBody>
      </p:sp>
      <p:grpSp>
        <p:nvGrpSpPr>
          <p:cNvPr name="Group 166" id="166"/>
          <p:cNvGrpSpPr/>
          <p:nvPr/>
        </p:nvGrpSpPr>
        <p:grpSpPr>
          <a:xfrm rot="0">
            <a:off x="11430035" y="3340744"/>
            <a:ext cx="377816" cy="377816"/>
            <a:chOff x="0" y="0"/>
            <a:chExt cx="812800" cy="8128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6F9"/>
            </a:solidFill>
          </p:spPr>
        </p:sp>
        <p:sp>
          <p:nvSpPr>
            <p:cNvPr name="TextBox 168" id="16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69" id="169"/>
          <p:cNvSpPr txBox="true"/>
          <p:nvPr/>
        </p:nvSpPr>
        <p:spPr>
          <a:xfrm rot="0">
            <a:off x="11490774" y="3362965"/>
            <a:ext cx="2563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2E36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grpSp>
        <p:nvGrpSpPr>
          <p:cNvPr name="Group 170" id="170"/>
          <p:cNvGrpSpPr/>
          <p:nvPr/>
        </p:nvGrpSpPr>
        <p:grpSpPr>
          <a:xfrm rot="0">
            <a:off x="11430035" y="4147668"/>
            <a:ext cx="377816" cy="377816"/>
            <a:chOff x="0" y="0"/>
            <a:chExt cx="812800" cy="8128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6F9"/>
            </a:solidFill>
          </p:spPr>
        </p:sp>
        <p:sp>
          <p:nvSpPr>
            <p:cNvPr name="TextBox 172" id="17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73" id="173"/>
          <p:cNvSpPr txBox="true"/>
          <p:nvPr/>
        </p:nvSpPr>
        <p:spPr>
          <a:xfrm rot="0">
            <a:off x="11490774" y="4169889"/>
            <a:ext cx="2563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2E36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11430035" y="4954592"/>
            <a:ext cx="377816" cy="377816"/>
            <a:chOff x="0" y="0"/>
            <a:chExt cx="812800" cy="8128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6F9"/>
            </a:solidFill>
          </p:spPr>
        </p:sp>
        <p:sp>
          <p:nvSpPr>
            <p:cNvPr name="TextBox 176" id="17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77" id="177"/>
          <p:cNvSpPr txBox="true"/>
          <p:nvPr/>
        </p:nvSpPr>
        <p:spPr>
          <a:xfrm rot="0">
            <a:off x="11490774" y="4976812"/>
            <a:ext cx="2563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2E36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</a:p>
        </p:txBody>
      </p:sp>
      <p:sp>
        <p:nvSpPr>
          <p:cNvPr name="AutoShape 178" id="178"/>
          <p:cNvSpPr/>
          <p:nvPr/>
        </p:nvSpPr>
        <p:spPr>
          <a:xfrm flipV="true">
            <a:off x="14443805" y="7475080"/>
            <a:ext cx="457257" cy="4677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9" id="179"/>
          <p:cNvSpPr/>
          <p:nvPr/>
        </p:nvSpPr>
        <p:spPr>
          <a:xfrm>
            <a:off x="14443805" y="8092440"/>
            <a:ext cx="41621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0" id="180"/>
          <p:cNvSpPr/>
          <p:nvPr/>
        </p:nvSpPr>
        <p:spPr>
          <a:xfrm flipV="true">
            <a:off x="14443805" y="8663026"/>
            <a:ext cx="457257" cy="5151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1" id="181"/>
          <p:cNvSpPr/>
          <p:nvPr/>
        </p:nvSpPr>
        <p:spPr>
          <a:xfrm>
            <a:off x="14443805" y="9233611"/>
            <a:ext cx="45725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9306" y="2662114"/>
            <a:ext cx="4039238" cy="4624454"/>
            <a:chOff x="0" y="0"/>
            <a:chExt cx="5385651" cy="61659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85562" cy="6165796"/>
            </a:xfrm>
            <a:custGeom>
              <a:avLst/>
              <a:gdLst/>
              <a:ahLst/>
              <a:cxnLst/>
              <a:rect r="r" b="b" t="t" l="l"/>
              <a:pathLst>
                <a:path h="6165796" w="5385562">
                  <a:moveTo>
                    <a:pt x="0" y="316090"/>
                  </a:moveTo>
                  <a:cubicBezTo>
                    <a:pt x="0" y="141462"/>
                    <a:pt x="87757" y="0"/>
                    <a:pt x="196088" y="0"/>
                  </a:cubicBezTo>
                  <a:lnTo>
                    <a:pt x="5189474" y="0"/>
                  </a:lnTo>
                  <a:cubicBezTo>
                    <a:pt x="5297805" y="0"/>
                    <a:pt x="5385562" y="141462"/>
                    <a:pt x="5385562" y="316090"/>
                  </a:cubicBezTo>
                  <a:lnTo>
                    <a:pt x="5385562" y="5849706"/>
                  </a:lnTo>
                  <a:cubicBezTo>
                    <a:pt x="5385562" y="6024333"/>
                    <a:pt x="5297805" y="6165795"/>
                    <a:pt x="5189474" y="6165795"/>
                  </a:cubicBezTo>
                  <a:lnTo>
                    <a:pt x="196088" y="6165795"/>
                  </a:lnTo>
                  <a:cubicBezTo>
                    <a:pt x="87757" y="6165977"/>
                    <a:pt x="0" y="6024333"/>
                    <a:pt x="0" y="5849706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CFFF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20816" y="2871216"/>
            <a:ext cx="3154680" cy="475488"/>
            <a:chOff x="0" y="0"/>
            <a:chExt cx="420624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6240" cy="633984"/>
            </a:xfrm>
            <a:custGeom>
              <a:avLst/>
              <a:gdLst/>
              <a:ahLst/>
              <a:cxnLst/>
              <a:rect r="r" b="b" t="t" l="l"/>
              <a:pathLst>
                <a:path h="633984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275" r="0" b="-79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2062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>
                  <a:solidFill>
                    <a:srgbClr val="D2F7E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9306" y="7398706"/>
            <a:ext cx="4039238" cy="2530478"/>
            <a:chOff x="0" y="0"/>
            <a:chExt cx="5385651" cy="33739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85689" cy="3374009"/>
            </a:xfrm>
            <a:custGeom>
              <a:avLst/>
              <a:gdLst/>
              <a:ahLst/>
              <a:cxnLst/>
              <a:rect r="r" b="b" t="t" l="l"/>
              <a:pathLst>
                <a:path h="3374009" w="538568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189347" y="0"/>
                  </a:lnTo>
                  <a:cubicBezTo>
                    <a:pt x="5297805" y="0"/>
                    <a:pt x="5385689" y="87884"/>
                    <a:pt x="5385689" y="196342"/>
                  </a:cubicBezTo>
                  <a:lnTo>
                    <a:pt x="5385689" y="3177667"/>
                  </a:lnTo>
                  <a:cubicBezTo>
                    <a:pt x="5385689" y="3286125"/>
                    <a:pt x="5297805" y="3374009"/>
                    <a:pt x="5189347" y="3374009"/>
                  </a:cubicBezTo>
                  <a:lnTo>
                    <a:pt x="196342" y="3374009"/>
                  </a:lnTo>
                  <a:cubicBezTo>
                    <a:pt x="87884" y="3374009"/>
                    <a:pt x="0" y="3286125"/>
                    <a:pt x="0" y="3177667"/>
                  </a:cubicBezTo>
                  <a:close/>
                </a:path>
              </a:pathLst>
            </a:custGeom>
            <a:solidFill>
              <a:srgbClr val="2E3643"/>
            </a:solidFill>
            <a:ln w="15875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7507224"/>
            <a:ext cx="457200" cy="457200"/>
            <a:chOff x="0" y="0"/>
            <a:chExt cx="609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9556" y="7612380"/>
            <a:ext cx="246888" cy="246888"/>
            <a:chOff x="0" y="0"/>
            <a:chExt cx="329184" cy="329184"/>
          </a:xfrm>
        </p:grpSpPr>
        <p:sp>
          <p:nvSpPr>
            <p:cNvPr name="Freeform 20" id="20" descr="EB44_FFFFFF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72184" y="7516368"/>
            <a:ext cx="3200400" cy="438912"/>
            <a:chOff x="0" y="0"/>
            <a:chExt cx="426720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C2E6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Levels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3544" y="8069580"/>
            <a:ext cx="1115568" cy="274320"/>
            <a:chOff x="0" y="0"/>
            <a:chExt cx="1487424" cy="365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E9E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3544" y="8069580"/>
            <a:ext cx="1115568" cy="274320"/>
            <a:chOff x="0" y="0"/>
            <a:chExt cx="1487424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12264" y="8010144"/>
            <a:ext cx="2596896" cy="393192"/>
            <a:chOff x="0" y="0"/>
            <a:chExt cx="3462528" cy="5242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unusual rain · routine checks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544" y="8481060"/>
            <a:ext cx="1115568" cy="274320"/>
            <a:chOff x="0" y="0"/>
            <a:chExt cx="1487424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39B2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3544" y="8481060"/>
            <a:ext cx="1115568" cy="274320"/>
            <a:chOff x="0" y="0"/>
            <a:chExt cx="1487424" cy="365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WATCH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12264" y="8421624"/>
            <a:ext cx="2596896" cy="393192"/>
            <a:chOff x="0" y="0"/>
            <a:chExt cx="3462528" cy="5242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Heavy rain (≥64.5 mm) on flood-prone wards → clinics on standby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3544" y="8892540"/>
            <a:ext cx="1115568" cy="274320"/>
            <a:chOff x="0" y="0"/>
            <a:chExt cx="1487424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DD6A2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23544" y="8892540"/>
            <a:ext cx="1115568" cy="274320"/>
            <a:chOff x="0" y="0"/>
            <a:chExt cx="1487424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WARNING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12264" y="8833104"/>
            <a:ext cx="2596896" cy="393192"/>
            <a:chOff x="0" y="0"/>
            <a:chExt cx="3462528" cy="5242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Very heavy rain (≥115.6 mm) + flooding → fever camps, SMS alerts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3544" y="9304020"/>
            <a:ext cx="1115568" cy="274320"/>
            <a:chOff x="0" y="0"/>
            <a:chExt cx="1487424" cy="365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3544" y="9304020"/>
            <a:ext cx="1115568" cy="274320"/>
            <a:chOff x="0" y="0"/>
            <a:chExt cx="1487424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EMERGENCY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12264" y="9244584"/>
            <a:ext cx="2596896" cy="393192"/>
            <a:chOff x="0" y="0"/>
            <a:chExt cx="3462528" cy="5242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Extreme rain (≥204.5 mm) or days of flooding → all-out response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75546" y="2662114"/>
            <a:ext cx="7376798" cy="2301878"/>
            <a:chOff x="0" y="0"/>
            <a:chExt cx="9835731" cy="30691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35769" cy="3069209"/>
            </a:xfrm>
            <a:custGeom>
              <a:avLst/>
              <a:gdLst/>
              <a:ahLst/>
              <a:cxnLst/>
              <a:rect r="r" b="b" t="t" l="l"/>
              <a:pathLst>
                <a:path h="3069209" w="9835769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9639300" y="0"/>
                  </a:lnTo>
                  <a:cubicBezTo>
                    <a:pt x="9747758" y="0"/>
                    <a:pt x="9835769" y="87884"/>
                    <a:pt x="9835769" y="196469"/>
                  </a:cubicBezTo>
                  <a:lnTo>
                    <a:pt x="9835769" y="2872740"/>
                  </a:lnTo>
                  <a:cubicBezTo>
                    <a:pt x="9835769" y="2981198"/>
                    <a:pt x="9747885" y="3069209"/>
                    <a:pt x="9639300" y="3069209"/>
                  </a:cubicBezTo>
                  <a:lnTo>
                    <a:pt x="196469" y="3069209"/>
                  </a:lnTo>
                  <a:cubicBezTo>
                    <a:pt x="87884" y="3069209"/>
                    <a:pt x="0" y="2981198"/>
                    <a:pt x="0" y="287274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3D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093208" y="2779776"/>
            <a:ext cx="548640" cy="548640"/>
            <a:chOff x="0" y="0"/>
            <a:chExt cx="7315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219395" y="2905963"/>
            <a:ext cx="296266" cy="296266"/>
            <a:chOff x="0" y="0"/>
            <a:chExt cx="395021" cy="395021"/>
          </a:xfrm>
        </p:grpSpPr>
        <p:sp>
          <p:nvSpPr>
            <p:cNvPr name="Freeform 61" id="61" descr="EA91_FFFFFF.png"/>
            <p:cNvSpPr/>
            <p:nvPr/>
          </p:nvSpPr>
          <p:spPr>
            <a:xfrm flipH="false" flipV="false" rot="0">
              <a:off x="0" y="0"/>
              <a:ext cx="394970" cy="394970"/>
            </a:xfrm>
            <a:custGeom>
              <a:avLst/>
              <a:gdLst/>
              <a:ahLst/>
              <a:cxnLst/>
              <a:rect r="r" b="b" t="t" l="l"/>
              <a:pathLst>
                <a:path h="394970" w="394970">
                  <a:moveTo>
                    <a:pt x="0" y="0"/>
                  </a:moveTo>
                  <a:lnTo>
                    <a:pt x="394970" y="0"/>
                  </a:lnTo>
                  <a:lnTo>
                    <a:pt x="394970" y="394970"/>
                  </a:lnTo>
                  <a:lnTo>
                    <a:pt x="0" y="394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2" b="-12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415016" y="2761488"/>
            <a:ext cx="658368" cy="658368"/>
            <a:chOff x="0" y="0"/>
            <a:chExt cx="877824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B8322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415016" y="2761488"/>
            <a:ext cx="658368" cy="658368"/>
            <a:chOff x="0" y="0"/>
            <a:chExt cx="877824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72h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128248" y="2761488"/>
            <a:ext cx="1143000" cy="694944"/>
            <a:chOff x="0" y="0"/>
            <a:chExt cx="152400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2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8008" t="0" r="-2800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52400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get preventive care after floodwater contact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537921" y="4158653"/>
            <a:ext cx="183194" cy="47587"/>
            <a:chOff x="0" y="0"/>
            <a:chExt cx="244259" cy="6344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4221" cy="63500"/>
            </a:xfrm>
            <a:custGeom>
              <a:avLst/>
              <a:gdLst/>
              <a:ahLst/>
              <a:cxnLst/>
              <a:rect r="r" b="b" t="t" l="l"/>
              <a:pathLst>
                <a:path h="6350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824176" y="4096988"/>
            <a:ext cx="183194" cy="109252"/>
            <a:chOff x="0" y="0"/>
            <a:chExt cx="244259" cy="1456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221" cy="145669"/>
            </a:xfrm>
            <a:custGeom>
              <a:avLst/>
              <a:gdLst/>
              <a:ahLst/>
              <a:cxnLst/>
              <a:rect r="r" b="b" t="t" l="l"/>
              <a:pathLst>
                <a:path h="145669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145669"/>
                  </a:lnTo>
                  <a:lnTo>
                    <a:pt x="0" y="145669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110421" y="3968296"/>
            <a:ext cx="183194" cy="237944"/>
            <a:chOff x="0" y="0"/>
            <a:chExt cx="244259" cy="3172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4221" cy="317246"/>
            </a:xfrm>
            <a:custGeom>
              <a:avLst/>
              <a:gdLst/>
              <a:ahLst/>
              <a:cxnLst/>
              <a:rect r="r" b="b" t="t" l="l"/>
              <a:pathLst>
                <a:path h="31724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317246"/>
                  </a:lnTo>
                  <a:lnTo>
                    <a:pt x="0" y="31724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396666" y="3847871"/>
            <a:ext cx="183194" cy="358369"/>
            <a:chOff x="0" y="0"/>
            <a:chExt cx="244259" cy="47782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4221" cy="477774"/>
            </a:xfrm>
            <a:custGeom>
              <a:avLst/>
              <a:gdLst/>
              <a:ahLst/>
              <a:cxnLst/>
              <a:rect r="r" b="b" t="t" l="l"/>
              <a:pathLst>
                <a:path h="47777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77774"/>
                  </a:lnTo>
                  <a:lnTo>
                    <a:pt x="0" y="477774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682911" y="3975745"/>
            <a:ext cx="183194" cy="230495"/>
            <a:chOff x="0" y="0"/>
            <a:chExt cx="244259" cy="30732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4221" cy="307340"/>
            </a:xfrm>
            <a:custGeom>
              <a:avLst/>
              <a:gdLst/>
              <a:ahLst/>
              <a:cxnLst/>
              <a:rect r="r" b="b" t="t" l="l"/>
              <a:pathLst>
                <a:path h="30734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307340"/>
                  </a:lnTo>
                  <a:lnTo>
                    <a:pt x="0" y="30734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969157" y="3991880"/>
            <a:ext cx="183194" cy="214360"/>
            <a:chOff x="0" y="0"/>
            <a:chExt cx="244259" cy="28581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4221" cy="285750"/>
            </a:xfrm>
            <a:custGeom>
              <a:avLst/>
              <a:gdLst/>
              <a:ahLst/>
              <a:cxnLst/>
              <a:rect r="r" b="b" t="t" l="l"/>
              <a:pathLst>
                <a:path h="28575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255402" y="3883047"/>
            <a:ext cx="183194" cy="323193"/>
            <a:chOff x="0" y="0"/>
            <a:chExt cx="244259" cy="4309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4221" cy="430911"/>
            </a:xfrm>
            <a:custGeom>
              <a:avLst/>
              <a:gdLst/>
              <a:ahLst/>
              <a:cxnLst/>
              <a:rect r="r" b="b" t="t" l="l"/>
              <a:pathLst>
                <a:path h="430911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30911"/>
                  </a:lnTo>
                  <a:lnTo>
                    <a:pt x="0" y="430911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541657" y="3639722"/>
            <a:ext cx="183194" cy="566518"/>
            <a:chOff x="0" y="0"/>
            <a:chExt cx="244259" cy="75535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4221" cy="755396"/>
            </a:xfrm>
            <a:custGeom>
              <a:avLst/>
              <a:gdLst/>
              <a:ahLst/>
              <a:cxnLst/>
              <a:rect r="r" b="b" t="t" l="l"/>
              <a:pathLst>
                <a:path h="75539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755396"/>
                  </a:lnTo>
                  <a:lnTo>
                    <a:pt x="0" y="755396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827902" y="3660829"/>
            <a:ext cx="183194" cy="545411"/>
            <a:chOff x="0" y="0"/>
            <a:chExt cx="244259" cy="72721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4221" cy="727202"/>
            </a:xfrm>
            <a:custGeom>
              <a:avLst/>
              <a:gdLst/>
              <a:ahLst/>
              <a:cxnLst/>
              <a:rect r="r" b="b" t="t" l="l"/>
              <a:pathLst>
                <a:path h="727202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727202"/>
                  </a:lnTo>
                  <a:lnTo>
                    <a:pt x="0" y="727202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114147" y="3976983"/>
            <a:ext cx="183194" cy="229257"/>
            <a:chOff x="0" y="0"/>
            <a:chExt cx="244259" cy="30567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4221" cy="305689"/>
            </a:xfrm>
            <a:custGeom>
              <a:avLst/>
              <a:gdLst/>
              <a:ahLst/>
              <a:cxnLst/>
              <a:rect r="r" b="b" t="t" l="l"/>
              <a:pathLst>
                <a:path h="305689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305689"/>
                  </a:lnTo>
                  <a:lnTo>
                    <a:pt x="0" y="305689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400393" y="4099065"/>
            <a:ext cx="183194" cy="107175"/>
            <a:chOff x="0" y="0"/>
            <a:chExt cx="244259" cy="1429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4221" cy="142875"/>
            </a:xfrm>
            <a:custGeom>
              <a:avLst/>
              <a:gdLst/>
              <a:ahLst/>
              <a:cxnLst/>
              <a:rect r="r" b="b" t="t" l="l"/>
              <a:pathLst>
                <a:path h="142875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686638" y="4187952"/>
            <a:ext cx="183194" cy="18288"/>
            <a:chOff x="0" y="0"/>
            <a:chExt cx="244259" cy="243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972883" y="4187952"/>
            <a:ext cx="183194" cy="18288"/>
            <a:chOff x="0" y="0"/>
            <a:chExt cx="244259" cy="243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259138" y="4174788"/>
            <a:ext cx="183194" cy="31452"/>
            <a:chOff x="0" y="0"/>
            <a:chExt cx="244259" cy="4193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4221" cy="41910"/>
            </a:xfrm>
            <a:custGeom>
              <a:avLst/>
              <a:gdLst/>
              <a:ahLst/>
              <a:cxnLst/>
              <a:rect r="r" b="b" t="t" l="l"/>
              <a:pathLst>
                <a:path h="4191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191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45384" y="4174788"/>
            <a:ext cx="183194" cy="31452"/>
            <a:chOff x="0" y="0"/>
            <a:chExt cx="244259" cy="4193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4221" cy="41910"/>
            </a:xfrm>
            <a:custGeom>
              <a:avLst/>
              <a:gdLst/>
              <a:ahLst/>
              <a:cxnLst/>
              <a:rect r="r" b="b" t="t" l="l"/>
              <a:pathLst>
                <a:path h="4191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191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31629" y="4187952"/>
            <a:ext cx="183194" cy="18288"/>
            <a:chOff x="0" y="0"/>
            <a:chExt cx="244259" cy="243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117874" y="4187952"/>
            <a:ext cx="183194" cy="18288"/>
            <a:chOff x="0" y="0"/>
            <a:chExt cx="244259" cy="2438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404119" y="4140441"/>
            <a:ext cx="183194" cy="65799"/>
            <a:chOff x="0" y="0"/>
            <a:chExt cx="244259" cy="8773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221" cy="87757"/>
            </a:xfrm>
            <a:custGeom>
              <a:avLst/>
              <a:gdLst/>
              <a:ahLst/>
              <a:cxnLst/>
              <a:rect r="r" b="b" t="t" l="l"/>
              <a:pathLst>
                <a:path h="87757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87757"/>
                  </a:lnTo>
                  <a:lnTo>
                    <a:pt x="0" y="87757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690365" y="4170236"/>
            <a:ext cx="183194" cy="36004"/>
            <a:chOff x="0" y="0"/>
            <a:chExt cx="244259" cy="4800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221" cy="48006"/>
            </a:xfrm>
            <a:custGeom>
              <a:avLst/>
              <a:gdLst/>
              <a:ahLst/>
              <a:cxnLst/>
              <a:rect r="r" b="b" t="t" l="l"/>
              <a:pathLst>
                <a:path h="4800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976620" y="4138374"/>
            <a:ext cx="183194" cy="67866"/>
            <a:chOff x="0" y="0"/>
            <a:chExt cx="244259" cy="904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4221" cy="90424"/>
            </a:xfrm>
            <a:custGeom>
              <a:avLst/>
              <a:gdLst/>
              <a:ahLst/>
              <a:cxnLst/>
              <a:rect r="r" b="b" t="t" l="l"/>
              <a:pathLst>
                <a:path h="9042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90424"/>
                  </a:lnTo>
                  <a:lnTo>
                    <a:pt x="0" y="9042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262865" y="4139203"/>
            <a:ext cx="183194" cy="67037"/>
            <a:chOff x="0" y="0"/>
            <a:chExt cx="244259" cy="8938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4221" cy="89408"/>
            </a:xfrm>
            <a:custGeom>
              <a:avLst/>
              <a:gdLst/>
              <a:ahLst/>
              <a:cxnLst/>
              <a:rect r="r" b="b" t="t" l="l"/>
              <a:pathLst>
                <a:path h="89408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549110" y="4069271"/>
            <a:ext cx="183194" cy="136970"/>
            <a:chOff x="0" y="0"/>
            <a:chExt cx="244259" cy="18262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4221" cy="182626"/>
            </a:xfrm>
            <a:custGeom>
              <a:avLst/>
              <a:gdLst/>
              <a:ahLst/>
              <a:cxnLst/>
              <a:rect r="r" b="b" t="t" l="l"/>
              <a:pathLst>
                <a:path h="18262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182626"/>
                  </a:lnTo>
                  <a:lnTo>
                    <a:pt x="0" y="18262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835355" y="3987327"/>
            <a:ext cx="183194" cy="218904"/>
            <a:chOff x="0" y="0"/>
            <a:chExt cx="244259" cy="29187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4221" cy="291846"/>
            </a:xfrm>
            <a:custGeom>
              <a:avLst/>
              <a:gdLst/>
              <a:ahLst/>
              <a:cxnLst/>
              <a:rect r="r" b="b" t="t" l="l"/>
              <a:pathLst>
                <a:path h="29184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91846"/>
                  </a:lnTo>
                  <a:lnTo>
                    <a:pt x="0" y="29184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sp>
        <p:nvSpPr>
          <p:cNvPr name="AutoShape 116" id="116"/>
          <p:cNvSpPr/>
          <p:nvPr/>
        </p:nvSpPr>
        <p:spPr>
          <a:xfrm rot="8280">
            <a:off x="5478456" y="4201478"/>
            <a:ext cx="6599577" cy="0"/>
          </a:xfrm>
          <a:prstGeom prst="line">
            <a:avLst/>
          </a:prstGeom>
          <a:ln cap="rnd" w="9525">
            <a:solidFill>
              <a:srgbClr val="8A97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6424260" y="3683279"/>
            <a:ext cx="128016" cy="128016"/>
            <a:chOff x="0" y="0"/>
            <a:chExt cx="170688" cy="1706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E39B2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569241" y="3474720"/>
            <a:ext cx="128016" cy="128016"/>
            <a:chOff x="0" y="0"/>
            <a:chExt cx="170688" cy="1706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DD6A2B"/>
            </a:solidFill>
          </p:spPr>
        </p:sp>
      </p:grpSp>
      <p:sp>
        <p:nvSpPr>
          <p:cNvPr name="AutoShape 121" id="121"/>
          <p:cNvSpPr/>
          <p:nvPr/>
        </p:nvSpPr>
        <p:spPr>
          <a:xfrm rot="5333400">
            <a:off x="7466143" y="4082415"/>
            <a:ext cx="1147153" cy="0"/>
          </a:xfrm>
          <a:prstGeom prst="line">
            <a:avLst/>
          </a:prstGeom>
          <a:ln cap="rnd" w="19050">
            <a:solidFill>
              <a:srgbClr val="B832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2" id="122"/>
          <p:cNvGrpSpPr/>
          <p:nvPr/>
        </p:nvGrpSpPr>
        <p:grpSpPr>
          <a:xfrm rot="0">
            <a:off x="6345136" y="4407408"/>
            <a:ext cx="1431236" cy="246888"/>
            <a:chOff x="0" y="0"/>
            <a:chExt cx="1908315" cy="3291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08302" cy="329184"/>
            </a:xfrm>
            <a:custGeom>
              <a:avLst/>
              <a:gdLst/>
              <a:ahLst/>
              <a:cxnLst/>
              <a:rect r="r" b="b" t="t" l="l"/>
              <a:pathLst>
                <a:path h="329184" w="190830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810766" y="0"/>
                  </a:lnTo>
                  <a:cubicBezTo>
                    <a:pt x="1864614" y="0"/>
                    <a:pt x="1908302" y="43688"/>
                    <a:pt x="1908302" y="97536"/>
                  </a:cubicBezTo>
                  <a:lnTo>
                    <a:pt x="1908302" y="231648"/>
                  </a:lnTo>
                  <a:cubicBezTo>
                    <a:pt x="1908302" y="285496"/>
                    <a:pt x="1864614" y="329184"/>
                    <a:pt x="1810766" y="329184"/>
                  </a:cubicBezTo>
                  <a:lnTo>
                    <a:pt x="97536" y="329184"/>
                  </a:lnTo>
                  <a:cubicBezTo>
                    <a:pt x="43688" y="329184"/>
                    <a:pt x="0" y="285496"/>
                    <a:pt x="0" y="231648"/>
                  </a:cubicBezTo>
                  <a:close/>
                </a:path>
              </a:pathLst>
            </a:custGeom>
            <a:solidFill>
              <a:srgbClr val="0E8C93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345136" y="4407408"/>
            <a:ext cx="1431236" cy="246888"/>
            <a:chOff x="0" y="0"/>
            <a:chExt cx="1908315" cy="3291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08312" cy="329184"/>
            </a:xfrm>
            <a:custGeom>
              <a:avLst/>
              <a:gdLst/>
              <a:ahLst/>
              <a:cxnLst/>
              <a:rect r="r" b="b" t="t" l="l"/>
              <a:pathLst>
                <a:path h="329184" w="1908312">
                  <a:moveTo>
                    <a:pt x="0" y="0"/>
                  </a:moveTo>
                  <a:lnTo>
                    <a:pt x="1908312" y="0"/>
                  </a:lnTo>
                  <a:lnTo>
                    <a:pt x="190831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956" r="0" b="-6295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1908315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VARSHA alerts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8094583" y="4407408"/>
            <a:ext cx="1097280" cy="246888"/>
            <a:chOff x="0" y="0"/>
            <a:chExt cx="1463040" cy="32918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463040" cy="329184"/>
            </a:xfrm>
            <a:custGeom>
              <a:avLst/>
              <a:gdLst/>
              <a:ahLst/>
              <a:cxnLst/>
              <a:rect r="r" b="b" t="t" l="l"/>
              <a:pathLst>
                <a:path h="329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1463040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BMC advice, 6 Jul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207608" y="4407408"/>
            <a:ext cx="2862472" cy="246888"/>
            <a:chOff x="0" y="0"/>
            <a:chExt cx="3816629" cy="32918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816604" cy="329184"/>
            </a:xfrm>
            <a:custGeom>
              <a:avLst/>
              <a:gdLst/>
              <a:ahLst/>
              <a:cxnLst/>
              <a:rect r="r" b="b" t="t" l="l"/>
              <a:pathLst>
                <a:path h="329184" w="3816604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3719068" y="0"/>
                  </a:lnTo>
                  <a:cubicBezTo>
                    <a:pt x="3772916" y="0"/>
                    <a:pt x="3816604" y="43688"/>
                    <a:pt x="3816604" y="97536"/>
                  </a:cubicBezTo>
                  <a:lnTo>
                    <a:pt x="3816604" y="231648"/>
                  </a:lnTo>
                  <a:cubicBezTo>
                    <a:pt x="3816604" y="285496"/>
                    <a:pt x="3772916" y="329184"/>
                    <a:pt x="3719068" y="329184"/>
                  </a:cubicBezTo>
                  <a:lnTo>
                    <a:pt x="97536" y="329184"/>
                  </a:lnTo>
                  <a:cubicBezTo>
                    <a:pt x="43688" y="329184"/>
                    <a:pt x="0" y="285496"/>
                    <a:pt x="0" y="231648"/>
                  </a:cubicBezTo>
                  <a:close/>
                </a:path>
              </a:pathLst>
            </a:custGeom>
            <a:solidFill>
              <a:srgbClr val="F7D0CC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207608" y="4407408"/>
            <a:ext cx="2862472" cy="246888"/>
            <a:chOff x="0" y="0"/>
            <a:chExt cx="3816629" cy="32918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816625" cy="329184"/>
            </a:xfrm>
            <a:custGeom>
              <a:avLst/>
              <a:gdLst/>
              <a:ahLst/>
              <a:cxnLst/>
              <a:rect r="r" b="b" t="t" l="l"/>
              <a:pathLst>
                <a:path h="329184" w="3816625">
                  <a:moveTo>
                    <a:pt x="0" y="0"/>
                  </a:moveTo>
                  <a:lnTo>
                    <a:pt x="3816625" y="0"/>
                  </a:lnTo>
                  <a:lnTo>
                    <a:pt x="3816625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5913" r="0" b="-175913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3816629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case wave (7–14 days later)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4983480" y="5074920"/>
            <a:ext cx="1371600" cy="3401568"/>
            <a:chOff x="0" y="0"/>
            <a:chExt cx="1828800" cy="4535424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49657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5074920" y="5843016"/>
            <a:ext cx="1371600" cy="310896"/>
            <a:chOff x="0" y="0"/>
            <a:chExt cx="1828800" cy="41452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6480810" y="5074920"/>
            <a:ext cx="1371600" cy="3401568"/>
            <a:chOff x="0" y="0"/>
            <a:chExt cx="1828800" cy="453542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476C7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6572250" y="5843016"/>
            <a:ext cx="1371600" cy="310896"/>
            <a:chOff x="0" y="0"/>
            <a:chExt cx="1828800" cy="41452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7978140" y="5074920"/>
            <a:ext cx="1371600" cy="3401568"/>
            <a:chOff x="0" y="0"/>
            <a:chExt cx="1828800" cy="45354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5C746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75470" y="5074920"/>
            <a:ext cx="1371600" cy="3401568"/>
            <a:chOff x="0" y="0"/>
            <a:chExt cx="1828800" cy="453542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8D7851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10972800" y="5074920"/>
            <a:ext cx="1371600" cy="3401568"/>
            <a:chOff x="0" y="0"/>
            <a:chExt cx="1828800" cy="453542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67607B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8545068" y="8476488"/>
            <a:ext cx="237744" cy="118872"/>
            <a:chOff x="0" y="0"/>
            <a:chExt cx="316992" cy="15849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16992" cy="158496"/>
            </a:xfrm>
            <a:custGeom>
              <a:avLst/>
              <a:gdLst/>
              <a:ahLst/>
              <a:cxnLst/>
              <a:rect r="r" b="b" t="t" l="l"/>
              <a:pathLst>
                <a:path h="158496" w="316992">
                  <a:moveTo>
                    <a:pt x="0" y="79248"/>
                  </a:moveTo>
                  <a:lnTo>
                    <a:pt x="79248" y="79248"/>
                  </a:lnTo>
                  <a:lnTo>
                    <a:pt x="79248" y="0"/>
                  </a:lnTo>
                  <a:lnTo>
                    <a:pt x="237744" y="0"/>
                  </a:lnTo>
                  <a:lnTo>
                    <a:pt x="237744" y="79248"/>
                  </a:lnTo>
                  <a:lnTo>
                    <a:pt x="316992" y="79248"/>
                  </a:lnTo>
                  <a:lnTo>
                    <a:pt x="158496" y="158496"/>
                  </a:lnTo>
                  <a:close/>
                </a:path>
              </a:pathLst>
            </a:custGeom>
            <a:solidFill>
              <a:srgbClr val="7C8796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983480" y="8595360"/>
            <a:ext cx="7360920" cy="1325880"/>
            <a:chOff x="0" y="0"/>
            <a:chExt cx="9814560" cy="17678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814560" cy="1767840"/>
            </a:xfrm>
            <a:custGeom>
              <a:avLst/>
              <a:gdLst/>
              <a:ahLst/>
              <a:cxnLst/>
              <a:rect r="r" b="b" t="t" l="l"/>
              <a:pathLst>
                <a:path h="1767840" w="9814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643872" y="0"/>
                  </a:lnTo>
                  <a:cubicBezTo>
                    <a:pt x="9738106" y="0"/>
                    <a:pt x="9814560" y="76454"/>
                    <a:pt x="9814560" y="170688"/>
                  </a:cubicBezTo>
                  <a:lnTo>
                    <a:pt x="9814560" y="1597152"/>
                  </a:lnTo>
                  <a:cubicBezTo>
                    <a:pt x="9814560" y="1691386"/>
                    <a:pt x="9738106" y="1767840"/>
                    <a:pt x="9643872" y="1767840"/>
                  </a:cubicBezTo>
                  <a:lnTo>
                    <a:pt x="170688" y="1767840"/>
                  </a:lnTo>
                  <a:cubicBezTo>
                    <a:pt x="76454" y="1767840"/>
                    <a:pt x="0" y="1691386"/>
                    <a:pt x="0" y="1597152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5059423" y="8918191"/>
            <a:ext cx="1722625" cy="927097"/>
            <a:chOff x="0" y="0"/>
            <a:chExt cx="2296833" cy="1236129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6888223" y="8918191"/>
            <a:ext cx="1722625" cy="927097"/>
            <a:chOff x="0" y="0"/>
            <a:chExt cx="2296833" cy="1236129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8717023" y="8918191"/>
            <a:ext cx="1722625" cy="927097"/>
            <a:chOff x="0" y="0"/>
            <a:chExt cx="2296833" cy="1236129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10545823" y="8918191"/>
            <a:ext cx="1722625" cy="927097"/>
            <a:chOff x="0" y="0"/>
            <a:chExt cx="2296833" cy="1236129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531723" y="2804962"/>
            <a:ext cx="5330384" cy="7116278"/>
            <a:chOff x="0" y="0"/>
            <a:chExt cx="1403887" cy="187424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403887" cy="1874246"/>
            </a:xfrm>
            <a:custGeom>
              <a:avLst/>
              <a:gdLst/>
              <a:ahLst/>
              <a:cxnLst/>
              <a:rect r="r" b="b" t="t" l="l"/>
              <a:pathLst>
                <a:path h="1874246" w="1403887">
                  <a:moveTo>
                    <a:pt x="0" y="0"/>
                  </a:moveTo>
                  <a:lnTo>
                    <a:pt x="1403887" y="0"/>
                  </a:lnTo>
                  <a:lnTo>
                    <a:pt x="1403887" y="1874246"/>
                  </a:lnTo>
                  <a:lnTo>
                    <a:pt x="0" y="1874246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  <p:sp>
          <p:nvSpPr>
            <p:cNvPr name="TextBox 163" id="163"/>
            <p:cNvSpPr txBox="true"/>
            <p:nvPr/>
          </p:nvSpPr>
          <p:spPr>
            <a:xfrm>
              <a:off x="0" y="-19050"/>
              <a:ext cx="1403887" cy="1893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531723" y="2662114"/>
            <a:ext cx="5340325" cy="462554"/>
            <a:chOff x="0" y="0"/>
            <a:chExt cx="6750688" cy="58471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750688" cy="584713"/>
            </a:xfrm>
            <a:custGeom>
              <a:avLst/>
              <a:gdLst/>
              <a:ahLst/>
              <a:cxnLst/>
              <a:rect r="r" b="b" t="t" l="l"/>
              <a:pathLst>
                <a:path h="584713" w="6750688">
                  <a:moveTo>
                    <a:pt x="0" y="292357"/>
                  </a:moveTo>
                  <a:cubicBezTo>
                    <a:pt x="0" y="130892"/>
                    <a:pt x="157126" y="0"/>
                    <a:pt x="350953" y="0"/>
                  </a:cubicBezTo>
                  <a:lnTo>
                    <a:pt x="6399735" y="0"/>
                  </a:lnTo>
                  <a:cubicBezTo>
                    <a:pt x="6593561" y="0"/>
                    <a:pt x="6750688" y="130892"/>
                    <a:pt x="6750688" y="292357"/>
                  </a:cubicBezTo>
                  <a:cubicBezTo>
                    <a:pt x="6750688" y="453821"/>
                    <a:pt x="6593562" y="584713"/>
                    <a:pt x="6399735" y="584713"/>
                  </a:cubicBezTo>
                  <a:lnTo>
                    <a:pt x="350953" y="584713"/>
                  </a:lnTo>
                  <a:cubicBezTo>
                    <a:pt x="157126" y="584713"/>
                    <a:pt x="0" y="453821"/>
                    <a:pt x="0" y="292357"/>
                  </a:cubicBezTo>
                  <a:close/>
                </a:path>
              </a:pathLst>
            </a:custGeom>
            <a:solidFill>
              <a:srgbClr val="2D4675"/>
            </a:solidFill>
            <a:ln w="19050" cap="sq">
              <a:solidFill>
                <a:srgbClr val="A6DAF5"/>
              </a:solidFill>
              <a:prstDash val="solid"/>
              <a:miter/>
            </a:ln>
          </p:spPr>
        </p:sp>
      </p:grpSp>
      <p:grpSp>
        <p:nvGrpSpPr>
          <p:cNvPr name="Group 166" id="166"/>
          <p:cNvGrpSpPr/>
          <p:nvPr/>
        </p:nvGrpSpPr>
        <p:grpSpPr>
          <a:xfrm rot="0">
            <a:off x="12909364" y="3493833"/>
            <a:ext cx="4743628" cy="1058222"/>
            <a:chOff x="0" y="0"/>
            <a:chExt cx="2130850" cy="475356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130851" cy="475356"/>
            </a:xfrm>
            <a:custGeom>
              <a:avLst/>
              <a:gdLst/>
              <a:ahLst/>
              <a:cxnLst/>
              <a:rect r="r" b="b" t="t" l="l"/>
              <a:pathLst>
                <a:path h="475356" w="2130851">
                  <a:moveTo>
                    <a:pt x="27745" y="0"/>
                  </a:moveTo>
                  <a:lnTo>
                    <a:pt x="2103105" y="0"/>
                  </a:lnTo>
                  <a:cubicBezTo>
                    <a:pt x="2110464" y="0"/>
                    <a:pt x="2117521" y="2923"/>
                    <a:pt x="2122724" y="8126"/>
                  </a:cubicBezTo>
                  <a:cubicBezTo>
                    <a:pt x="2127927" y="13330"/>
                    <a:pt x="2130851" y="20387"/>
                    <a:pt x="2130851" y="27745"/>
                  </a:cubicBezTo>
                  <a:lnTo>
                    <a:pt x="2130851" y="447611"/>
                  </a:lnTo>
                  <a:cubicBezTo>
                    <a:pt x="2130851" y="454970"/>
                    <a:pt x="2127927" y="462027"/>
                    <a:pt x="2122724" y="467230"/>
                  </a:cubicBezTo>
                  <a:cubicBezTo>
                    <a:pt x="2117521" y="472433"/>
                    <a:pt x="2110464" y="475356"/>
                    <a:pt x="2103105" y="475356"/>
                  </a:cubicBezTo>
                  <a:lnTo>
                    <a:pt x="27745" y="475356"/>
                  </a:lnTo>
                  <a:cubicBezTo>
                    <a:pt x="20387" y="475356"/>
                    <a:pt x="13330" y="472433"/>
                    <a:pt x="8126" y="467230"/>
                  </a:cubicBezTo>
                  <a:cubicBezTo>
                    <a:pt x="2923" y="462027"/>
                    <a:pt x="0" y="454970"/>
                    <a:pt x="0" y="447611"/>
                  </a:cubicBezTo>
                  <a:lnTo>
                    <a:pt x="0" y="27745"/>
                  </a:lnTo>
                  <a:cubicBezTo>
                    <a:pt x="0" y="20387"/>
                    <a:pt x="2923" y="13330"/>
                    <a:pt x="8126" y="8126"/>
                  </a:cubicBezTo>
                  <a:cubicBezTo>
                    <a:pt x="13330" y="2923"/>
                    <a:pt x="20387" y="0"/>
                    <a:pt x="27745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2130850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2630284" y="3708280"/>
            <a:ext cx="629328" cy="629328"/>
            <a:chOff x="0" y="0"/>
            <a:chExt cx="812800" cy="8128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71" id="17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172" id="172"/>
          <p:cNvSpPr/>
          <p:nvPr/>
        </p:nvSpPr>
        <p:spPr>
          <a:xfrm flipH="false" flipV="false" rot="0">
            <a:off x="12750473" y="3831306"/>
            <a:ext cx="388949" cy="383277"/>
          </a:xfrm>
          <a:custGeom>
            <a:avLst/>
            <a:gdLst/>
            <a:ahLst/>
            <a:cxnLst/>
            <a:rect r="r" b="b" t="t" l="l"/>
            <a:pathLst>
              <a:path h="383277" w="388949">
                <a:moveTo>
                  <a:pt x="0" y="0"/>
                </a:moveTo>
                <a:lnTo>
                  <a:pt x="388949" y="0"/>
                </a:lnTo>
                <a:lnTo>
                  <a:pt x="388949" y="383276"/>
                </a:lnTo>
                <a:lnTo>
                  <a:pt x="0" y="383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3" id="173"/>
          <p:cNvGrpSpPr/>
          <p:nvPr/>
        </p:nvGrpSpPr>
        <p:grpSpPr>
          <a:xfrm rot="0">
            <a:off x="12934629" y="4792231"/>
            <a:ext cx="4718362" cy="1058222"/>
            <a:chOff x="0" y="0"/>
            <a:chExt cx="2119501" cy="4753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19501" cy="475356"/>
            </a:xfrm>
            <a:custGeom>
              <a:avLst/>
              <a:gdLst/>
              <a:ahLst/>
              <a:cxnLst/>
              <a:rect r="r" b="b" t="t" l="l"/>
              <a:pathLst>
                <a:path h="475356" w="2119501">
                  <a:moveTo>
                    <a:pt x="27894" y="0"/>
                  </a:moveTo>
                  <a:lnTo>
                    <a:pt x="2091607" y="0"/>
                  </a:lnTo>
                  <a:cubicBezTo>
                    <a:pt x="2099005" y="0"/>
                    <a:pt x="2106100" y="2939"/>
                    <a:pt x="2111331" y="8170"/>
                  </a:cubicBezTo>
                  <a:cubicBezTo>
                    <a:pt x="2116562" y="13401"/>
                    <a:pt x="2119501" y="20496"/>
                    <a:pt x="2119501" y="27894"/>
                  </a:cubicBezTo>
                  <a:lnTo>
                    <a:pt x="2119501" y="447463"/>
                  </a:lnTo>
                  <a:cubicBezTo>
                    <a:pt x="2119501" y="454860"/>
                    <a:pt x="2116562" y="461955"/>
                    <a:pt x="2111331" y="467186"/>
                  </a:cubicBezTo>
                  <a:cubicBezTo>
                    <a:pt x="2106100" y="472417"/>
                    <a:pt x="2099005" y="475356"/>
                    <a:pt x="2091607" y="475356"/>
                  </a:cubicBezTo>
                  <a:lnTo>
                    <a:pt x="27894" y="475356"/>
                  </a:lnTo>
                  <a:cubicBezTo>
                    <a:pt x="20496" y="475356"/>
                    <a:pt x="13401" y="472417"/>
                    <a:pt x="8170" y="467186"/>
                  </a:cubicBezTo>
                  <a:cubicBezTo>
                    <a:pt x="2939" y="461955"/>
                    <a:pt x="0" y="454860"/>
                    <a:pt x="0" y="447463"/>
                  </a:cubicBezTo>
                  <a:lnTo>
                    <a:pt x="0" y="27894"/>
                  </a:lnTo>
                  <a:cubicBezTo>
                    <a:pt x="0" y="20496"/>
                    <a:pt x="2939" y="13401"/>
                    <a:pt x="8170" y="8170"/>
                  </a:cubicBezTo>
                  <a:cubicBezTo>
                    <a:pt x="13401" y="2939"/>
                    <a:pt x="20496" y="0"/>
                    <a:pt x="27894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75" id="175"/>
            <p:cNvSpPr txBox="true"/>
            <p:nvPr/>
          </p:nvSpPr>
          <p:spPr>
            <a:xfrm>
              <a:off x="0" y="-19050"/>
              <a:ext cx="2119501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655549" y="5006678"/>
            <a:ext cx="629328" cy="629328"/>
            <a:chOff x="0" y="0"/>
            <a:chExt cx="812800" cy="8128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78" id="17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179" id="179"/>
          <p:cNvSpPr/>
          <p:nvPr/>
        </p:nvSpPr>
        <p:spPr>
          <a:xfrm flipH="false" flipV="false" rot="0">
            <a:off x="12775739" y="5129704"/>
            <a:ext cx="388949" cy="383277"/>
          </a:xfrm>
          <a:custGeom>
            <a:avLst/>
            <a:gdLst/>
            <a:ahLst/>
            <a:cxnLst/>
            <a:rect r="r" b="b" t="t" l="l"/>
            <a:pathLst>
              <a:path h="383277" w="388949">
                <a:moveTo>
                  <a:pt x="0" y="0"/>
                </a:moveTo>
                <a:lnTo>
                  <a:pt x="388949" y="0"/>
                </a:lnTo>
                <a:lnTo>
                  <a:pt x="388949" y="383276"/>
                </a:lnTo>
                <a:lnTo>
                  <a:pt x="0" y="383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0" id="180"/>
          <p:cNvGrpSpPr/>
          <p:nvPr/>
        </p:nvGrpSpPr>
        <p:grpSpPr>
          <a:xfrm rot="0">
            <a:off x="12959895" y="6090629"/>
            <a:ext cx="4693097" cy="1058222"/>
            <a:chOff x="0" y="0"/>
            <a:chExt cx="2108152" cy="475356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108152" cy="475356"/>
            </a:xfrm>
            <a:custGeom>
              <a:avLst/>
              <a:gdLst/>
              <a:ahLst/>
              <a:cxnLst/>
              <a:rect r="r" b="b" t="t" l="l"/>
              <a:pathLst>
                <a:path h="475356" w="2108152">
                  <a:moveTo>
                    <a:pt x="28044" y="0"/>
                  </a:moveTo>
                  <a:lnTo>
                    <a:pt x="2080108" y="0"/>
                  </a:lnTo>
                  <a:cubicBezTo>
                    <a:pt x="2095596" y="0"/>
                    <a:pt x="2108152" y="12556"/>
                    <a:pt x="2108152" y="28044"/>
                  </a:cubicBezTo>
                  <a:lnTo>
                    <a:pt x="2108152" y="447312"/>
                  </a:lnTo>
                  <a:cubicBezTo>
                    <a:pt x="2108152" y="454750"/>
                    <a:pt x="2105197" y="461883"/>
                    <a:pt x="2099938" y="467142"/>
                  </a:cubicBezTo>
                  <a:cubicBezTo>
                    <a:pt x="2094679" y="472402"/>
                    <a:pt x="2087545" y="475356"/>
                    <a:pt x="2080108" y="475356"/>
                  </a:cubicBezTo>
                  <a:lnTo>
                    <a:pt x="28044" y="475356"/>
                  </a:lnTo>
                  <a:cubicBezTo>
                    <a:pt x="20606" y="475356"/>
                    <a:pt x="13473" y="472402"/>
                    <a:pt x="8214" y="467142"/>
                  </a:cubicBezTo>
                  <a:cubicBezTo>
                    <a:pt x="2955" y="461883"/>
                    <a:pt x="0" y="454750"/>
                    <a:pt x="0" y="447312"/>
                  </a:cubicBezTo>
                  <a:lnTo>
                    <a:pt x="0" y="28044"/>
                  </a:lnTo>
                  <a:cubicBezTo>
                    <a:pt x="0" y="20606"/>
                    <a:pt x="2955" y="13473"/>
                    <a:pt x="8214" y="8214"/>
                  </a:cubicBezTo>
                  <a:cubicBezTo>
                    <a:pt x="13473" y="2955"/>
                    <a:pt x="20606" y="0"/>
                    <a:pt x="28044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19050"/>
              <a:ext cx="2108152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2680815" y="6305076"/>
            <a:ext cx="629328" cy="629328"/>
            <a:chOff x="0" y="0"/>
            <a:chExt cx="812800" cy="8128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85" id="18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186" id="186"/>
          <p:cNvSpPr/>
          <p:nvPr/>
        </p:nvSpPr>
        <p:spPr>
          <a:xfrm flipH="false" flipV="false" rot="0">
            <a:off x="12801005" y="6428102"/>
            <a:ext cx="388949" cy="383277"/>
          </a:xfrm>
          <a:custGeom>
            <a:avLst/>
            <a:gdLst/>
            <a:ahLst/>
            <a:cxnLst/>
            <a:rect r="r" b="b" t="t" l="l"/>
            <a:pathLst>
              <a:path h="383277" w="388949">
                <a:moveTo>
                  <a:pt x="0" y="0"/>
                </a:moveTo>
                <a:lnTo>
                  <a:pt x="388949" y="0"/>
                </a:lnTo>
                <a:lnTo>
                  <a:pt x="388949" y="383276"/>
                </a:lnTo>
                <a:lnTo>
                  <a:pt x="0" y="383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7" id="187"/>
          <p:cNvGrpSpPr/>
          <p:nvPr/>
        </p:nvGrpSpPr>
        <p:grpSpPr>
          <a:xfrm rot="0">
            <a:off x="12985161" y="7389027"/>
            <a:ext cx="4667831" cy="1058222"/>
            <a:chOff x="0" y="0"/>
            <a:chExt cx="2096802" cy="47535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096802" cy="475356"/>
            </a:xfrm>
            <a:custGeom>
              <a:avLst/>
              <a:gdLst/>
              <a:ahLst/>
              <a:cxnLst/>
              <a:rect r="r" b="b" t="t" l="l"/>
              <a:pathLst>
                <a:path h="475356" w="2096802">
                  <a:moveTo>
                    <a:pt x="28196" y="0"/>
                  </a:moveTo>
                  <a:lnTo>
                    <a:pt x="2068606" y="0"/>
                  </a:lnTo>
                  <a:cubicBezTo>
                    <a:pt x="2084178" y="0"/>
                    <a:pt x="2096802" y="12624"/>
                    <a:pt x="2096802" y="28196"/>
                  </a:cubicBezTo>
                  <a:lnTo>
                    <a:pt x="2096802" y="447161"/>
                  </a:lnTo>
                  <a:cubicBezTo>
                    <a:pt x="2096802" y="462733"/>
                    <a:pt x="2084178" y="475356"/>
                    <a:pt x="2068606" y="475356"/>
                  </a:cubicBezTo>
                  <a:lnTo>
                    <a:pt x="28196" y="475356"/>
                  </a:lnTo>
                  <a:cubicBezTo>
                    <a:pt x="12624" y="475356"/>
                    <a:pt x="0" y="462733"/>
                    <a:pt x="0" y="447161"/>
                  </a:cubicBezTo>
                  <a:lnTo>
                    <a:pt x="0" y="28196"/>
                  </a:lnTo>
                  <a:cubicBezTo>
                    <a:pt x="0" y="12624"/>
                    <a:pt x="12624" y="0"/>
                    <a:pt x="28196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89" id="189"/>
            <p:cNvSpPr txBox="true"/>
            <p:nvPr/>
          </p:nvSpPr>
          <p:spPr>
            <a:xfrm>
              <a:off x="0" y="-19050"/>
              <a:ext cx="2096802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2706081" y="7603474"/>
            <a:ext cx="629328" cy="629328"/>
            <a:chOff x="0" y="0"/>
            <a:chExt cx="812800" cy="81280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92" id="19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193" id="193"/>
          <p:cNvSpPr/>
          <p:nvPr/>
        </p:nvSpPr>
        <p:spPr>
          <a:xfrm flipH="false" flipV="false" rot="0">
            <a:off x="12826271" y="7726500"/>
            <a:ext cx="388949" cy="383277"/>
          </a:xfrm>
          <a:custGeom>
            <a:avLst/>
            <a:gdLst/>
            <a:ahLst/>
            <a:cxnLst/>
            <a:rect r="r" b="b" t="t" l="l"/>
            <a:pathLst>
              <a:path h="383277" w="388949">
                <a:moveTo>
                  <a:pt x="0" y="0"/>
                </a:moveTo>
                <a:lnTo>
                  <a:pt x="388948" y="0"/>
                </a:lnTo>
                <a:lnTo>
                  <a:pt x="388948" y="383276"/>
                </a:lnTo>
                <a:lnTo>
                  <a:pt x="0" y="383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4" id="194"/>
          <p:cNvGrpSpPr/>
          <p:nvPr/>
        </p:nvGrpSpPr>
        <p:grpSpPr>
          <a:xfrm rot="0">
            <a:off x="13010427" y="8687425"/>
            <a:ext cx="4642565" cy="1058222"/>
            <a:chOff x="0" y="0"/>
            <a:chExt cx="2085453" cy="47535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085453" cy="475356"/>
            </a:xfrm>
            <a:custGeom>
              <a:avLst/>
              <a:gdLst/>
              <a:ahLst/>
              <a:cxnLst/>
              <a:rect r="r" b="b" t="t" l="l"/>
              <a:pathLst>
                <a:path h="475356" w="2085453">
                  <a:moveTo>
                    <a:pt x="28349" y="0"/>
                  </a:moveTo>
                  <a:lnTo>
                    <a:pt x="2057104" y="0"/>
                  </a:lnTo>
                  <a:cubicBezTo>
                    <a:pt x="2072760" y="0"/>
                    <a:pt x="2085453" y="12692"/>
                    <a:pt x="2085453" y="28349"/>
                  </a:cubicBezTo>
                  <a:lnTo>
                    <a:pt x="2085453" y="447007"/>
                  </a:lnTo>
                  <a:cubicBezTo>
                    <a:pt x="2085453" y="462664"/>
                    <a:pt x="2072760" y="475356"/>
                    <a:pt x="2057104" y="475356"/>
                  </a:cubicBezTo>
                  <a:lnTo>
                    <a:pt x="28349" y="475356"/>
                  </a:lnTo>
                  <a:cubicBezTo>
                    <a:pt x="12692" y="475356"/>
                    <a:pt x="0" y="462664"/>
                    <a:pt x="0" y="447007"/>
                  </a:cubicBezTo>
                  <a:lnTo>
                    <a:pt x="0" y="28349"/>
                  </a:lnTo>
                  <a:cubicBezTo>
                    <a:pt x="0" y="12692"/>
                    <a:pt x="12692" y="0"/>
                    <a:pt x="28349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96" id="196"/>
            <p:cNvSpPr txBox="true"/>
            <p:nvPr/>
          </p:nvSpPr>
          <p:spPr>
            <a:xfrm>
              <a:off x="0" y="-19050"/>
              <a:ext cx="2085453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2731347" y="8901872"/>
            <a:ext cx="629328" cy="629328"/>
            <a:chOff x="0" y="0"/>
            <a:chExt cx="812800" cy="81280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99" id="19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200" id="200"/>
          <p:cNvSpPr/>
          <p:nvPr/>
        </p:nvSpPr>
        <p:spPr>
          <a:xfrm flipH="false" flipV="false" rot="0">
            <a:off x="12851536" y="9024898"/>
            <a:ext cx="388949" cy="383277"/>
          </a:xfrm>
          <a:custGeom>
            <a:avLst/>
            <a:gdLst/>
            <a:ahLst/>
            <a:cxnLst/>
            <a:rect r="r" b="b" t="t" l="l"/>
            <a:pathLst>
              <a:path h="383277" w="388949">
                <a:moveTo>
                  <a:pt x="0" y="0"/>
                </a:moveTo>
                <a:lnTo>
                  <a:pt x="388949" y="0"/>
                </a:lnTo>
                <a:lnTo>
                  <a:pt x="388949" y="383276"/>
                </a:lnTo>
                <a:lnTo>
                  <a:pt x="0" y="383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1" id="201"/>
          <p:cNvGrpSpPr/>
          <p:nvPr/>
        </p:nvGrpSpPr>
        <p:grpSpPr>
          <a:xfrm rot="0">
            <a:off x="959501" y="2906598"/>
            <a:ext cx="368284" cy="368147"/>
            <a:chOff x="0" y="0"/>
            <a:chExt cx="491045" cy="490863"/>
          </a:xfrm>
        </p:grpSpPr>
        <p:grpSp>
          <p:nvGrpSpPr>
            <p:cNvPr name="Group 202" id="202"/>
            <p:cNvGrpSpPr/>
            <p:nvPr/>
          </p:nvGrpSpPr>
          <p:grpSpPr>
            <a:xfrm rot="0">
              <a:off x="0" y="0"/>
              <a:ext cx="491045" cy="490863"/>
              <a:chOff x="0" y="0"/>
              <a:chExt cx="914739" cy="914400"/>
            </a:xfrm>
          </p:grpSpPr>
          <p:sp>
            <p:nvSpPr>
              <p:cNvPr name="Freeform 203" id="203"/>
              <p:cNvSpPr/>
              <p:nvPr/>
            </p:nvSpPr>
            <p:spPr>
              <a:xfrm flipH="false" flipV="false" rot="0">
                <a:off x="0" y="0"/>
                <a:ext cx="914739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739">
                    <a:moveTo>
                      <a:pt x="0" y="457200"/>
                    </a:moveTo>
                    <a:cubicBezTo>
                      <a:pt x="0" y="204724"/>
                      <a:pt x="204800" y="0"/>
                      <a:pt x="457370" y="0"/>
                    </a:cubicBezTo>
                    <a:cubicBezTo>
                      <a:pt x="709939" y="0"/>
                      <a:pt x="914739" y="204724"/>
                      <a:pt x="914739" y="457200"/>
                    </a:cubicBezTo>
                    <a:cubicBezTo>
                      <a:pt x="914739" y="709676"/>
                      <a:pt x="709939" y="914400"/>
                      <a:pt x="457370" y="914400"/>
                    </a:cubicBezTo>
                    <a:cubicBezTo>
                      <a:pt x="204800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D2F7E2"/>
              </a:solidFill>
            </p:spPr>
          </p:sp>
        </p:grpSp>
        <p:grpSp>
          <p:nvGrpSpPr>
            <p:cNvPr name="Group 204" id="204"/>
            <p:cNvGrpSpPr/>
            <p:nvPr/>
          </p:nvGrpSpPr>
          <p:grpSpPr>
            <a:xfrm rot="0">
              <a:off x="112084" y="116267"/>
              <a:ext cx="262650" cy="262553"/>
              <a:chOff x="0" y="0"/>
              <a:chExt cx="512254" cy="512064"/>
            </a:xfrm>
          </p:grpSpPr>
          <p:sp>
            <p:nvSpPr>
              <p:cNvPr name="Freeform 205" id="205" descr="bulb.png"/>
              <p:cNvSpPr/>
              <p:nvPr/>
            </p:nvSpPr>
            <p:spPr>
              <a:xfrm flipH="false" flipV="false" rot="0">
                <a:off x="0" y="0"/>
                <a:ext cx="51225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512254">
                    <a:moveTo>
                      <a:pt x="0" y="0"/>
                    </a:moveTo>
                    <a:lnTo>
                      <a:pt x="512254" y="0"/>
                    </a:lnTo>
                    <a:lnTo>
                      <a:pt x="512254" y="512064"/>
                    </a:lnTo>
                    <a:lnTo>
                      <a:pt x="0" y="5120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F7E2"/>
              </a:solidFill>
            </p:spPr>
          </p:sp>
        </p:grpSp>
        <p:sp>
          <p:nvSpPr>
            <p:cNvPr name="Freeform 206" id="206"/>
            <p:cNvSpPr/>
            <p:nvPr/>
          </p:nvSpPr>
          <p:spPr>
            <a:xfrm flipH="false" flipV="false" rot="0">
              <a:off x="100794" y="90641"/>
              <a:ext cx="289458" cy="309580"/>
            </a:xfrm>
            <a:custGeom>
              <a:avLst/>
              <a:gdLst/>
              <a:ahLst/>
              <a:cxnLst/>
              <a:rect r="r" b="b" t="t" l="l"/>
              <a:pathLst>
                <a:path h="309580" w="289458">
                  <a:moveTo>
                    <a:pt x="0" y="0"/>
                  </a:moveTo>
                  <a:lnTo>
                    <a:pt x="289457" y="0"/>
                  </a:lnTo>
                  <a:lnTo>
                    <a:pt x="289457" y="309581"/>
                  </a:lnTo>
                  <a:lnTo>
                    <a:pt x="0" y="309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8042148" y="5843016"/>
            <a:ext cx="1371600" cy="310896"/>
            <a:chOff x="0" y="0"/>
            <a:chExt cx="1828800" cy="414528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209" id="209"/>
          <p:cNvGrpSpPr/>
          <p:nvPr/>
        </p:nvGrpSpPr>
        <p:grpSpPr>
          <a:xfrm rot="0">
            <a:off x="9512046" y="5843016"/>
            <a:ext cx="1371600" cy="310896"/>
            <a:chOff x="0" y="0"/>
            <a:chExt cx="1828800" cy="41452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211" id="211"/>
          <p:cNvGrpSpPr/>
          <p:nvPr/>
        </p:nvGrpSpPr>
        <p:grpSpPr>
          <a:xfrm rot="0">
            <a:off x="11046504" y="5850453"/>
            <a:ext cx="1371600" cy="310896"/>
            <a:chOff x="0" y="0"/>
            <a:chExt cx="1828800" cy="414528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sp>
        <p:nvSpPr>
          <p:cNvPr name="Freeform 213" id="213"/>
          <p:cNvSpPr/>
          <p:nvPr/>
        </p:nvSpPr>
        <p:spPr>
          <a:xfrm flipH="false" flipV="false" rot="0">
            <a:off x="5733288" y="8973466"/>
            <a:ext cx="234563" cy="243070"/>
          </a:xfrm>
          <a:custGeom>
            <a:avLst/>
            <a:gdLst/>
            <a:ahLst/>
            <a:cxnLst/>
            <a:rect r="r" b="b" t="t" l="l"/>
            <a:pathLst>
              <a:path h="243070" w="234563">
                <a:moveTo>
                  <a:pt x="0" y="0"/>
                </a:moveTo>
                <a:lnTo>
                  <a:pt x="234563" y="0"/>
                </a:lnTo>
                <a:lnTo>
                  <a:pt x="234563" y="243070"/>
                </a:lnTo>
                <a:lnTo>
                  <a:pt x="0" y="2430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4" id="214"/>
          <p:cNvSpPr/>
          <p:nvPr/>
        </p:nvSpPr>
        <p:spPr>
          <a:xfrm flipH="false" flipV="false" rot="0">
            <a:off x="9413748" y="8992362"/>
            <a:ext cx="246166" cy="246166"/>
          </a:xfrm>
          <a:custGeom>
            <a:avLst/>
            <a:gdLst/>
            <a:ahLst/>
            <a:cxnLst/>
            <a:rect r="r" b="b" t="t" l="l"/>
            <a:pathLst>
              <a:path h="246166" w="246166">
                <a:moveTo>
                  <a:pt x="0" y="0"/>
                </a:moveTo>
                <a:lnTo>
                  <a:pt x="246166" y="0"/>
                </a:lnTo>
                <a:lnTo>
                  <a:pt x="246166" y="246166"/>
                </a:lnTo>
                <a:lnTo>
                  <a:pt x="0" y="2461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5" id="215"/>
          <p:cNvSpPr/>
          <p:nvPr/>
        </p:nvSpPr>
        <p:spPr>
          <a:xfrm flipH="false" flipV="false" rot="0">
            <a:off x="11239748" y="8975884"/>
            <a:ext cx="249160" cy="250412"/>
          </a:xfrm>
          <a:custGeom>
            <a:avLst/>
            <a:gdLst/>
            <a:ahLst/>
            <a:cxnLst/>
            <a:rect r="r" b="b" t="t" l="l"/>
            <a:pathLst>
              <a:path h="250412" w="249160">
                <a:moveTo>
                  <a:pt x="0" y="0"/>
                </a:moveTo>
                <a:lnTo>
                  <a:pt x="249160" y="0"/>
                </a:lnTo>
                <a:lnTo>
                  <a:pt x="249160" y="250412"/>
                </a:lnTo>
                <a:lnTo>
                  <a:pt x="0" y="2504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6" id="216"/>
          <p:cNvSpPr/>
          <p:nvPr/>
        </p:nvSpPr>
        <p:spPr>
          <a:xfrm flipH="false" flipV="false" rot="0">
            <a:off x="5464223" y="5354517"/>
            <a:ext cx="330598" cy="395926"/>
          </a:xfrm>
          <a:custGeom>
            <a:avLst/>
            <a:gdLst/>
            <a:ahLst/>
            <a:cxnLst/>
            <a:rect r="r" b="b" t="t" l="l"/>
            <a:pathLst>
              <a:path h="395926" w="330598">
                <a:moveTo>
                  <a:pt x="0" y="0"/>
                </a:moveTo>
                <a:lnTo>
                  <a:pt x="330599" y="0"/>
                </a:lnTo>
                <a:lnTo>
                  <a:pt x="330599" y="395926"/>
                </a:lnTo>
                <a:lnTo>
                  <a:pt x="0" y="3959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7" id="217"/>
          <p:cNvSpPr/>
          <p:nvPr/>
        </p:nvSpPr>
        <p:spPr>
          <a:xfrm flipH="false" flipV="false" rot="0">
            <a:off x="6920961" y="5287969"/>
            <a:ext cx="442092" cy="488499"/>
          </a:xfrm>
          <a:custGeom>
            <a:avLst/>
            <a:gdLst/>
            <a:ahLst/>
            <a:cxnLst/>
            <a:rect r="r" b="b" t="t" l="l"/>
            <a:pathLst>
              <a:path h="488499" w="442092">
                <a:moveTo>
                  <a:pt x="0" y="0"/>
                </a:moveTo>
                <a:lnTo>
                  <a:pt x="442092" y="0"/>
                </a:lnTo>
                <a:lnTo>
                  <a:pt x="442092" y="488499"/>
                </a:lnTo>
                <a:lnTo>
                  <a:pt x="0" y="4884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8" id="218"/>
          <p:cNvSpPr/>
          <p:nvPr/>
        </p:nvSpPr>
        <p:spPr>
          <a:xfrm flipH="false" flipV="false" rot="0">
            <a:off x="8437630" y="5321342"/>
            <a:ext cx="498016" cy="430784"/>
          </a:xfrm>
          <a:custGeom>
            <a:avLst/>
            <a:gdLst/>
            <a:ahLst/>
            <a:cxnLst/>
            <a:rect r="r" b="b" t="t" l="l"/>
            <a:pathLst>
              <a:path h="430784" w="498016">
                <a:moveTo>
                  <a:pt x="0" y="0"/>
                </a:moveTo>
                <a:lnTo>
                  <a:pt x="498016" y="0"/>
                </a:lnTo>
                <a:lnTo>
                  <a:pt x="498016" y="430784"/>
                </a:lnTo>
                <a:lnTo>
                  <a:pt x="0" y="4307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9" id="219"/>
          <p:cNvSpPr/>
          <p:nvPr/>
        </p:nvSpPr>
        <p:spPr>
          <a:xfrm flipH="false" flipV="false" rot="0">
            <a:off x="11409045" y="5363885"/>
            <a:ext cx="502920" cy="377190"/>
          </a:xfrm>
          <a:custGeom>
            <a:avLst/>
            <a:gdLst/>
            <a:ahLst/>
            <a:cxnLst/>
            <a:rect r="r" b="b" t="t" l="l"/>
            <a:pathLst>
              <a:path h="377190" w="502920">
                <a:moveTo>
                  <a:pt x="0" y="0"/>
                </a:moveTo>
                <a:lnTo>
                  <a:pt x="502920" y="0"/>
                </a:lnTo>
                <a:lnTo>
                  <a:pt x="502920" y="377190"/>
                </a:lnTo>
                <a:lnTo>
                  <a:pt x="0" y="37719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0" id="220"/>
          <p:cNvSpPr/>
          <p:nvPr/>
        </p:nvSpPr>
        <p:spPr>
          <a:xfrm flipH="false" flipV="false" rot="0">
            <a:off x="9843401" y="5328134"/>
            <a:ext cx="548947" cy="417199"/>
          </a:xfrm>
          <a:custGeom>
            <a:avLst/>
            <a:gdLst/>
            <a:ahLst/>
            <a:cxnLst/>
            <a:rect r="r" b="b" t="t" l="l"/>
            <a:pathLst>
              <a:path h="417199" w="548947">
                <a:moveTo>
                  <a:pt x="0" y="0"/>
                </a:moveTo>
                <a:lnTo>
                  <a:pt x="548946" y="0"/>
                </a:lnTo>
                <a:lnTo>
                  <a:pt x="548946" y="417199"/>
                </a:lnTo>
                <a:lnTo>
                  <a:pt x="0" y="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1" id="221"/>
          <p:cNvSpPr/>
          <p:nvPr/>
        </p:nvSpPr>
        <p:spPr>
          <a:xfrm flipH="false" flipV="false" rot="0">
            <a:off x="7580112" y="8969032"/>
            <a:ext cx="289478" cy="247504"/>
          </a:xfrm>
          <a:custGeom>
            <a:avLst/>
            <a:gdLst/>
            <a:ahLst/>
            <a:cxnLst/>
            <a:rect r="r" b="b" t="t" l="l"/>
            <a:pathLst>
              <a:path h="247504" w="289478">
                <a:moveTo>
                  <a:pt x="0" y="0"/>
                </a:moveTo>
                <a:lnTo>
                  <a:pt x="289478" y="0"/>
                </a:lnTo>
                <a:lnTo>
                  <a:pt x="289478" y="247504"/>
                </a:lnTo>
                <a:lnTo>
                  <a:pt x="0" y="24750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2" id="222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&amp; Key Features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7415527" y="1946148"/>
            <a:ext cx="10232393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EE6E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VARSHA: which wards, when, and what to do, before the fever wave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959501" y="3381756"/>
            <a:ext cx="3566160" cy="204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b="true" sz="1449">
                <a:solidFill>
                  <a:srgbClr val="FC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VARSHA</a:t>
            </a:r>
            <a:r>
              <a:rPr lang="en-US" sz="1449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 turns live rainfall into </a:t>
            </a:r>
            <a:r>
              <a:rPr lang="en-US" b="true" sz="1449">
                <a:solidFill>
                  <a:srgbClr val="FC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ward-level disease alerts</a:t>
            </a:r>
            <a:r>
              <a:rPr lang="en-US" sz="1449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 for Mumbai. Using </a:t>
            </a:r>
            <a:r>
              <a:rPr lang="en-US" b="true" sz="1449">
                <a:solidFill>
                  <a:srgbClr val="FC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real public data</a:t>
            </a:r>
            <a:r>
              <a:rPr lang="en-US" sz="1449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 (17 years of IDSP outbreak records, IMD &amp; NOAA rain gauges, live forecasts, BMC flood spots and Census ward data) it predicts where leptospirosis, dengue and malaria will rise </a:t>
            </a:r>
            <a:r>
              <a:rPr lang="en-US" b="true" sz="1449">
                <a:solidFill>
                  <a:srgbClr val="FC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cases peak</a:t>
            </a:r>
            <a:r>
              <a:rPr lang="en-US" sz="1449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, shows BMC where to act first, and alerts citizens in Marathi, Hindi &amp; English.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923544" y="9646158"/>
            <a:ext cx="3749040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i="true">
                <a:solidFill>
                  <a:srgbClr val="CCCDC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Rain levels = IMD's official 24-hour rainfall categories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5733288" y="2714625"/>
            <a:ext cx="448056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F23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Mumbai, July 2026: ~984 mm of rain in 7 days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Leptospirosis: </a:t>
            </a:r>
            <a:r>
              <a:rPr lang="en-US" sz="1250" b="true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 cases (June) → 78 (July)</a:t>
            </a:r>
          </a:p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B832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BMC's citywide advice: 6 Jul, 10:39 PM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5263763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28 Jun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6122508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1 Jul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8984971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11 Jul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1561197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20 Jul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9966960" y="3547110"/>
            <a:ext cx="2103120" cy="22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i="true">
                <a:solidFill>
                  <a:srgbClr val="5B65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Daily rain, mm (Open-Meteo, real data)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5528148" y="3572408"/>
            <a:ext cx="868680" cy="22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 b="true">
                <a:solidFill>
                  <a:srgbClr val="E39B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WATCH 1 Jul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6426241" y="3363849"/>
            <a:ext cx="1115568" cy="22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 b="true">
                <a:solidFill>
                  <a:srgbClr val="DD6A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WARNING 5 Jul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5166360" y="4634865"/>
            <a:ext cx="6995160" cy="284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 b="true">
                <a:solidFill>
                  <a:srgbClr val="0E8C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Real-data check: on 26 Jul 2005 a free weather map showed ~70 mm, gauges ~944 mm. So VARSHA uses real gauges.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4983480" y="622458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Sources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5022885" y="6625971"/>
            <a:ext cx="124358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IDSP outbreaks (2009–26)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BMC reports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IMD &amp; NOAA gauges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Live forecasts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Flood spots &amp; census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6480810" y="621677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Ingestion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6544818" y="6595110"/>
            <a:ext cx="1243584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Auto-fetch: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rain hourly, outbreaks weekly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PDF reader: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IDSP tables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Rain fix: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forecast vs real gauges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 stamp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on every number</a:t>
            </a:r>
          </a:p>
        </p:txBody>
      </p:sp>
      <p:sp>
        <p:nvSpPr>
          <p:cNvPr name="TextBox 239" id="239"/>
          <p:cNvSpPr txBox="true"/>
          <p:nvPr/>
        </p:nvSpPr>
        <p:spPr>
          <a:xfrm rot="0">
            <a:off x="7978140" y="621677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sp>
        <p:nvSpPr>
          <p:cNvPr name="TextBox 240" id="240"/>
          <p:cNvSpPr txBox="true"/>
          <p:nvPr/>
        </p:nvSpPr>
        <p:spPr>
          <a:xfrm rot="0">
            <a:off x="8042148" y="6625971"/>
            <a:ext cx="1243584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24 wards: people &amp; slum share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386 flood spots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~200 Aapla Dawakhanas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29,433 outbreak records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PostGIS</a:t>
            </a:r>
          </a:p>
        </p:txBody>
      </p:sp>
      <p:sp>
        <p:nvSpPr>
          <p:cNvPr name="TextBox 241" id="241"/>
          <p:cNvSpPr txBox="true"/>
          <p:nvPr/>
        </p:nvSpPr>
        <p:spPr>
          <a:xfrm rot="0">
            <a:off x="9475470" y="621677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</a:t>
            </a:r>
          </a:p>
        </p:txBody>
      </p:sp>
      <p:sp>
        <p:nvSpPr>
          <p:cNvPr name="TextBox 242" id="242"/>
          <p:cNvSpPr txBox="true"/>
          <p:nvPr/>
        </p:nvSpPr>
        <p:spPr>
          <a:xfrm rot="0">
            <a:off x="9512046" y="6664071"/>
            <a:ext cx="124358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Exposure: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rain × floods × people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Lepto: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case wave in 7–14 days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Mosquito: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dengue &amp; malaria risk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Spikes: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unusual case jumps</a:t>
            </a:r>
          </a:p>
        </p:txBody>
      </p:sp>
      <p:sp>
        <p:nvSpPr>
          <p:cNvPr name="TextBox 243" id="243"/>
          <p:cNvSpPr txBox="true"/>
          <p:nvPr/>
        </p:nvSpPr>
        <p:spPr>
          <a:xfrm rot="0">
            <a:off x="10980744" y="622458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</a:p>
        </p:txBody>
      </p:sp>
      <p:sp>
        <p:nvSpPr>
          <p:cNvPr name="TextBox 244" id="244"/>
          <p:cNvSpPr txBox="true"/>
          <p:nvPr/>
        </p:nvSpPr>
        <p:spPr>
          <a:xfrm rot="0">
            <a:off x="11027664" y="6754368"/>
            <a:ext cx="124358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Ward risk map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 Machine: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replay past floods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Action Planner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“Why this alert?” panel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4983480" y="8594217"/>
            <a:ext cx="736092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b="true" sz="1350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 &amp; Alerts</a:t>
            </a:r>
          </a:p>
        </p:txBody>
      </p:sp>
      <p:sp>
        <p:nvSpPr>
          <p:cNvPr name="TextBox 246" id="246"/>
          <p:cNvSpPr txBox="true"/>
          <p:nvPr/>
        </p:nvSpPr>
        <p:spPr>
          <a:xfrm rot="0">
            <a:off x="51114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Ward Action Sheet</a:t>
            </a:r>
          </a:p>
        </p:txBody>
      </p:sp>
      <p:sp>
        <p:nvSpPr>
          <p:cNvPr name="TextBox 247" id="247"/>
          <p:cNvSpPr txBox="true"/>
          <p:nvPr/>
        </p:nvSpPr>
        <p:spPr>
          <a:xfrm rot="0">
            <a:off x="5120640" y="9435465"/>
            <a:ext cx="1600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PDF plan for each health officer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69402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Citizen Alerts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6949440" y="9464040"/>
            <a:ext cx="1600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SMS / WhatsApp: मराठी · हिंदी · English</a:t>
            </a:r>
          </a:p>
        </p:txBody>
      </p:sp>
      <p:sp>
        <p:nvSpPr>
          <p:cNvPr name="TextBox 250" id="250"/>
          <p:cNvSpPr txBox="true"/>
          <p:nvPr/>
        </p:nvSpPr>
        <p:spPr>
          <a:xfrm rot="0">
            <a:off x="87690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 Alerts</a:t>
            </a:r>
          </a:p>
        </p:txBody>
      </p:sp>
      <p:sp>
        <p:nvSpPr>
          <p:cNvPr name="TextBox 251" id="251"/>
          <p:cNvSpPr txBox="true"/>
          <p:nvPr/>
        </p:nvSpPr>
        <p:spPr>
          <a:xfrm rot="0">
            <a:off x="8778240" y="9435465"/>
            <a:ext cx="1600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Expect cases: treat fever early</a:t>
            </a:r>
          </a:p>
        </p:txBody>
      </p:sp>
      <p:sp>
        <p:nvSpPr>
          <p:cNvPr name="TextBox 252" id="252"/>
          <p:cNvSpPr txBox="true"/>
          <p:nvPr/>
        </p:nvSpPr>
        <p:spPr>
          <a:xfrm rot="0">
            <a:off x="105978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Weekly Bulletin</a:t>
            </a:r>
          </a:p>
        </p:txBody>
      </p:sp>
      <p:sp>
        <p:nvSpPr>
          <p:cNvPr name="TextBox 253" id="253"/>
          <p:cNvSpPr txBox="true"/>
          <p:nvPr/>
        </p:nvSpPr>
        <p:spPr>
          <a:xfrm rot="0">
            <a:off x="10607040" y="9435465"/>
            <a:ext cx="1600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Auto-drafted, officer-approved</a:t>
            </a:r>
          </a:p>
        </p:txBody>
      </p:sp>
      <p:sp>
        <p:nvSpPr>
          <p:cNvPr name="TextBox 254" id="254"/>
          <p:cNvSpPr txBox="true"/>
          <p:nvPr/>
        </p:nvSpPr>
        <p:spPr>
          <a:xfrm rot="0">
            <a:off x="13148202" y="3751446"/>
            <a:ext cx="18652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Internet </a:t>
            </a:r>
          </a:p>
          <a:p>
            <a:pPr algn="ctr">
              <a:lnSpc>
                <a:spcPts val="1821"/>
              </a:lnSpc>
              <a:spcBef>
                <a:spcPct val="0"/>
              </a:spcBef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Dependent</a:t>
            </a:r>
          </a:p>
        </p:txBody>
      </p:sp>
      <p:sp>
        <p:nvSpPr>
          <p:cNvPr name="TextBox 255" id="255"/>
          <p:cNvSpPr txBox="true"/>
          <p:nvPr/>
        </p:nvSpPr>
        <p:spPr>
          <a:xfrm rot="0">
            <a:off x="12750473" y="2726703"/>
            <a:ext cx="51879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name="TextBox 256" id="256"/>
          <p:cNvSpPr txBox="true"/>
          <p:nvPr/>
        </p:nvSpPr>
        <p:spPr>
          <a:xfrm rot="0">
            <a:off x="13173468" y="5049844"/>
            <a:ext cx="18652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Internet </a:t>
            </a:r>
          </a:p>
          <a:p>
            <a:pPr algn="ctr">
              <a:lnSpc>
                <a:spcPts val="1821"/>
              </a:lnSpc>
              <a:spcBef>
                <a:spcPct val="0"/>
              </a:spcBef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Dependent</a:t>
            </a:r>
          </a:p>
        </p:txBody>
      </p:sp>
      <p:sp>
        <p:nvSpPr>
          <p:cNvPr name="TextBox 257" id="257"/>
          <p:cNvSpPr txBox="true"/>
          <p:nvPr/>
        </p:nvSpPr>
        <p:spPr>
          <a:xfrm rot="0">
            <a:off x="13198733" y="6348242"/>
            <a:ext cx="18652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Internet </a:t>
            </a:r>
          </a:p>
          <a:p>
            <a:pPr algn="ctr">
              <a:lnSpc>
                <a:spcPts val="1821"/>
              </a:lnSpc>
              <a:spcBef>
                <a:spcPct val="0"/>
              </a:spcBef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Dependent</a:t>
            </a:r>
          </a:p>
        </p:txBody>
      </p:sp>
      <p:sp>
        <p:nvSpPr>
          <p:cNvPr name="TextBox 258" id="258"/>
          <p:cNvSpPr txBox="true"/>
          <p:nvPr/>
        </p:nvSpPr>
        <p:spPr>
          <a:xfrm rot="0">
            <a:off x="13223999" y="7646640"/>
            <a:ext cx="18652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Internet </a:t>
            </a:r>
          </a:p>
          <a:p>
            <a:pPr algn="ctr">
              <a:lnSpc>
                <a:spcPts val="1821"/>
              </a:lnSpc>
              <a:spcBef>
                <a:spcPct val="0"/>
              </a:spcBef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Dependent</a:t>
            </a:r>
          </a:p>
        </p:txBody>
      </p:sp>
      <p:sp>
        <p:nvSpPr>
          <p:cNvPr name="TextBox 259" id="259"/>
          <p:cNvSpPr txBox="true"/>
          <p:nvPr/>
        </p:nvSpPr>
        <p:spPr>
          <a:xfrm rot="0">
            <a:off x="13249265" y="8945038"/>
            <a:ext cx="18652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Internet </a:t>
            </a:r>
          </a:p>
          <a:p>
            <a:pPr algn="ctr">
              <a:lnSpc>
                <a:spcPts val="1821"/>
              </a:lnSpc>
              <a:spcBef>
                <a:spcPct val="0"/>
              </a:spcBef>
            </a:pPr>
            <a:r>
              <a:rPr lang="en-US" sz="15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7240" y="3291840"/>
            <a:ext cx="7387865" cy="932688"/>
            <a:chOff x="0" y="0"/>
            <a:chExt cx="9850487" cy="1243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32688" y="3474720"/>
            <a:ext cx="566928" cy="566928"/>
            <a:chOff x="0" y="0"/>
            <a:chExt cx="755904" cy="7559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63085" y="3605117"/>
            <a:ext cx="306143" cy="306143"/>
            <a:chOff x="0" y="0"/>
            <a:chExt cx="408191" cy="408191"/>
          </a:xfrm>
        </p:grpSpPr>
        <p:sp>
          <p:nvSpPr>
            <p:cNvPr name="Freeform 15" id="15" descr="E800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77240" y="4370832"/>
            <a:ext cx="7387865" cy="932688"/>
            <a:chOff x="0" y="0"/>
            <a:chExt cx="9850487" cy="1243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2688" y="4553712"/>
            <a:ext cx="566928" cy="566928"/>
            <a:chOff x="0" y="0"/>
            <a:chExt cx="755904" cy="7559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63085" y="4684109"/>
            <a:ext cx="306143" cy="306143"/>
            <a:chOff x="0" y="0"/>
            <a:chExt cx="408191" cy="408191"/>
          </a:xfrm>
        </p:grpSpPr>
        <p:sp>
          <p:nvSpPr>
            <p:cNvPr name="Freeform 21" id="21" descr="E943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77240" y="5449824"/>
            <a:ext cx="7387865" cy="932688"/>
            <a:chOff x="0" y="0"/>
            <a:chExt cx="9850487" cy="12435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" y="5632704"/>
            <a:ext cx="566928" cy="566928"/>
            <a:chOff x="0" y="0"/>
            <a:chExt cx="755904" cy="7559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63085" y="5763101"/>
            <a:ext cx="306143" cy="306143"/>
            <a:chOff x="0" y="0"/>
            <a:chExt cx="408191" cy="408191"/>
          </a:xfrm>
        </p:grpSpPr>
        <p:sp>
          <p:nvSpPr>
            <p:cNvPr name="Freeform 27" id="27" descr="EEA1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3" b="-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7240" y="6528816"/>
            <a:ext cx="7387865" cy="932688"/>
            <a:chOff x="0" y="0"/>
            <a:chExt cx="9850487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" y="6711696"/>
            <a:ext cx="566928" cy="566928"/>
            <a:chOff x="0" y="0"/>
            <a:chExt cx="755904" cy="7559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63085" y="6842093"/>
            <a:ext cx="306143" cy="306143"/>
            <a:chOff x="0" y="0"/>
            <a:chExt cx="408191" cy="408191"/>
          </a:xfrm>
        </p:grpSpPr>
        <p:sp>
          <p:nvSpPr>
            <p:cNvPr name="Freeform 33" id="33" descr="EA18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3" b="-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9306" y="7581586"/>
            <a:ext cx="7395800" cy="1113158"/>
            <a:chOff x="0" y="0"/>
            <a:chExt cx="9861066" cy="14842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861104" cy="1484249"/>
            </a:xfrm>
            <a:custGeom>
              <a:avLst/>
              <a:gdLst/>
              <a:ahLst/>
              <a:cxnLst/>
              <a:rect r="r" b="b" t="t" l="l"/>
              <a:pathLst>
                <a:path h="1484249" w="9861104">
                  <a:moveTo>
                    <a:pt x="0" y="148463"/>
                  </a:moveTo>
                  <a:cubicBezTo>
                    <a:pt x="0" y="66421"/>
                    <a:pt x="71464" y="0"/>
                    <a:pt x="159736" y="0"/>
                  </a:cubicBezTo>
                  <a:lnTo>
                    <a:pt x="9701371" y="0"/>
                  </a:lnTo>
                  <a:cubicBezTo>
                    <a:pt x="9789506" y="0"/>
                    <a:pt x="9861104" y="66421"/>
                    <a:pt x="9861104" y="148463"/>
                  </a:cubicBezTo>
                  <a:lnTo>
                    <a:pt x="9861104" y="1335786"/>
                  </a:lnTo>
                  <a:cubicBezTo>
                    <a:pt x="9861104" y="1417701"/>
                    <a:pt x="9789644" y="1484249"/>
                    <a:pt x="9701371" y="1484249"/>
                  </a:cubicBezTo>
                  <a:lnTo>
                    <a:pt x="159736" y="1484249"/>
                  </a:lnTo>
                  <a:cubicBezTo>
                    <a:pt x="71464" y="1484249"/>
                    <a:pt x="0" y="1417701"/>
                    <a:pt x="0" y="1335786"/>
                  </a:cubicBezTo>
                  <a:close/>
                </a:path>
              </a:pathLst>
            </a:custGeom>
            <a:solidFill>
              <a:srgbClr val="4A5278"/>
            </a:solidFill>
            <a:ln w="15875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05256" y="7671816"/>
            <a:ext cx="347472" cy="347472"/>
            <a:chOff x="0" y="0"/>
            <a:chExt cx="463296" cy="463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cubicBezTo>
                    <a:pt x="359537" y="0"/>
                    <a:pt x="463296" y="103759"/>
                    <a:pt x="463296" y="231648"/>
                  </a:cubicBezTo>
                  <a:cubicBezTo>
                    <a:pt x="463296" y="359537"/>
                    <a:pt x="359537" y="463296"/>
                    <a:pt x="231648" y="463296"/>
                  </a:cubicBezTo>
                  <a:cubicBezTo>
                    <a:pt x="103759" y="463296"/>
                    <a:pt x="0" y="359537"/>
                    <a:pt x="0" y="231648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5171" y="7751731"/>
            <a:ext cx="187633" cy="187633"/>
            <a:chOff x="0" y="0"/>
            <a:chExt cx="250177" cy="250177"/>
          </a:xfrm>
        </p:grpSpPr>
        <p:sp>
          <p:nvSpPr>
            <p:cNvPr name="Freeform 39" id="39" descr="E71B_FFFFFF.png"/>
            <p:cNvSpPr/>
            <p:nvPr/>
          </p:nvSpPr>
          <p:spPr>
            <a:xfrm flipH="false" flipV="false" rot="0">
              <a:off x="0" y="0"/>
              <a:ext cx="250190" cy="250190"/>
            </a:xfrm>
            <a:custGeom>
              <a:avLst/>
              <a:gdLst/>
              <a:ahLst/>
              <a:cxnLst/>
              <a:rect r="r" b="b" t="t" l="l"/>
              <a:pathLst>
                <a:path h="250190" w="250190">
                  <a:moveTo>
                    <a:pt x="0" y="0"/>
                  </a:moveTo>
                  <a:lnTo>
                    <a:pt x="250190" y="0"/>
                  </a:lnTo>
                  <a:lnTo>
                    <a:pt x="250190" y="250190"/>
                  </a:lnTo>
                  <a:lnTo>
                    <a:pt x="0" y="250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5" b="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5880" y="7671816"/>
            <a:ext cx="1828800" cy="347472"/>
            <a:chOff x="0" y="0"/>
            <a:chExt cx="2438400" cy="4632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463296"/>
            </a:xfrm>
            <a:custGeom>
              <a:avLst/>
              <a:gdLst/>
              <a:ahLst/>
              <a:cxnLst/>
              <a:rect r="r" b="b" t="t" l="l"/>
              <a:pathLst>
                <a:path h="46329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438400" cy="50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E2D9F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70887" y="8808463"/>
            <a:ext cx="701164" cy="396745"/>
            <a:chOff x="0" y="0"/>
            <a:chExt cx="934885" cy="5289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4974" cy="528955"/>
            </a:xfrm>
            <a:custGeom>
              <a:avLst/>
              <a:gdLst/>
              <a:ahLst/>
              <a:cxnLst/>
              <a:rect r="r" b="b" t="t" l="l"/>
              <a:pathLst>
                <a:path h="528955" w="93497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70433" y="0"/>
                  </a:lnTo>
                  <a:cubicBezTo>
                    <a:pt x="816483" y="0"/>
                    <a:pt x="934974" y="118364"/>
                    <a:pt x="934974" y="264541"/>
                  </a:cubicBezTo>
                  <a:cubicBezTo>
                    <a:pt x="934974" y="410718"/>
                    <a:pt x="816483" y="528955"/>
                    <a:pt x="670433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E9F7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77240" y="8814816"/>
            <a:ext cx="688467" cy="384048"/>
            <a:chOff x="0" y="0"/>
            <a:chExt cx="917956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7956" cy="512064"/>
            </a:xfrm>
            <a:custGeom>
              <a:avLst/>
              <a:gdLst/>
              <a:ahLst/>
              <a:cxnLst/>
              <a:rect r="r" b="b" t="t" l="l"/>
              <a:pathLst>
                <a:path h="512064" w="917956">
                  <a:moveTo>
                    <a:pt x="0" y="0"/>
                  </a:moveTo>
                  <a:lnTo>
                    <a:pt x="917956" y="0"/>
                  </a:lnTo>
                  <a:lnTo>
                    <a:pt x="91795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1571" t="0" r="-2157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1795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50794" y="8808463"/>
            <a:ext cx="722062" cy="396745"/>
            <a:chOff x="0" y="0"/>
            <a:chExt cx="962749" cy="5289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2787" cy="528955"/>
            </a:xfrm>
            <a:custGeom>
              <a:avLst/>
              <a:gdLst/>
              <a:ahLst/>
              <a:cxnLst/>
              <a:rect r="r" b="b" t="t" l="l"/>
              <a:pathLst>
                <a:path h="528955" w="962787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98246" y="0"/>
                  </a:lnTo>
                  <a:cubicBezTo>
                    <a:pt x="844296" y="0"/>
                    <a:pt x="962787" y="118364"/>
                    <a:pt x="962787" y="264541"/>
                  </a:cubicBezTo>
                  <a:cubicBezTo>
                    <a:pt x="962787" y="410718"/>
                    <a:pt x="844296" y="528955"/>
                    <a:pt x="698246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DF3EE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557147" y="8814816"/>
            <a:ext cx="709365" cy="384048"/>
            <a:chOff x="0" y="0"/>
            <a:chExt cx="94582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5816" cy="512064"/>
            </a:xfrm>
            <a:custGeom>
              <a:avLst/>
              <a:gdLst/>
              <a:ahLst/>
              <a:cxnLst/>
              <a:rect r="r" b="b" t="t" l="l"/>
              <a:pathLst>
                <a:path h="512064" w="945816">
                  <a:moveTo>
                    <a:pt x="0" y="0"/>
                  </a:moveTo>
                  <a:lnTo>
                    <a:pt x="945816" y="0"/>
                  </a:lnTo>
                  <a:lnTo>
                    <a:pt x="9458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19463" t="0" r="-1946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9458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51599" y="8808463"/>
            <a:ext cx="608457" cy="396745"/>
            <a:chOff x="0" y="0"/>
            <a:chExt cx="811276" cy="52899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1276" cy="528955"/>
            </a:xfrm>
            <a:custGeom>
              <a:avLst/>
              <a:gdLst/>
              <a:ahLst/>
              <a:cxnLst/>
              <a:rect r="r" b="b" t="t" l="l"/>
              <a:pathLst>
                <a:path h="528955" w="81127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546735" y="0"/>
                  </a:lnTo>
                  <a:cubicBezTo>
                    <a:pt x="692785" y="0"/>
                    <a:pt x="811276" y="118364"/>
                    <a:pt x="811276" y="264541"/>
                  </a:cubicBezTo>
                  <a:cubicBezTo>
                    <a:pt x="811276" y="410718"/>
                    <a:pt x="692912" y="528955"/>
                    <a:pt x="54673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EFF8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2357952" y="8814816"/>
            <a:ext cx="595760" cy="384048"/>
            <a:chOff x="0" y="0"/>
            <a:chExt cx="794347" cy="5120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94343" cy="512064"/>
            </a:xfrm>
            <a:custGeom>
              <a:avLst/>
              <a:gdLst/>
              <a:ahLst/>
              <a:cxnLst/>
              <a:rect r="r" b="b" t="t" l="l"/>
              <a:pathLst>
                <a:path h="512064" w="794343">
                  <a:moveTo>
                    <a:pt x="0" y="0"/>
                  </a:moveTo>
                  <a:lnTo>
                    <a:pt x="794343" y="0"/>
                  </a:lnTo>
                  <a:lnTo>
                    <a:pt x="79434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32709" t="0" r="-3270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79434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038799" y="8808463"/>
            <a:ext cx="682752" cy="396745"/>
            <a:chOff x="0" y="0"/>
            <a:chExt cx="910336" cy="5289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0336" cy="528955"/>
            </a:xfrm>
            <a:custGeom>
              <a:avLst/>
              <a:gdLst/>
              <a:ahLst/>
              <a:cxnLst/>
              <a:rect r="r" b="b" t="t" l="l"/>
              <a:pathLst>
                <a:path h="528955" w="91033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45795" y="0"/>
                  </a:lnTo>
                  <a:cubicBezTo>
                    <a:pt x="791845" y="0"/>
                    <a:pt x="910336" y="118364"/>
                    <a:pt x="910336" y="264541"/>
                  </a:cubicBezTo>
                  <a:cubicBezTo>
                    <a:pt x="910336" y="410718"/>
                    <a:pt x="791972" y="528955"/>
                    <a:pt x="64579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3F2DC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045142" y="8814816"/>
            <a:ext cx="670055" cy="384048"/>
            <a:chOff x="0" y="0"/>
            <a:chExt cx="893407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3403" cy="512064"/>
            </a:xfrm>
            <a:custGeom>
              <a:avLst/>
              <a:gdLst/>
              <a:ahLst/>
              <a:cxnLst/>
              <a:rect r="r" b="b" t="t" l="l"/>
              <a:pathLst>
                <a:path h="512064" w="893403">
                  <a:moveTo>
                    <a:pt x="0" y="0"/>
                  </a:moveTo>
                  <a:lnTo>
                    <a:pt x="893403" y="0"/>
                  </a:lnTo>
                  <a:lnTo>
                    <a:pt x="89340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3538" t="0" r="-2353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89340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Leaflet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800284" y="8808463"/>
            <a:ext cx="1566034" cy="396745"/>
            <a:chOff x="0" y="0"/>
            <a:chExt cx="2088045" cy="5289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88134" cy="529082"/>
            </a:xfrm>
            <a:custGeom>
              <a:avLst/>
              <a:gdLst/>
              <a:ahLst/>
              <a:cxnLst/>
              <a:rect r="r" b="b" t="t" l="l"/>
              <a:pathLst>
                <a:path h="529082" w="208813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823593" y="0"/>
                  </a:lnTo>
                  <a:cubicBezTo>
                    <a:pt x="1969643" y="0"/>
                    <a:pt x="2088134" y="118364"/>
                    <a:pt x="2088134" y="264541"/>
                  </a:cubicBezTo>
                  <a:cubicBezTo>
                    <a:pt x="2088134" y="410718"/>
                    <a:pt x="1969770" y="529082"/>
                    <a:pt x="1823593" y="529082"/>
                  </a:cubicBezTo>
                  <a:lnTo>
                    <a:pt x="264541" y="529082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FE7F3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3806638" y="8814816"/>
            <a:ext cx="1553337" cy="384048"/>
            <a:chOff x="0" y="0"/>
            <a:chExt cx="2071116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71116" cy="512064"/>
            </a:xfrm>
            <a:custGeom>
              <a:avLst/>
              <a:gdLst/>
              <a:ahLst/>
              <a:cxnLst/>
              <a:rect r="r" b="b" t="t" l="l"/>
              <a:pathLst>
                <a:path h="512064" w="2071116">
                  <a:moveTo>
                    <a:pt x="0" y="0"/>
                  </a:moveTo>
                  <a:lnTo>
                    <a:pt x="2071116" y="0"/>
                  </a:lnTo>
                  <a:lnTo>
                    <a:pt x="20711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8810" r="0" b="-288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07111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 + PostGIS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45062" y="8808463"/>
            <a:ext cx="705612" cy="396745"/>
            <a:chOff x="0" y="0"/>
            <a:chExt cx="940816" cy="52899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40816" cy="528955"/>
            </a:xfrm>
            <a:custGeom>
              <a:avLst/>
              <a:gdLst/>
              <a:ahLst/>
              <a:cxnLst/>
              <a:rect r="r" b="b" t="t" l="l"/>
              <a:pathLst>
                <a:path h="528955" w="94081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76275" y="0"/>
                  </a:lnTo>
                  <a:cubicBezTo>
                    <a:pt x="822325" y="0"/>
                    <a:pt x="940816" y="118364"/>
                    <a:pt x="940816" y="264541"/>
                  </a:cubicBezTo>
                  <a:cubicBezTo>
                    <a:pt x="940816" y="410718"/>
                    <a:pt x="822452" y="528955"/>
                    <a:pt x="67627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7E4F7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5451415" y="8814816"/>
            <a:ext cx="692915" cy="384048"/>
            <a:chOff x="0" y="0"/>
            <a:chExt cx="923887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23883" cy="512064"/>
            </a:xfrm>
            <a:custGeom>
              <a:avLst/>
              <a:gdLst/>
              <a:ahLst/>
              <a:cxnLst/>
              <a:rect r="r" b="b" t="t" l="l"/>
              <a:pathLst>
                <a:path h="512064" w="923883">
                  <a:moveTo>
                    <a:pt x="0" y="0"/>
                  </a:moveTo>
                  <a:lnTo>
                    <a:pt x="923883" y="0"/>
                  </a:lnTo>
                  <a:lnTo>
                    <a:pt x="92388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1112" t="0" r="-2111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2388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229417" y="8808463"/>
            <a:ext cx="1013584" cy="396745"/>
            <a:chOff x="0" y="0"/>
            <a:chExt cx="1351445" cy="52899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51534" cy="528955"/>
            </a:xfrm>
            <a:custGeom>
              <a:avLst/>
              <a:gdLst/>
              <a:ahLst/>
              <a:cxnLst/>
              <a:rect r="r" b="b" t="t" l="l"/>
              <a:pathLst>
                <a:path h="528955" w="135153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086993" y="0"/>
                  </a:lnTo>
                  <a:cubicBezTo>
                    <a:pt x="1233043" y="0"/>
                    <a:pt x="1351534" y="118364"/>
                    <a:pt x="1351534" y="264541"/>
                  </a:cubicBezTo>
                  <a:cubicBezTo>
                    <a:pt x="1351534" y="410718"/>
                    <a:pt x="1233043" y="528955"/>
                    <a:pt x="1086993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AE7F2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6235770" y="8814816"/>
            <a:ext cx="1000887" cy="384048"/>
            <a:chOff x="0" y="0"/>
            <a:chExt cx="1334516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34516" cy="512064"/>
            </a:xfrm>
            <a:custGeom>
              <a:avLst/>
              <a:gdLst/>
              <a:ahLst/>
              <a:cxnLst/>
              <a:rect r="r" b="b" t="t" l="l"/>
              <a:pathLst>
                <a:path h="512064" w="1334516">
                  <a:moveTo>
                    <a:pt x="0" y="0"/>
                  </a:moveTo>
                  <a:lnTo>
                    <a:pt x="1334516" y="0"/>
                  </a:lnTo>
                  <a:lnTo>
                    <a:pt x="13345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780" r="0" b="-7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33451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Statsmodels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70887" y="9283951"/>
            <a:ext cx="866899" cy="396745"/>
            <a:chOff x="0" y="0"/>
            <a:chExt cx="1155865" cy="5289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55954" cy="528955"/>
            </a:xfrm>
            <a:custGeom>
              <a:avLst/>
              <a:gdLst/>
              <a:ahLst/>
              <a:cxnLst/>
              <a:rect r="r" b="b" t="t" l="l"/>
              <a:pathLst>
                <a:path h="528955" w="115595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891413" y="0"/>
                  </a:lnTo>
                  <a:cubicBezTo>
                    <a:pt x="1037463" y="0"/>
                    <a:pt x="1155954" y="118364"/>
                    <a:pt x="1155954" y="264541"/>
                  </a:cubicBezTo>
                  <a:cubicBezTo>
                    <a:pt x="1155954" y="410718"/>
                    <a:pt x="1037463" y="528955"/>
                    <a:pt x="891413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5F1DD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777240" y="9290304"/>
            <a:ext cx="854202" cy="384048"/>
            <a:chOff x="0" y="0"/>
            <a:chExt cx="1138936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38936" cy="512064"/>
            </a:xfrm>
            <a:custGeom>
              <a:avLst/>
              <a:gdLst/>
              <a:ahLst/>
              <a:cxnLst/>
              <a:rect r="r" b="b" t="t" l="l"/>
              <a:pathLst>
                <a:path h="512064" w="1138936">
                  <a:moveTo>
                    <a:pt x="0" y="0"/>
                  </a:moveTo>
                  <a:lnTo>
                    <a:pt x="1138936" y="0"/>
                  </a:lnTo>
                  <a:lnTo>
                    <a:pt x="113893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7685" t="0" r="-768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13893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LightGBM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16529" y="9283951"/>
            <a:ext cx="1106929" cy="396745"/>
            <a:chOff x="0" y="0"/>
            <a:chExt cx="1475905" cy="52899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75994" cy="529082"/>
            </a:xfrm>
            <a:custGeom>
              <a:avLst/>
              <a:gdLst/>
              <a:ahLst/>
              <a:cxnLst/>
              <a:rect r="r" b="b" t="t" l="l"/>
              <a:pathLst>
                <a:path h="529082" w="147599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211453" y="0"/>
                  </a:lnTo>
                  <a:cubicBezTo>
                    <a:pt x="1357503" y="0"/>
                    <a:pt x="1475994" y="118364"/>
                    <a:pt x="1475994" y="264541"/>
                  </a:cubicBezTo>
                  <a:cubicBezTo>
                    <a:pt x="1475994" y="410718"/>
                    <a:pt x="1357630" y="529082"/>
                    <a:pt x="1211453" y="529082"/>
                  </a:cubicBezTo>
                  <a:lnTo>
                    <a:pt x="264541" y="529082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DE7F5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722882" y="9290304"/>
            <a:ext cx="1094232" cy="384048"/>
            <a:chOff x="0" y="0"/>
            <a:chExt cx="1458976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58976" cy="512064"/>
            </a:xfrm>
            <a:custGeom>
              <a:avLst/>
              <a:gdLst/>
              <a:ahLst/>
              <a:cxnLst/>
              <a:rect r="r" b="b" t="t" l="l"/>
              <a:pathLst>
                <a:path h="512064" w="1458976">
                  <a:moveTo>
                    <a:pt x="0" y="0"/>
                  </a:moveTo>
                  <a:lnTo>
                    <a:pt x="1458976" y="0"/>
                  </a:lnTo>
                  <a:lnTo>
                    <a:pt x="1458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5516" r="0" b="-551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458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 surveillance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902201" y="9283951"/>
            <a:ext cx="818007" cy="396745"/>
            <a:chOff x="0" y="0"/>
            <a:chExt cx="1090676" cy="52899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0676" cy="528955"/>
            </a:xfrm>
            <a:custGeom>
              <a:avLst/>
              <a:gdLst/>
              <a:ahLst/>
              <a:cxnLst/>
              <a:rect r="r" b="b" t="t" l="l"/>
              <a:pathLst>
                <a:path h="528955" w="109067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826135" y="0"/>
                  </a:lnTo>
                  <a:cubicBezTo>
                    <a:pt x="972185" y="0"/>
                    <a:pt x="1090676" y="118364"/>
                    <a:pt x="1090676" y="264541"/>
                  </a:cubicBezTo>
                  <a:cubicBezTo>
                    <a:pt x="1090676" y="410718"/>
                    <a:pt x="972312" y="528955"/>
                    <a:pt x="82613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FBEBD6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2908554" y="9290304"/>
            <a:ext cx="805310" cy="384048"/>
            <a:chOff x="0" y="0"/>
            <a:chExt cx="1073747" cy="5120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3743" cy="512064"/>
            </a:xfrm>
            <a:custGeom>
              <a:avLst/>
              <a:gdLst/>
              <a:ahLst/>
              <a:cxnLst/>
              <a:rect r="r" b="b" t="t" l="l"/>
              <a:pathLst>
                <a:path h="512064" w="1073743">
                  <a:moveTo>
                    <a:pt x="0" y="0"/>
                  </a:moveTo>
                  <a:lnTo>
                    <a:pt x="1073743" y="0"/>
                  </a:lnTo>
                  <a:lnTo>
                    <a:pt x="107374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11187" t="0" r="-1118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07374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OR-Tools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798951" y="9283951"/>
            <a:ext cx="696087" cy="396745"/>
            <a:chOff x="0" y="0"/>
            <a:chExt cx="928116" cy="52899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28116" cy="528955"/>
            </a:xfrm>
            <a:custGeom>
              <a:avLst/>
              <a:gdLst/>
              <a:ahLst/>
              <a:cxnLst/>
              <a:rect r="r" b="b" t="t" l="l"/>
              <a:pathLst>
                <a:path h="528955" w="92811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63575" y="0"/>
                  </a:lnTo>
                  <a:cubicBezTo>
                    <a:pt x="809625" y="0"/>
                    <a:pt x="928116" y="118364"/>
                    <a:pt x="928116" y="264541"/>
                  </a:cubicBezTo>
                  <a:cubicBezTo>
                    <a:pt x="928116" y="410718"/>
                    <a:pt x="809752" y="528955"/>
                    <a:pt x="66357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ECFA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3805304" y="9290304"/>
            <a:ext cx="683390" cy="384048"/>
            <a:chOff x="0" y="0"/>
            <a:chExt cx="911187" cy="51206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1183" cy="512064"/>
            </a:xfrm>
            <a:custGeom>
              <a:avLst/>
              <a:gdLst/>
              <a:ahLst/>
              <a:cxnLst/>
              <a:rect r="r" b="b" t="t" l="l"/>
              <a:pathLst>
                <a:path h="512064" w="911183">
                  <a:moveTo>
                    <a:pt x="0" y="0"/>
                  </a:moveTo>
                  <a:lnTo>
                    <a:pt x="911183" y="0"/>
                  </a:lnTo>
                  <a:lnTo>
                    <a:pt x="91118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2103" t="0" r="-221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118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73781" y="9283951"/>
            <a:ext cx="1073915" cy="396745"/>
            <a:chOff x="0" y="0"/>
            <a:chExt cx="1431887" cy="52899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31925" cy="529082"/>
            </a:xfrm>
            <a:custGeom>
              <a:avLst/>
              <a:gdLst/>
              <a:ahLst/>
              <a:cxnLst/>
              <a:rect r="r" b="b" t="t" l="l"/>
              <a:pathLst>
                <a:path h="529082" w="1431925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167384" y="0"/>
                  </a:lnTo>
                  <a:cubicBezTo>
                    <a:pt x="1313434" y="0"/>
                    <a:pt x="1431925" y="118364"/>
                    <a:pt x="1431925" y="264541"/>
                  </a:cubicBezTo>
                  <a:cubicBezTo>
                    <a:pt x="1431925" y="410718"/>
                    <a:pt x="1313561" y="529082"/>
                    <a:pt x="1167384" y="529082"/>
                  </a:cubicBezTo>
                  <a:lnTo>
                    <a:pt x="264541" y="529082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F0FA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4580125" y="9290304"/>
            <a:ext cx="1061209" cy="384048"/>
            <a:chOff x="0" y="0"/>
            <a:chExt cx="1414945" cy="5120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14949" cy="512064"/>
            </a:xfrm>
            <a:custGeom>
              <a:avLst/>
              <a:gdLst/>
              <a:ahLst/>
              <a:cxnLst/>
              <a:rect r="r" b="b" t="t" l="l"/>
              <a:pathLst>
                <a:path h="512064" w="1414949">
                  <a:moveTo>
                    <a:pt x="0" y="0"/>
                  </a:moveTo>
                  <a:lnTo>
                    <a:pt x="1414949" y="0"/>
                  </a:lnTo>
                  <a:lnTo>
                    <a:pt x="141494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3841" r="0" b="-384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1414945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Telegram API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15459140" y="4325335"/>
            <a:ext cx="129157" cy="480751"/>
          </a:xfrm>
          <a:custGeom>
            <a:avLst/>
            <a:gdLst/>
            <a:ahLst/>
            <a:cxnLst/>
            <a:rect r="r" b="b" t="t" l="l"/>
            <a:pathLst>
              <a:path h="480751" w="129157">
                <a:moveTo>
                  <a:pt x="0" y="0"/>
                </a:moveTo>
                <a:lnTo>
                  <a:pt x="129157" y="0"/>
                </a:lnTo>
                <a:lnTo>
                  <a:pt x="129157" y="480751"/>
                </a:lnTo>
                <a:lnTo>
                  <a:pt x="0" y="4807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0659431" y="4325335"/>
            <a:ext cx="129157" cy="480751"/>
          </a:xfrm>
          <a:custGeom>
            <a:avLst/>
            <a:gdLst/>
            <a:ahLst/>
            <a:cxnLst/>
            <a:rect r="r" b="b" t="t" l="l"/>
            <a:pathLst>
              <a:path h="480751" w="129157">
                <a:moveTo>
                  <a:pt x="0" y="0"/>
                </a:moveTo>
                <a:lnTo>
                  <a:pt x="129157" y="0"/>
                </a:lnTo>
                <a:lnTo>
                  <a:pt x="129157" y="480751"/>
                </a:lnTo>
                <a:lnTo>
                  <a:pt x="0" y="4807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9349734" y="3664730"/>
            <a:ext cx="3726997" cy="1171443"/>
            <a:chOff x="0" y="0"/>
            <a:chExt cx="1521939" cy="47836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649994" y="3664730"/>
            <a:ext cx="3726997" cy="1171443"/>
            <a:chOff x="0" y="0"/>
            <a:chExt cx="1521939" cy="47836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879480" y="3865497"/>
            <a:ext cx="769909" cy="769909"/>
            <a:chOff x="0" y="0"/>
            <a:chExt cx="812800" cy="812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7100995" y="3865497"/>
            <a:ext cx="769909" cy="769909"/>
            <a:chOff x="0" y="0"/>
            <a:chExt cx="812800" cy="812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8908075" y="3894092"/>
            <a:ext cx="712720" cy="712720"/>
            <a:chOff x="0" y="0"/>
            <a:chExt cx="812800" cy="812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7129590" y="3894092"/>
            <a:ext cx="712720" cy="712720"/>
            <a:chOff x="0" y="0"/>
            <a:chExt cx="812800" cy="812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23" id="123"/>
          <p:cNvSpPr/>
          <p:nvPr/>
        </p:nvSpPr>
        <p:spPr>
          <a:xfrm flipV="true">
            <a:off x="13121861" y="4336797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24" id="124"/>
          <p:cNvSpPr/>
          <p:nvPr/>
        </p:nvSpPr>
        <p:spPr>
          <a:xfrm flipH="false" flipV="false" rot="0">
            <a:off x="9063995" y="4063766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79"/>
                </a:lnTo>
                <a:lnTo>
                  <a:pt x="0" y="3547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17293508" y="4035336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9349734" y="4970628"/>
            <a:ext cx="3726997" cy="1171443"/>
            <a:chOff x="0" y="0"/>
            <a:chExt cx="1521939" cy="47836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649994" y="4970628"/>
            <a:ext cx="3726997" cy="1171443"/>
            <a:chOff x="0" y="0"/>
            <a:chExt cx="1521939" cy="47836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879480" y="5171395"/>
            <a:ext cx="769909" cy="769909"/>
            <a:chOff x="0" y="0"/>
            <a:chExt cx="812800" cy="812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7100995" y="5171395"/>
            <a:ext cx="769909" cy="769909"/>
            <a:chOff x="0" y="0"/>
            <a:chExt cx="812800" cy="812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37" id="1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8908075" y="5199990"/>
            <a:ext cx="712720" cy="712720"/>
            <a:chOff x="0" y="0"/>
            <a:chExt cx="812800" cy="8128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40" id="1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7129590" y="5199990"/>
            <a:ext cx="712720" cy="712720"/>
            <a:chOff x="0" y="0"/>
            <a:chExt cx="812800" cy="812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43" id="1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44" id="144"/>
          <p:cNvSpPr/>
          <p:nvPr/>
        </p:nvSpPr>
        <p:spPr>
          <a:xfrm flipV="true">
            <a:off x="13121861" y="5642695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45" id="145"/>
          <p:cNvSpPr/>
          <p:nvPr/>
        </p:nvSpPr>
        <p:spPr>
          <a:xfrm flipH="false" flipV="false" rot="0">
            <a:off x="9063995" y="5369664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17293508" y="5341234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7" id="147"/>
          <p:cNvGrpSpPr/>
          <p:nvPr/>
        </p:nvGrpSpPr>
        <p:grpSpPr>
          <a:xfrm rot="0">
            <a:off x="9349734" y="6276526"/>
            <a:ext cx="3726997" cy="1171443"/>
            <a:chOff x="0" y="0"/>
            <a:chExt cx="1521939" cy="478365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649994" y="6276526"/>
            <a:ext cx="3726997" cy="1171443"/>
            <a:chOff x="0" y="0"/>
            <a:chExt cx="1521939" cy="47836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879480" y="6477293"/>
            <a:ext cx="769909" cy="769909"/>
            <a:chOff x="0" y="0"/>
            <a:chExt cx="812800" cy="8128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7100995" y="6477293"/>
            <a:ext cx="769909" cy="769909"/>
            <a:chOff x="0" y="0"/>
            <a:chExt cx="812800" cy="812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8908075" y="6505888"/>
            <a:ext cx="712720" cy="712720"/>
            <a:chOff x="0" y="0"/>
            <a:chExt cx="812800" cy="8128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7129590" y="6505888"/>
            <a:ext cx="712720" cy="712720"/>
            <a:chOff x="0" y="0"/>
            <a:chExt cx="812800" cy="8128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64" id="16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65" id="165"/>
          <p:cNvSpPr/>
          <p:nvPr/>
        </p:nvSpPr>
        <p:spPr>
          <a:xfrm>
            <a:off x="13121861" y="6948593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66" id="166"/>
          <p:cNvSpPr/>
          <p:nvPr/>
        </p:nvSpPr>
        <p:spPr>
          <a:xfrm flipH="false" flipV="false" rot="0">
            <a:off x="9063995" y="6675562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17293508" y="6647132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9349734" y="7582425"/>
            <a:ext cx="3726997" cy="1171443"/>
            <a:chOff x="0" y="0"/>
            <a:chExt cx="1521939" cy="478365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3649994" y="7582425"/>
            <a:ext cx="3726997" cy="1171443"/>
            <a:chOff x="0" y="0"/>
            <a:chExt cx="1521939" cy="478365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8879480" y="7783192"/>
            <a:ext cx="769909" cy="769909"/>
            <a:chOff x="0" y="0"/>
            <a:chExt cx="812800" cy="8128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76" id="17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7100995" y="7783192"/>
            <a:ext cx="769909" cy="769909"/>
            <a:chOff x="0" y="0"/>
            <a:chExt cx="812800" cy="8128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79" id="17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8908075" y="7811786"/>
            <a:ext cx="712720" cy="712720"/>
            <a:chOff x="0" y="0"/>
            <a:chExt cx="812800" cy="8128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7129590" y="7811786"/>
            <a:ext cx="712720" cy="712720"/>
            <a:chOff x="0" y="0"/>
            <a:chExt cx="812800" cy="8128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85" id="18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86" id="186"/>
          <p:cNvSpPr/>
          <p:nvPr/>
        </p:nvSpPr>
        <p:spPr>
          <a:xfrm flipV="true">
            <a:off x="13121861" y="8254491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87" id="187"/>
          <p:cNvSpPr/>
          <p:nvPr/>
        </p:nvSpPr>
        <p:spPr>
          <a:xfrm flipH="false" flipV="false" rot="0">
            <a:off x="9063995" y="7981460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7293508" y="7953031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8"/>
                </a:lnTo>
                <a:lnTo>
                  <a:pt x="0" y="41163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0">
            <a:off x="9349734" y="8888323"/>
            <a:ext cx="3726997" cy="1171443"/>
            <a:chOff x="0" y="0"/>
            <a:chExt cx="1521939" cy="478365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91" id="191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3649994" y="8888323"/>
            <a:ext cx="3726997" cy="1171443"/>
            <a:chOff x="0" y="0"/>
            <a:chExt cx="1521939" cy="478365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94" id="194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8879480" y="9089090"/>
            <a:ext cx="769909" cy="769909"/>
            <a:chOff x="0" y="0"/>
            <a:chExt cx="812800" cy="8128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97" id="19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7100995" y="9089090"/>
            <a:ext cx="769909" cy="769909"/>
            <a:chOff x="0" y="0"/>
            <a:chExt cx="812800" cy="81280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200" id="20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8908075" y="9117684"/>
            <a:ext cx="712720" cy="712720"/>
            <a:chOff x="0" y="0"/>
            <a:chExt cx="812800" cy="81280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203" id="20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7129590" y="9117684"/>
            <a:ext cx="712720" cy="712720"/>
            <a:chOff x="0" y="0"/>
            <a:chExt cx="812800" cy="81280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206" id="20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207" id="207"/>
          <p:cNvSpPr/>
          <p:nvPr/>
        </p:nvSpPr>
        <p:spPr>
          <a:xfrm flipV="true">
            <a:off x="13121861" y="9560390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208" id="208"/>
          <p:cNvSpPr/>
          <p:nvPr/>
        </p:nvSpPr>
        <p:spPr>
          <a:xfrm flipH="false" flipV="false" rot="0">
            <a:off x="9063995" y="9287358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9" id="209"/>
          <p:cNvSpPr/>
          <p:nvPr/>
        </p:nvSpPr>
        <p:spPr>
          <a:xfrm flipH="false" flipV="false" rot="0">
            <a:off x="17293508" y="9258929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0" id="210"/>
          <p:cNvGrpSpPr/>
          <p:nvPr/>
        </p:nvGrpSpPr>
        <p:grpSpPr>
          <a:xfrm rot="0">
            <a:off x="8879480" y="2471211"/>
            <a:ext cx="8962829" cy="466344"/>
            <a:chOff x="0" y="0"/>
            <a:chExt cx="11950439" cy="621792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1950439" cy="621792"/>
            </a:xfrm>
            <a:custGeom>
              <a:avLst/>
              <a:gdLst/>
              <a:ahLst/>
              <a:cxnLst/>
              <a:rect r="r" b="b" t="t" l="l"/>
              <a:pathLst>
                <a:path h="621792" w="11950439">
                  <a:moveTo>
                    <a:pt x="0" y="310896"/>
                  </a:moveTo>
                  <a:cubicBezTo>
                    <a:pt x="0" y="139192"/>
                    <a:pt x="102198" y="0"/>
                    <a:pt x="228267" y="0"/>
                  </a:cubicBezTo>
                  <a:lnTo>
                    <a:pt x="11722172" y="0"/>
                  </a:lnTo>
                  <a:cubicBezTo>
                    <a:pt x="11848241" y="0"/>
                    <a:pt x="11950439" y="139192"/>
                    <a:pt x="11950439" y="310896"/>
                  </a:cubicBezTo>
                  <a:cubicBezTo>
                    <a:pt x="11950439" y="482600"/>
                    <a:pt x="11848241" y="621792"/>
                    <a:pt x="11722172" y="621792"/>
                  </a:cubicBezTo>
                  <a:lnTo>
                    <a:pt x="228267" y="621792"/>
                  </a:lnTo>
                  <a:cubicBezTo>
                    <a:pt x="102198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212" id="212"/>
          <p:cNvGrpSpPr/>
          <p:nvPr/>
        </p:nvGrpSpPr>
        <p:grpSpPr>
          <a:xfrm rot="0">
            <a:off x="769306" y="2478968"/>
            <a:ext cx="7395800" cy="466344"/>
            <a:chOff x="0" y="0"/>
            <a:chExt cx="9861066" cy="6217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9861066" cy="621792"/>
            </a:xfrm>
            <a:custGeom>
              <a:avLst/>
              <a:gdLst/>
              <a:ahLst/>
              <a:cxnLst/>
              <a:rect r="r" b="b" t="t" l="l"/>
              <a:pathLst>
                <a:path h="621792" w="9861066">
                  <a:moveTo>
                    <a:pt x="0" y="310896"/>
                  </a:moveTo>
                  <a:cubicBezTo>
                    <a:pt x="0" y="139192"/>
                    <a:pt x="84330" y="0"/>
                    <a:pt x="188357" y="0"/>
                  </a:cubicBezTo>
                  <a:lnTo>
                    <a:pt x="9672709" y="0"/>
                  </a:lnTo>
                  <a:cubicBezTo>
                    <a:pt x="9776737" y="0"/>
                    <a:pt x="9861066" y="139192"/>
                    <a:pt x="9861066" y="310896"/>
                  </a:cubicBezTo>
                  <a:cubicBezTo>
                    <a:pt x="9861066" y="482600"/>
                    <a:pt x="9776737" y="621792"/>
                    <a:pt x="9672709" y="621792"/>
                  </a:cubicBezTo>
                  <a:lnTo>
                    <a:pt x="188357" y="621792"/>
                  </a:lnTo>
                  <a:cubicBezTo>
                    <a:pt x="8433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Freeform 214" id="214"/>
          <p:cNvSpPr/>
          <p:nvPr/>
        </p:nvSpPr>
        <p:spPr>
          <a:xfrm flipH="false" flipV="false" rot="0">
            <a:off x="1247554" y="8028432"/>
            <a:ext cx="156651" cy="155085"/>
          </a:xfrm>
          <a:custGeom>
            <a:avLst/>
            <a:gdLst/>
            <a:ahLst/>
            <a:cxnLst/>
            <a:rect r="r" b="b" t="t" l="l"/>
            <a:pathLst>
              <a:path h="155085" w="156651">
                <a:moveTo>
                  <a:pt x="0" y="0"/>
                </a:moveTo>
                <a:lnTo>
                  <a:pt x="156652" y="0"/>
                </a:lnTo>
                <a:lnTo>
                  <a:pt x="156652" y="155085"/>
                </a:lnTo>
                <a:lnTo>
                  <a:pt x="0" y="1550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5" id="215"/>
          <p:cNvSpPr/>
          <p:nvPr/>
        </p:nvSpPr>
        <p:spPr>
          <a:xfrm flipH="false" flipV="false" rot="0">
            <a:off x="1247554" y="8238353"/>
            <a:ext cx="156651" cy="156651"/>
          </a:xfrm>
          <a:custGeom>
            <a:avLst/>
            <a:gdLst/>
            <a:ahLst/>
            <a:cxnLst/>
            <a:rect r="r" b="b" t="t" l="l"/>
            <a:pathLst>
              <a:path h="156651" w="156651">
                <a:moveTo>
                  <a:pt x="0" y="0"/>
                </a:moveTo>
                <a:lnTo>
                  <a:pt x="156652" y="0"/>
                </a:lnTo>
                <a:lnTo>
                  <a:pt x="156652" y="156651"/>
                </a:lnTo>
                <a:lnTo>
                  <a:pt x="0" y="1566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6" id="216"/>
          <p:cNvSpPr/>
          <p:nvPr/>
        </p:nvSpPr>
        <p:spPr>
          <a:xfrm flipH="false" flipV="false" rot="0">
            <a:off x="1247554" y="8453279"/>
            <a:ext cx="156651" cy="153518"/>
          </a:xfrm>
          <a:custGeom>
            <a:avLst/>
            <a:gdLst/>
            <a:ahLst/>
            <a:cxnLst/>
            <a:rect r="r" b="b" t="t" l="l"/>
            <a:pathLst>
              <a:path h="153518" w="156651">
                <a:moveTo>
                  <a:pt x="0" y="0"/>
                </a:moveTo>
                <a:lnTo>
                  <a:pt x="156652" y="0"/>
                </a:lnTo>
                <a:lnTo>
                  <a:pt x="156652" y="153518"/>
                </a:lnTo>
                <a:lnTo>
                  <a:pt x="0" y="15351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7" id="217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 &amp; Innovation</a:t>
            </a:r>
          </a:p>
        </p:txBody>
      </p:sp>
      <p:sp>
        <p:nvSpPr>
          <p:cNvPr name="TextBox 218" id="218"/>
          <p:cNvSpPr txBox="true"/>
          <p:nvPr/>
        </p:nvSpPr>
        <p:spPr>
          <a:xfrm rot="0">
            <a:off x="1645920" y="3345942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 &amp; Presentation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React 18 + Vite · Tailwind CSS · Leaflet ward maps · Recharts · English / हिंदी / मराठी toggle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1645920" y="4424934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&amp; API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3.11 · FastAPI + Uvicorn · Pydantic v2 · scheduled jobs: rain every hour, outbreak data every week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1645920" y="5503926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Intelligence Engine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Pandas, NumPy, SciPy · Statsmodels lag model · LightGBM · R surveillance (EARS, Farrington) · OR-Tools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1645920" y="6582918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Data, Hosting &amp; Security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PostGIS · Open-Meteo, IMD &amp; NOAA rain data · SHA-256 source stamps · Docker on one server</a:t>
            </a:r>
          </a:p>
        </p:txBody>
      </p:sp>
      <p:sp>
        <p:nvSpPr>
          <p:cNvPr name="TextBox 222" id="222"/>
          <p:cNvSpPr txBox="true"/>
          <p:nvPr/>
        </p:nvSpPr>
        <p:spPr>
          <a:xfrm rot="0">
            <a:off x="1490472" y="7999857"/>
            <a:ext cx="594360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Working Prototype ▸ </a:t>
            </a:r>
            <a:r>
              <a:rPr lang="en-US" sz="12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[add your prototype link]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1490472" y="8210169"/>
            <a:ext cx="594360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 ▸ </a:t>
            </a:r>
            <a:r>
              <a:rPr lang="en-US" sz="12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[add your GitHub link]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1490472" y="8420481"/>
            <a:ext cx="594360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sources &amp; test log ▸ </a:t>
            </a:r>
            <a:r>
              <a:rPr lang="en-US" sz="12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[add your link]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9704116" y="3938914"/>
            <a:ext cx="3178505" cy="5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7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single image cannot give true height above sea level.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13794051" y="3836922"/>
            <a:ext cx="3335538" cy="81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use a 30 m elevation map as the base height, then adds AI-based detail.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9704116" y="5244813"/>
            <a:ext cx="3178505" cy="5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7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single image cannot give true height above sea level.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13794051" y="5142820"/>
            <a:ext cx="3335538" cy="81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use a 30 m elevation map as the base height, then adds AI-based detail.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9704116" y="6550711"/>
            <a:ext cx="3178505" cy="5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7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single image cannot give true height above sea level.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3794051" y="6448718"/>
            <a:ext cx="3335538" cy="81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use a 30 m elevation map as the base height, then adds AI-based detail.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9704116" y="7856609"/>
            <a:ext cx="3178505" cy="5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7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single image cannot give true height above sea level.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13794051" y="7754617"/>
            <a:ext cx="3335538" cy="81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use a 30 m elevation map as the base height, then adds AI-based detail.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9704116" y="9162507"/>
            <a:ext cx="3178505" cy="5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17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single image cannot give true height above sea level.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13794051" y="9060515"/>
            <a:ext cx="3335538" cy="81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use a 30 m elevation map as the base height, then adds AI-based detail.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11963622" y="2550215"/>
            <a:ext cx="279454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sz="21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INNOVATION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9704116" y="3187919"/>
            <a:ext cx="2598143" cy="3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b="true" sz="185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APPROACH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14502852" y="3187919"/>
            <a:ext cx="2598143" cy="3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b="true" sz="185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OUR SOLUTION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2703311" y="2557971"/>
            <a:ext cx="352778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0877" y="3443221"/>
            <a:ext cx="1798036" cy="3191513"/>
            <a:chOff x="0" y="0"/>
            <a:chExt cx="2438400" cy="4328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57D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32798" y="3551103"/>
            <a:ext cx="1654193" cy="593352"/>
            <a:chOff x="0" y="0"/>
            <a:chExt cx="2243328" cy="80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C2E6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Hours, Not Weeks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8759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Ward alerts go out on the flood day, not days later, and not 6 weeks later like official data.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3219" y="5600863"/>
            <a:ext cx="593352" cy="593352"/>
            <a:chOff x="0" y="0"/>
            <a:chExt cx="804672" cy="80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9692" y="5737336"/>
            <a:ext cx="320406" cy="320406"/>
            <a:chOff x="0" y="0"/>
            <a:chExt cx="434518" cy="434518"/>
          </a:xfrm>
        </p:grpSpPr>
        <p:sp>
          <p:nvSpPr>
            <p:cNvPr name="Freeform 19" id="19" descr="E823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1" b="-1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58585" y="3443221"/>
            <a:ext cx="1798036" cy="3191513"/>
            <a:chOff x="0" y="0"/>
            <a:chExt cx="2438400" cy="4328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7851"/>
            </a:solidFill>
            <a:ln w="19050" cap="sq">
              <a:solidFill>
                <a:srgbClr val="FFEDA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530507" y="3551103"/>
            <a:ext cx="1654193" cy="593352"/>
            <a:chOff x="0" y="0"/>
            <a:chExt cx="2243328" cy="804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FFED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Inside the 72-Hour Window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566467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exposed to floodwater are told to get free preventive care while it still works.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060927" y="5600863"/>
            <a:ext cx="593352" cy="593352"/>
            <a:chOff x="0" y="0"/>
            <a:chExt cx="804672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197400" y="5737336"/>
            <a:ext cx="320406" cy="320406"/>
            <a:chOff x="0" y="0"/>
            <a:chExt cx="434518" cy="434518"/>
          </a:xfrm>
        </p:grpSpPr>
        <p:sp>
          <p:nvSpPr>
            <p:cNvPr name="Freeform 29" id="29" descr="E916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1" b="-1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56293" y="3443221"/>
            <a:ext cx="1798036" cy="3191513"/>
            <a:chOff x="0" y="0"/>
            <a:chExt cx="2438400" cy="4328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46D"/>
            </a:solidFill>
            <a:ln w="19050" cap="sq">
              <a:solidFill>
                <a:srgbClr val="DCFFF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628215" y="3551103"/>
            <a:ext cx="1654193" cy="593352"/>
            <a:chOff x="0" y="0"/>
            <a:chExt cx="2243328" cy="8046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DCFF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Ward, First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664176" y="4198396"/>
            <a:ext cx="158227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Fever camps, doctors and spray teams reach the highest-risk wards first, not spread thin.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158635" y="5600863"/>
            <a:ext cx="593352" cy="593352"/>
            <a:chOff x="0" y="0"/>
            <a:chExt cx="804672" cy="8046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95108" y="5737336"/>
            <a:ext cx="320406" cy="320406"/>
            <a:chOff x="0" y="0"/>
            <a:chExt cx="434518" cy="434518"/>
          </a:xfrm>
        </p:grpSpPr>
        <p:sp>
          <p:nvSpPr>
            <p:cNvPr name="Freeform 39" id="39" descr="ECAF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1" b="-1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52342" y="3443221"/>
            <a:ext cx="1798036" cy="3191513"/>
            <a:chOff x="0" y="0"/>
            <a:chExt cx="2438400" cy="4328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607B"/>
            </a:solidFill>
            <a:ln w="19050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725923" y="3551103"/>
            <a:ext cx="1654193" cy="593352"/>
            <a:chOff x="0" y="0"/>
            <a:chExt cx="2243328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E2D9F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Protects the Most Vulnerable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761884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Focuses on flood-prone slums, home to about 4 in 10 of Mumbai's 12.4 million people.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256344" y="5600863"/>
            <a:ext cx="593352" cy="593352"/>
            <a:chOff x="0" y="0"/>
            <a:chExt cx="804672" cy="8046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392817" y="5737336"/>
            <a:ext cx="320406" cy="320406"/>
            <a:chOff x="0" y="0"/>
            <a:chExt cx="434518" cy="434518"/>
          </a:xfrm>
        </p:grpSpPr>
        <p:sp>
          <p:nvSpPr>
            <p:cNvPr name="Freeform 49" id="49" descr="E716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1" b="-1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12407" y="3443221"/>
            <a:ext cx="1798036" cy="3191513"/>
            <a:chOff x="0" y="0"/>
            <a:chExt cx="2438400" cy="4328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607B"/>
            </a:solidFill>
            <a:ln w="19050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884329" y="3551103"/>
            <a:ext cx="1654193" cy="593352"/>
            <a:chOff x="0" y="0"/>
            <a:chExt cx="2243328" cy="8046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E2D9F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Ward Pilot → Full City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920289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Pilot in one flood-prone ward for one monsoon, then scale to all 24 wards with BMC's data.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414749" y="5600863"/>
            <a:ext cx="593352" cy="593352"/>
            <a:chOff x="0" y="0"/>
            <a:chExt cx="804672" cy="8046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546884" y="5713038"/>
            <a:ext cx="329081" cy="329081"/>
            <a:chOff x="0" y="0"/>
            <a:chExt cx="434518" cy="434518"/>
          </a:xfrm>
        </p:grpSpPr>
        <p:sp>
          <p:nvSpPr>
            <p:cNvPr name="Freeform 59" id="59" descr="EC07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1" b="-1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910116" y="3443221"/>
            <a:ext cx="1798036" cy="3191513"/>
            <a:chOff x="0" y="0"/>
            <a:chExt cx="2438400" cy="43281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46D"/>
            </a:solidFill>
            <a:ln w="19050" cap="sq">
              <a:solidFill>
                <a:srgbClr val="DCFFF5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982037" y="3551103"/>
            <a:ext cx="1654193" cy="593352"/>
            <a:chOff x="0" y="0"/>
            <a:chExt cx="2243328" cy="8046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DCFF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 District in India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2017998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IDSP covers every district, so the same system can protect Chennai, Kolkata, Kerala and Assam.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512458" y="5600863"/>
            <a:ext cx="593352" cy="593352"/>
            <a:chOff x="0" y="0"/>
            <a:chExt cx="804672" cy="8046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644593" y="5713038"/>
            <a:ext cx="329081" cy="329081"/>
            <a:chOff x="0" y="0"/>
            <a:chExt cx="434518" cy="434518"/>
          </a:xfrm>
        </p:grpSpPr>
        <p:sp>
          <p:nvSpPr>
            <p:cNvPr name="Freeform 69" id="69" descr="E909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1" b="-11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007824" y="3443221"/>
            <a:ext cx="1798036" cy="3191513"/>
            <a:chOff x="0" y="0"/>
            <a:chExt cx="2438400" cy="43281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7851"/>
            </a:solidFill>
            <a:ln w="19050" cap="sq">
              <a:solidFill>
                <a:srgbClr val="FFEDA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079746" y="3551103"/>
            <a:ext cx="1654193" cy="593352"/>
            <a:chOff x="0" y="0"/>
            <a:chExt cx="2243328" cy="8046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FFED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Health Risks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115706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same pipeline can warn about heatstroke, polluted-air illness and water-borne disease.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4610166" y="5600863"/>
            <a:ext cx="593352" cy="593352"/>
            <a:chOff x="0" y="0"/>
            <a:chExt cx="804672" cy="8046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746376" y="5713038"/>
            <a:ext cx="329081" cy="329081"/>
            <a:chOff x="0" y="0"/>
            <a:chExt cx="434518" cy="434518"/>
          </a:xfrm>
        </p:grpSpPr>
        <p:sp>
          <p:nvSpPr>
            <p:cNvPr name="Freeform 79" id="79" descr="E95E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11" b="-1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105532" y="3443221"/>
            <a:ext cx="1798036" cy="3191513"/>
            <a:chOff x="0" y="0"/>
            <a:chExt cx="2438400" cy="4328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57D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6177454" y="3551103"/>
            <a:ext cx="1654193" cy="593352"/>
            <a:chOff x="0" y="0"/>
            <a:chExt cx="2243328" cy="8046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C2E6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Blood Banks Ready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6213415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Warn blood banks before dengue peaks, since platelets last only 5 days.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6707874" y="5600863"/>
            <a:ext cx="593352" cy="593352"/>
            <a:chOff x="0" y="0"/>
            <a:chExt cx="804672" cy="8046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6852448" y="5705578"/>
            <a:ext cx="329081" cy="329081"/>
            <a:chOff x="0" y="0"/>
            <a:chExt cx="434518" cy="434518"/>
          </a:xfrm>
        </p:grpSpPr>
        <p:sp>
          <p:nvSpPr>
            <p:cNvPr name="Freeform 89" id="89" descr="EB42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1" b="-11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&amp; Future Scope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544090" y="7628053"/>
            <a:ext cx="5349932" cy="2476483"/>
            <a:chOff x="0" y="0"/>
            <a:chExt cx="1812516" cy="83901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12516" cy="839013"/>
            </a:xfrm>
            <a:custGeom>
              <a:avLst/>
              <a:gdLst/>
              <a:ahLst/>
              <a:cxnLst/>
              <a:rect r="r" b="b" t="t" l="l"/>
              <a:pathLst>
                <a:path h="839013" w="1812516">
                  <a:moveTo>
                    <a:pt x="0" y="0"/>
                  </a:moveTo>
                  <a:lnTo>
                    <a:pt x="1812516" y="0"/>
                  </a:lnTo>
                  <a:lnTo>
                    <a:pt x="1812516" y="839013"/>
                  </a:lnTo>
                  <a:lnTo>
                    <a:pt x="0" y="839013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FBDCD9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19050"/>
              <a:ext cx="1812516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5"/>
                </a:lnSpc>
              </a:pP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279246" y="7460323"/>
            <a:ext cx="865686" cy="865686"/>
          </a:xfrm>
          <a:custGeom>
            <a:avLst/>
            <a:gdLst/>
            <a:ahLst/>
            <a:cxnLst/>
            <a:rect r="r" b="b" t="t" l="l"/>
            <a:pathLst>
              <a:path h="865686" w="865686">
                <a:moveTo>
                  <a:pt x="0" y="0"/>
                </a:moveTo>
                <a:lnTo>
                  <a:pt x="865686" y="0"/>
                </a:lnTo>
                <a:lnTo>
                  <a:pt x="865686" y="865686"/>
                </a:lnTo>
                <a:lnTo>
                  <a:pt x="0" y="8656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32168" t="-91600" r="-152357" b="-80451"/>
            </a:stretch>
          </a:blipFill>
          <a:ln w="19050" cap="rnd">
            <a:solidFill>
              <a:srgbClr val="FCE4E1"/>
            </a:solidFill>
            <a:prstDash val="solid"/>
            <a:round/>
          </a:ln>
        </p:spPr>
      </p:sp>
      <p:sp>
        <p:nvSpPr>
          <p:cNvPr name="Freeform 95" id="95"/>
          <p:cNvSpPr/>
          <p:nvPr/>
        </p:nvSpPr>
        <p:spPr>
          <a:xfrm flipH="false" flipV="false" rot="0">
            <a:off x="477779" y="7665385"/>
            <a:ext cx="455562" cy="455562"/>
          </a:xfrm>
          <a:custGeom>
            <a:avLst/>
            <a:gdLst/>
            <a:ahLst/>
            <a:cxnLst/>
            <a:rect r="r" b="b" t="t" l="l"/>
            <a:pathLst>
              <a:path h="455562" w="455562">
                <a:moveTo>
                  <a:pt x="0" y="0"/>
                </a:moveTo>
                <a:lnTo>
                  <a:pt x="455562" y="0"/>
                </a:lnTo>
                <a:lnTo>
                  <a:pt x="455562" y="455562"/>
                </a:lnTo>
                <a:lnTo>
                  <a:pt x="0" y="455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1371025" y="7898278"/>
            <a:ext cx="106402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3500">
                <a:solidFill>
                  <a:srgbClr val="FBDCD9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133957" y="8037228"/>
            <a:ext cx="2767699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true">
                <a:solidFill>
                  <a:srgbClr val="FBDCD9"/>
                </a:solidFill>
                <a:latin typeface="Poppins Bold"/>
                <a:ea typeface="Poppins Bold"/>
                <a:cs typeface="Poppins Bold"/>
                <a:sym typeface="Poppins Bold"/>
              </a:rPr>
              <a:t>TITLE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420098" y="8673484"/>
            <a:ext cx="3808179" cy="2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Body text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6557925" y="7628053"/>
            <a:ext cx="5349932" cy="2476483"/>
            <a:chOff x="0" y="0"/>
            <a:chExt cx="1812516" cy="83901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12516" cy="839013"/>
            </a:xfrm>
            <a:custGeom>
              <a:avLst/>
              <a:gdLst/>
              <a:ahLst/>
              <a:cxnLst/>
              <a:rect r="r" b="b" t="t" l="l"/>
              <a:pathLst>
                <a:path h="839013" w="1812516">
                  <a:moveTo>
                    <a:pt x="0" y="0"/>
                  </a:moveTo>
                  <a:lnTo>
                    <a:pt x="1812516" y="0"/>
                  </a:lnTo>
                  <a:lnTo>
                    <a:pt x="1812516" y="839013"/>
                  </a:lnTo>
                  <a:lnTo>
                    <a:pt x="0" y="839013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FFEDA4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19050"/>
              <a:ext cx="1812516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5"/>
                </a:lnSpc>
              </a:pP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6293080" y="7460323"/>
            <a:ext cx="865686" cy="865686"/>
          </a:xfrm>
          <a:custGeom>
            <a:avLst/>
            <a:gdLst/>
            <a:ahLst/>
            <a:cxnLst/>
            <a:rect r="r" b="b" t="t" l="l"/>
            <a:pathLst>
              <a:path h="865686" w="865686">
                <a:moveTo>
                  <a:pt x="0" y="0"/>
                </a:moveTo>
                <a:lnTo>
                  <a:pt x="865686" y="0"/>
                </a:lnTo>
                <a:lnTo>
                  <a:pt x="865686" y="865686"/>
                </a:lnTo>
                <a:lnTo>
                  <a:pt x="0" y="8656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32168" t="-91600" r="-152357" b="-80451"/>
            </a:stretch>
          </a:blipFill>
          <a:ln w="19050" cap="rnd">
            <a:solidFill>
              <a:srgbClr val="FFEDA4"/>
            </a:solidFill>
            <a:prstDash val="solid"/>
            <a:round/>
          </a:ln>
        </p:spPr>
      </p:sp>
      <p:sp>
        <p:nvSpPr>
          <p:cNvPr name="Freeform 103" id="103"/>
          <p:cNvSpPr/>
          <p:nvPr/>
        </p:nvSpPr>
        <p:spPr>
          <a:xfrm flipH="false" flipV="false" rot="0">
            <a:off x="6491613" y="7665385"/>
            <a:ext cx="455562" cy="455562"/>
          </a:xfrm>
          <a:custGeom>
            <a:avLst/>
            <a:gdLst/>
            <a:ahLst/>
            <a:cxnLst/>
            <a:rect r="r" b="b" t="t" l="l"/>
            <a:pathLst>
              <a:path h="455562" w="455562">
                <a:moveTo>
                  <a:pt x="0" y="0"/>
                </a:moveTo>
                <a:lnTo>
                  <a:pt x="455562" y="0"/>
                </a:lnTo>
                <a:lnTo>
                  <a:pt x="455562" y="455562"/>
                </a:lnTo>
                <a:lnTo>
                  <a:pt x="0" y="455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7558816" y="7898278"/>
            <a:ext cx="106402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b="true">
                <a:solidFill>
                  <a:srgbClr val="FFEDA4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622836" y="8003053"/>
            <a:ext cx="2767699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true">
                <a:solidFill>
                  <a:srgbClr val="FFEDA4"/>
                </a:solidFill>
                <a:latin typeface="Poppins Bold"/>
                <a:ea typeface="Poppins Bold"/>
                <a:cs typeface="Poppins Bold"/>
                <a:sym typeface="Poppins Bold"/>
              </a:rPr>
              <a:t>TITLE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582356" y="8673484"/>
            <a:ext cx="3808179" cy="2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ody text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2571759" y="7628053"/>
            <a:ext cx="5349932" cy="2476483"/>
            <a:chOff x="0" y="0"/>
            <a:chExt cx="1812516" cy="83901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12516" cy="839013"/>
            </a:xfrm>
            <a:custGeom>
              <a:avLst/>
              <a:gdLst/>
              <a:ahLst/>
              <a:cxnLst/>
              <a:rect r="r" b="b" t="t" l="l"/>
              <a:pathLst>
                <a:path h="839013" w="1812516">
                  <a:moveTo>
                    <a:pt x="0" y="0"/>
                  </a:moveTo>
                  <a:lnTo>
                    <a:pt x="1812516" y="0"/>
                  </a:lnTo>
                  <a:lnTo>
                    <a:pt x="1812516" y="839013"/>
                  </a:lnTo>
                  <a:lnTo>
                    <a:pt x="0" y="839013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19050"/>
              <a:ext cx="1812516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5"/>
                </a:lnSpc>
              </a:pP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12306915" y="7460323"/>
            <a:ext cx="865686" cy="865686"/>
          </a:xfrm>
          <a:custGeom>
            <a:avLst/>
            <a:gdLst/>
            <a:ahLst/>
            <a:cxnLst/>
            <a:rect r="r" b="b" t="t" l="l"/>
            <a:pathLst>
              <a:path h="865686" w="865686">
                <a:moveTo>
                  <a:pt x="0" y="0"/>
                </a:moveTo>
                <a:lnTo>
                  <a:pt x="865686" y="0"/>
                </a:lnTo>
                <a:lnTo>
                  <a:pt x="865686" y="865686"/>
                </a:lnTo>
                <a:lnTo>
                  <a:pt x="0" y="8656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32168" t="-91600" r="-152357" b="-80451"/>
            </a:stretch>
          </a:blipFill>
          <a:ln w="19050" cap="rnd">
            <a:solidFill>
              <a:srgbClr val="C2E6F9"/>
            </a:solidFill>
            <a:prstDash val="solid"/>
            <a:round/>
          </a:ln>
        </p:spPr>
      </p:sp>
      <p:sp>
        <p:nvSpPr>
          <p:cNvPr name="Freeform 111" id="111"/>
          <p:cNvSpPr/>
          <p:nvPr/>
        </p:nvSpPr>
        <p:spPr>
          <a:xfrm flipH="false" flipV="false" rot="0">
            <a:off x="12505448" y="7665385"/>
            <a:ext cx="455562" cy="455562"/>
          </a:xfrm>
          <a:custGeom>
            <a:avLst/>
            <a:gdLst/>
            <a:ahLst/>
            <a:cxnLst/>
            <a:rect r="r" b="b" t="t" l="l"/>
            <a:pathLst>
              <a:path h="455562" w="455562">
                <a:moveTo>
                  <a:pt x="0" y="0"/>
                </a:moveTo>
                <a:lnTo>
                  <a:pt x="455562" y="0"/>
                </a:lnTo>
                <a:lnTo>
                  <a:pt x="455562" y="455562"/>
                </a:lnTo>
                <a:lnTo>
                  <a:pt x="0" y="455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13619023" y="7898278"/>
            <a:ext cx="106402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3500">
                <a:solidFill>
                  <a:srgbClr val="C2E6F9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4683043" y="8003053"/>
            <a:ext cx="2767699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true">
                <a:solidFill>
                  <a:srgbClr val="C2E6F9"/>
                </a:solidFill>
                <a:latin typeface="Poppins Bold"/>
                <a:ea typeface="Poppins Bold"/>
                <a:cs typeface="Poppins Bold"/>
                <a:sym typeface="Poppins Bold"/>
              </a:rPr>
              <a:t>TITLE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642563" y="8673484"/>
            <a:ext cx="3808179" cy="2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ody text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379000" y="2919727"/>
            <a:ext cx="8089501" cy="466344"/>
            <a:chOff x="0" y="0"/>
            <a:chExt cx="10786001" cy="6217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786001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6001">
                  <a:moveTo>
                    <a:pt x="0" y="310896"/>
                  </a:moveTo>
                  <a:cubicBezTo>
                    <a:pt x="0" y="139192"/>
                    <a:pt x="92240" y="0"/>
                    <a:pt x="206025" y="0"/>
                  </a:cubicBezTo>
                  <a:lnTo>
                    <a:pt x="10579976" y="0"/>
                  </a:lnTo>
                  <a:cubicBezTo>
                    <a:pt x="10693761" y="0"/>
                    <a:pt x="10786001" y="139192"/>
                    <a:pt x="10786001" y="310896"/>
                  </a:cubicBezTo>
                  <a:cubicBezTo>
                    <a:pt x="10786001" y="482600"/>
                    <a:pt x="10693761" y="621792"/>
                    <a:pt x="10579976" y="621792"/>
                  </a:cubicBezTo>
                  <a:lnTo>
                    <a:pt x="206025" y="621792"/>
                  </a:lnTo>
                  <a:cubicBezTo>
                    <a:pt x="9224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TextBox 117" id="117"/>
          <p:cNvSpPr txBox="true"/>
          <p:nvPr/>
        </p:nvSpPr>
        <p:spPr>
          <a:xfrm rot="0">
            <a:off x="2494409" y="2998730"/>
            <a:ext cx="38586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IMPACTS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9832191" y="2919727"/>
            <a:ext cx="8089501" cy="466344"/>
            <a:chOff x="0" y="0"/>
            <a:chExt cx="10786001" cy="6217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786001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6001">
                  <a:moveTo>
                    <a:pt x="0" y="310896"/>
                  </a:moveTo>
                  <a:cubicBezTo>
                    <a:pt x="0" y="139192"/>
                    <a:pt x="92240" y="0"/>
                    <a:pt x="206025" y="0"/>
                  </a:cubicBezTo>
                  <a:lnTo>
                    <a:pt x="10579976" y="0"/>
                  </a:lnTo>
                  <a:cubicBezTo>
                    <a:pt x="10693761" y="0"/>
                    <a:pt x="10786001" y="139192"/>
                    <a:pt x="10786001" y="310896"/>
                  </a:cubicBezTo>
                  <a:cubicBezTo>
                    <a:pt x="10786001" y="482600"/>
                    <a:pt x="10693761" y="621792"/>
                    <a:pt x="10579976" y="621792"/>
                  </a:cubicBezTo>
                  <a:lnTo>
                    <a:pt x="206025" y="621792"/>
                  </a:lnTo>
                  <a:cubicBezTo>
                    <a:pt x="9224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TextBox 120" id="120"/>
          <p:cNvSpPr txBox="true"/>
          <p:nvPr/>
        </p:nvSpPr>
        <p:spPr>
          <a:xfrm rot="0">
            <a:off x="11947599" y="2998730"/>
            <a:ext cx="38586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4953038" y="6977225"/>
            <a:ext cx="837649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FEASILIBILITY AND VIABILITY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2484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t="0" r="-2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7" id="7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3" t="0" r="-1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9" id="9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11" id="11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9" r="-2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3228" y="1946148"/>
            <a:ext cx="12164692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EE6E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real flood replay, verified data, and the research behind every claim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9306" y="2662114"/>
            <a:ext cx="4587878" cy="3051686"/>
            <a:chOff x="0" y="0"/>
            <a:chExt cx="6117171" cy="40689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17209" cy="4068953"/>
            </a:xfrm>
            <a:custGeom>
              <a:avLst/>
              <a:gdLst/>
              <a:ahLst/>
              <a:cxnLst/>
              <a:rect r="r" b="b" t="t" l="l"/>
              <a:pathLst>
                <a:path h="4068953" w="611720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5921121" y="0"/>
                  </a:lnTo>
                  <a:cubicBezTo>
                    <a:pt x="6029452" y="0"/>
                    <a:pt x="6117209" y="87757"/>
                    <a:pt x="6117209" y="196088"/>
                  </a:cubicBezTo>
                  <a:lnTo>
                    <a:pt x="6117209" y="3872865"/>
                  </a:lnTo>
                  <a:cubicBezTo>
                    <a:pt x="6117209" y="3981196"/>
                    <a:pt x="6029452" y="4068953"/>
                    <a:pt x="592112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FCE4E1"/>
            </a:solidFill>
            <a:ln w="15875" cap="sq">
              <a:solidFill>
                <a:srgbClr val="E8A5A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23544" y="2798064"/>
            <a:ext cx="475488" cy="475488"/>
            <a:chOff x="0" y="0"/>
            <a:chExt cx="633984" cy="6339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859"/>
                    <a:pt x="633984" y="316992"/>
                  </a:cubicBezTo>
                  <a:cubicBezTo>
                    <a:pt x="633984" y="492125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B8322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2910" y="2907430"/>
            <a:ext cx="256765" cy="256765"/>
            <a:chOff x="0" y="0"/>
            <a:chExt cx="342354" cy="342354"/>
          </a:xfrm>
        </p:grpSpPr>
        <p:sp>
          <p:nvSpPr>
            <p:cNvPr name="Freeform 19" id="19" descr="E787_FFFFFF.png"/>
            <p:cNvSpPr/>
            <p:nvPr/>
          </p:nvSpPr>
          <p:spPr>
            <a:xfrm flipH="false" flipV="false" rot="0">
              <a:off x="0" y="0"/>
              <a:ext cx="342392" cy="342392"/>
            </a:xfrm>
            <a:custGeom>
              <a:avLst/>
              <a:gdLst/>
              <a:ahLst/>
              <a:cxnLst/>
              <a:rect r="r" b="b" t="t" l="l"/>
              <a:pathLst>
                <a:path h="342392" w="342392">
                  <a:moveTo>
                    <a:pt x="0" y="0"/>
                  </a:moveTo>
                  <a:lnTo>
                    <a:pt x="342392" y="0"/>
                  </a:lnTo>
                  <a:lnTo>
                    <a:pt x="342392" y="342392"/>
                  </a:lnTo>
                  <a:lnTo>
                    <a:pt x="0" y="34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1" b="1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08760" y="2798064"/>
            <a:ext cx="3703320" cy="475488"/>
            <a:chOff x="0" y="0"/>
            <a:chExt cx="493776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37760" cy="633984"/>
            </a:xfrm>
            <a:custGeom>
              <a:avLst/>
              <a:gdLst/>
              <a:ahLst/>
              <a:cxnLst/>
              <a:rect r="r" b="b" t="t" l="l"/>
              <a:pathLst>
                <a:path h="63398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58" r="0" b="-10175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37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Study: July 2026 Floods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14984" y="3345180"/>
            <a:ext cx="411480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1–7 Jul: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 ~984 mm of rain at Santacruz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4–6 Jul: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 red alert; flooding in Andheri, Kurla, Chembur, Powai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 Jul, 10:39 PM: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 BMC's citywide advice to get preventive care within 72 hours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July: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 leptospirosis cases more than doubled (</a:t>
            </a: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 → 78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524186" y="2662114"/>
            <a:ext cx="5593718" cy="3051686"/>
            <a:chOff x="0" y="0"/>
            <a:chExt cx="7458291" cy="40689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58329" cy="4068953"/>
            </a:xfrm>
            <a:custGeom>
              <a:avLst/>
              <a:gdLst/>
              <a:ahLst/>
              <a:cxnLst/>
              <a:rect r="r" b="b" t="t" l="l"/>
              <a:pathLst>
                <a:path h="4068953" w="745832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7262241" y="0"/>
                  </a:lnTo>
                  <a:cubicBezTo>
                    <a:pt x="7370573" y="0"/>
                    <a:pt x="7458329" y="87757"/>
                    <a:pt x="7458329" y="196088"/>
                  </a:cubicBezTo>
                  <a:lnTo>
                    <a:pt x="7458329" y="3872865"/>
                  </a:lnTo>
                  <a:cubicBezTo>
                    <a:pt x="7458329" y="3981196"/>
                    <a:pt x="7370573" y="4068953"/>
                    <a:pt x="726224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E5F5EA"/>
            </a:solidFill>
            <a:ln w="15875" cap="sq">
              <a:solidFill>
                <a:srgbClr val="9CD3A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678424" y="2798064"/>
            <a:ext cx="475488" cy="475488"/>
            <a:chOff x="0" y="0"/>
            <a:chExt cx="633984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859"/>
                    <a:pt x="633984" y="316992"/>
                  </a:cubicBezTo>
                  <a:cubicBezTo>
                    <a:pt x="633984" y="492125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1E7A4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787790" y="2907430"/>
            <a:ext cx="256765" cy="256765"/>
            <a:chOff x="0" y="0"/>
            <a:chExt cx="342354" cy="342354"/>
          </a:xfrm>
        </p:grpSpPr>
        <p:sp>
          <p:nvSpPr>
            <p:cNvPr name="Freeform 29" id="29" descr="EA80_FFFFFF.png"/>
            <p:cNvSpPr/>
            <p:nvPr/>
          </p:nvSpPr>
          <p:spPr>
            <a:xfrm flipH="false" flipV="false" rot="0">
              <a:off x="0" y="0"/>
              <a:ext cx="342392" cy="342392"/>
            </a:xfrm>
            <a:custGeom>
              <a:avLst/>
              <a:gdLst/>
              <a:ahLst/>
              <a:cxnLst/>
              <a:rect r="r" b="b" t="t" l="l"/>
              <a:pathLst>
                <a:path h="342392" w="342392">
                  <a:moveTo>
                    <a:pt x="0" y="0"/>
                  </a:moveTo>
                  <a:lnTo>
                    <a:pt x="342392" y="0"/>
                  </a:lnTo>
                  <a:lnTo>
                    <a:pt x="342392" y="342392"/>
                  </a:lnTo>
                  <a:lnTo>
                    <a:pt x="0" y="34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1" b="1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263640" y="2798064"/>
            <a:ext cx="4709160" cy="475488"/>
            <a:chOff x="0" y="0"/>
            <a:chExt cx="6278880" cy="633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78879" cy="633984"/>
            </a:xfrm>
            <a:custGeom>
              <a:avLst/>
              <a:gdLst/>
              <a:ahLst/>
              <a:cxnLst/>
              <a:rect r="r" b="b" t="t" l="l"/>
              <a:pathLst>
                <a:path h="633984" w="6278879">
                  <a:moveTo>
                    <a:pt x="0" y="0"/>
                  </a:moveTo>
                  <a:lnTo>
                    <a:pt x="6278879" y="0"/>
                  </a:lnTo>
                  <a:lnTo>
                    <a:pt x="627887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76" r="0" b="-1429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278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E7A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VARSHA Would Have Done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769864" y="3345180"/>
            <a:ext cx="512064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Replayed on the real July 2026 rain data, VARSHA's rules give a </a:t>
            </a:r>
            <a:r>
              <a:rPr lang="en-US" sz="1449" b="true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WATCH on 1 Jul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 and a </a:t>
            </a:r>
            <a:r>
              <a:rPr lang="en-US" sz="1449" b="true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WARNING by 5 Jul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, before BMC's citywide advice on the night of 6 Jul. It would then: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Alert </a:t>
            </a: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only flood-hit wards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, in Marathi, Hindi &amp; English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Send people to an </a:t>
            </a: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Aapla Dawakhana within 72 hours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Place </a:t>
            </a: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fever camps</a:t>
            </a: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 where risk is highest</a:t>
            </a:r>
          </a:p>
          <a:p>
            <a:pPr algn="l" marL="174942" indent="-87471" lvl="1">
              <a:lnSpc>
                <a:spcPts val="1739"/>
              </a:lnSpc>
              <a:buFont typeface="Arial"/>
              <a:buChar char="•"/>
            </a:pPr>
            <a:r>
              <a:rPr lang="en-US" sz="144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Forecast the </a:t>
            </a:r>
            <a:r>
              <a:rPr lang="en-US" b="true" sz="1449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case wave for ~11–20 Jul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284906" y="2662114"/>
            <a:ext cx="6233798" cy="3051686"/>
            <a:chOff x="0" y="0"/>
            <a:chExt cx="8311731" cy="40689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11769" cy="4068953"/>
            </a:xfrm>
            <a:custGeom>
              <a:avLst/>
              <a:gdLst/>
              <a:ahLst/>
              <a:cxnLst/>
              <a:rect r="r" b="b" t="t" l="l"/>
              <a:pathLst>
                <a:path h="4068953" w="831176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8115681" y="0"/>
                  </a:lnTo>
                  <a:cubicBezTo>
                    <a:pt x="8224013" y="0"/>
                    <a:pt x="8311769" y="87757"/>
                    <a:pt x="8311769" y="196088"/>
                  </a:cubicBezTo>
                  <a:lnTo>
                    <a:pt x="8311769" y="3872865"/>
                  </a:lnTo>
                  <a:cubicBezTo>
                    <a:pt x="8311769" y="3981196"/>
                    <a:pt x="8224013" y="4068953"/>
                    <a:pt x="811568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3D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292840" y="2670048"/>
            <a:ext cx="6217920" cy="475488"/>
            <a:chOff x="0" y="0"/>
            <a:chExt cx="829056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195072" y="0"/>
                  </a:moveTo>
                  <a:lnTo>
                    <a:pt x="8095488" y="0"/>
                  </a:lnTo>
                  <a:cubicBezTo>
                    <a:pt x="8203184" y="0"/>
                    <a:pt x="8290560" y="87376"/>
                    <a:pt x="8290560" y="195072"/>
                  </a:cubicBezTo>
                  <a:lnTo>
                    <a:pt x="8290560" y="633984"/>
                  </a:lnTo>
                  <a:lnTo>
                    <a:pt x="0" y="633984"/>
                  </a:lnTo>
                  <a:lnTo>
                    <a:pt x="0" y="195072"/>
                  </a:lnTo>
                  <a:cubicBezTo>
                    <a:pt x="0" y="87376"/>
                    <a:pt x="87376" y="0"/>
                    <a:pt x="195072" y="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92840" y="2670048"/>
            <a:ext cx="6217920" cy="475488"/>
            <a:chOff x="0" y="0"/>
            <a:chExt cx="8290560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8290560" cy="653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RESEARCH FINDINGS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57432" y="3319272"/>
            <a:ext cx="402336" cy="402336"/>
            <a:chOff x="0" y="0"/>
            <a:chExt cx="536448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457432" y="3319272"/>
            <a:ext cx="402336" cy="402336"/>
            <a:chOff x="0" y="0"/>
            <a:chExt cx="536448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024360" y="3272028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F23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Cases follow floods by 7–12 days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After the 2005 deluge, leptospirosis patients rose 8×, mostly on days 7–12 (Supe et al., 2018).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457432" y="4099560"/>
            <a:ext cx="402336" cy="402336"/>
            <a:chOff x="0" y="0"/>
            <a:chExt cx="536448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457432" y="4099560"/>
            <a:ext cx="402336" cy="402336"/>
            <a:chOff x="0" y="0"/>
            <a:chExt cx="536448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024360" y="4052316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F23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Official data is ~6 weeks late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IDSP outbreak reports go online 37–51 days after each week ends (our check of 7 reports, 2025–26).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457432" y="4879848"/>
            <a:ext cx="402336" cy="402336"/>
            <a:chOff x="0" y="0"/>
            <a:chExt cx="536448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457432" y="4879848"/>
            <a:ext cx="402336" cy="402336"/>
            <a:chOff x="0" y="0"/>
            <a:chExt cx="536448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024360" y="4832604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F23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 weather maps miss cloudbursts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26 Jul 2005: a free global map shows ~70 mm; real gauges recorded ~944 mm. VARSHA corrects with gauges.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777240" y="5870448"/>
            <a:ext cx="1975104" cy="512064"/>
            <a:chOff x="0" y="0"/>
            <a:chExt cx="263347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4F7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4F7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GOES IN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7240" y="6437376"/>
            <a:ext cx="1975104" cy="1517904"/>
            <a:chOff x="0" y="0"/>
            <a:chExt cx="2633472" cy="20238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DDEBD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68680" y="6528816"/>
            <a:ext cx="246888" cy="246888"/>
            <a:chOff x="0" y="0"/>
            <a:chExt cx="329184" cy="329184"/>
          </a:xfrm>
        </p:grpSpPr>
        <p:sp>
          <p:nvSpPr>
            <p:cNvPr name="Freeform 65" id="65" descr="EA91_3F6B32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161288" y="648195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3F6B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RAIN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68680" y="6801993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Hourly forecast for all 24 wards + real gauges (IMD, NOAA).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77240" y="8083296"/>
            <a:ext cx="1975104" cy="1517904"/>
            <a:chOff x="0" y="0"/>
            <a:chExt cx="2633472" cy="20238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DDEBD5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68680" y="8174736"/>
            <a:ext cx="246888" cy="246888"/>
            <a:chOff x="0" y="0"/>
            <a:chExt cx="329184" cy="329184"/>
          </a:xfrm>
        </p:grpSpPr>
        <p:sp>
          <p:nvSpPr>
            <p:cNvPr name="Freeform 71" id="71" descr="E800_3F6B32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161288" y="8127873"/>
            <a:ext cx="1536192" cy="46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3F6B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FLOOD &amp; PEOPLE MAP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68680" y="8597265"/>
            <a:ext cx="1810512" cy="9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386 flood spots, ward slum population, ~200 clinics.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2798064" y="7872984"/>
            <a:ext cx="182880" cy="292608"/>
            <a:chOff x="0" y="0"/>
            <a:chExt cx="243840" cy="39014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84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">
                  <a:moveTo>
                    <a:pt x="0" y="97536"/>
                  </a:moveTo>
                  <a:lnTo>
                    <a:pt x="121920" y="97536"/>
                  </a:lnTo>
                  <a:lnTo>
                    <a:pt x="121920" y="0"/>
                  </a:lnTo>
                  <a:lnTo>
                    <a:pt x="243840" y="195072"/>
                  </a:lnTo>
                  <a:lnTo>
                    <a:pt x="121920" y="390144"/>
                  </a:lnTo>
                  <a:lnTo>
                    <a:pt x="1219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3026664" y="5870448"/>
            <a:ext cx="1975104" cy="512064"/>
            <a:chOff x="0" y="0"/>
            <a:chExt cx="2633472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A84C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A84C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026664" y="6437376"/>
            <a:ext cx="1975104" cy="1517904"/>
            <a:chOff x="0" y="0"/>
            <a:chExt cx="2633472" cy="20238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F6DCD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118104" y="6528816"/>
            <a:ext cx="246888" cy="246888"/>
            <a:chOff x="0" y="0"/>
            <a:chExt cx="329184" cy="329184"/>
          </a:xfrm>
        </p:grpSpPr>
        <p:sp>
          <p:nvSpPr>
            <p:cNvPr name="Freeform 82" id="82" descr="E9E9_8E3A3E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3410712" y="648195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8E3A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RAIN CORRECTION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118104" y="6801993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Fixes forecast errors using real gauge records.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3026664" y="8083296"/>
            <a:ext cx="1975104" cy="1517904"/>
            <a:chOff x="0" y="0"/>
            <a:chExt cx="2633472" cy="20238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F6DCDC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118104" y="8174736"/>
            <a:ext cx="246888" cy="246888"/>
            <a:chOff x="0" y="0"/>
            <a:chExt cx="329184" cy="329184"/>
          </a:xfrm>
        </p:grpSpPr>
        <p:sp>
          <p:nvSpPr>
            <p:cNvPr name="Freeform 88" id="88" descr="EC48_8E3A3E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3410712" y="812787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8E3A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EXPOSURE SCORE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118104" y="8447913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Rain × flood spots × people, for each ward, each day.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5047488" y="7872984"/>
            <a:ext cx="182880" cy="292608"/>
            <a:chOff x="0" y="0"/>
            <a:chExt cx="243840" cy="39014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">
                  <a:moveTo>
                    <a:pt x="0" y="97536"/>
                  </a:moveTo>
                  <a:lnTo>
                    <a:pt x="121920" y="97536"/>
                  </a:lnTo>
                  <a:lnTo>
                    <a:pt x="121920" y="0"/>
                  </a:lnTo>
                  <a:lnTo>
                    <a:pt x="243840" y="195072"/>
                  </a:lnTo>
                  <a:lnTo>
                    <a:pt x="121920" y="390144"/>
                  </a:lnTo>
                  <a:lnTo>
                    <a:pt x="1219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276088" y="5870448"/>
            <a:ext cx="1975104" cy="512064"/>
            <a:chOff x="0" y="0"/>
            <a:chExt cx="2633472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B37A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B37A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5276088" y="6437376"/>
            <a:ext cx="1975104" cy="3163824"/>
            <a:chOff x="0" y="0"/>
            <a:chExt cx="2633472" cy="421843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633472" cy="4218432"/>
            </a:xfrm>
            <a:custGeom>
              <a:avLst/>
              <a:gdLst/>
              <a:ahLst/>
              <a:cxnLst/>
              <a:rect r="r" b="b" t="t" l="l"/>
              <a:pathLst>
                <a:path h="421843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4072128"/>
                  </a:lnTo>
                  <a:cubicBezTo>
                    <a:pt x="2633472" y="4152900"/>
                    <a:pt x="2567940" y="4218432"/>
                    <a:pt x="2487168" y="4218432"/>
                  </a:cubicBezTo>
                  <a:lnTo>
                    <a:pt x="146304" y="4218432"/>
                  </a:lnTo>
                  <a:cubicBezTo>
                    <a:pt x="65532" y="4218432"/>
                    <a:pt x="0" y="4152900"/>
                    <a:pt x="0" y="4072128"/>
                  </a:cubicBezTo>
                  <a:close/>
                </a:path>
              </a:pathLst>
            </a:custGeom>
            <a:solidFill>
              <a:srgbClr val="FBE8C4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5367528" y="6528816"/>
            <a:ext cx="246888" cy="246888"/>
            <a:chOff x="0" y="0"/>
            <a:chExt cx="329184" cy="329184"/>
          </a:xfrm>
        </p:grpSpPr>
        <p:sp>
          <p:nvSpPr>
            <p:cNvPr name="Freeform 99" id="99" descr="E9D2_8A5A08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5660136" y="648195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8A5A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OUTBREAK FORECAST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367528" y="6801993"/>
            <a:ext cx="1810512" cy="274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Leptospirosis: case wave 7–14 days after floods</a:t>
            </a:r>
          </a:p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Dengue &amp; malaria: risk weeks ahead</a:t>
            </a:r>
          </a:p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Spike check on IDSP &amp; BMC data</a:t>
            </a:r>
          </a:p>
          <a:p>
            <a:pPr algn="l" marL="162878" indent="-81439" lvl="1">
              <a:lnSpc>
                <a:spcPts val="1620"/>
              </a:lnSpc>
            </a:pPr>
            <a:r>
              <a:rPr lang="en-US" b="true" sz="1350">
                <a:solidFill>
                  <a:srgbClr val="8A5A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Result:</a:t>
            </a:r>
            <a:r>
              <a:rPr lang="en-US" sz="1350">
                <a:solidFill>
                  <a:srgbClr val="8A5A08"/>
                </a:solidFill>
                <a:latin typeface="Calibri (MS)"/>
                <a:ea typeface="Calibri (MS)"/>
                <a:cs typeface="Calibri (MS)"/>
                <a:sym typeface="Calibri (MS)"/>
              </a:rPr>
              <a:t> WATCH / WARNING / EMERGENCY for every ward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296912" y="7872984"/>
            <a:ext cx="182880" cy="292608"/>
            <a:chOff x="0" y="0"/>
            <a:chExt cx="243840" cy="39014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384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">
                  <a:moveTo>
                    <a:pt x="0" y="97536"/>
                  </a:moveTo>
                  <a:lnTo>
                    <a:pt x="121920" y="97536"/>
                  </a:lnTo>
                  <a:lnTo>
                    <a:pt x="121920" y="0"/>
                  </a:lnTo>
                  <a:lnTo>
                    <a:pt x="243840" y="195072"/>
                  </a:lnTo>
                  <a:lnTo>
                    <a:pt x="121920" y="390144"/>
                  </a:lnTo>
                  <a:lnTo>
                    <a:pt x="1219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525512" y="5870448"/>
            <a:ext cx="1975104" cy="512064"/>
            <a:chOff x="0" y="0"/>
            <a:chExt cx="2633472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6E54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E54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525512" y="6437376"/>
            <a:ext cx="1975104" cy="1517904"/>
            <a:chOff x="0" y="0"/>
            <a:chExt cx="2633472" cy="202387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E8E0F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616952" y="6528816"/>
            <a:ext cx="246888" cy="246888"/>
            <a:chOff x="0" y="0"/>
            <a:chExt cx="329184" cy="329184"/>
          </a:xfrm>
        </p:grpSpPr>
        <p:sp>
          <p:nvSpPr>
            <p:cNvPr name="Freeform 110" id="110" descr="F272_57408A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7909560" y="648195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5740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ACTION PLANNER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7616952" y="6801993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Camps, doctors and spray teams go to the top-risk wards first.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7525512" y="8083296"/>
            <a:ext cx="1975104" cy="1517904"/>
            <a:chOff x="0" y="0"/>
            <a:chExt cx="2633472" cy="202387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E8E0F2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616952" y="8174736"/>
            <a:ext cx="246888" cy="246888"/>
            <a:chOff x="0" y="0"/>
            <a:chExt cx="329184" cy="329184"/>
          </a:xfrm>
        </p:grpSpPr>
        <p:sp>
          <p:nvSpPr>
            <p:cNvPr name="Freeform 116" id="116" descr="E721_57408A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117" id="117"/>
          <p:cNvSpPr txBox="true"/>
          <p:nvPr/>
        </p:nvSpPr>
        <p:spPr>
          <a:xfrm rot="0">
            <a:off x="7909560" y="812787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5740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THIS ALERT?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7616952" y="8447913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Shows the rain, flood spots and past floods behind it.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9546336" y="7872984"/>
            <a:ext cx="182880" cy="292608"/>
            <a:chOff x="0" y="0"/>
            <a:chExt cx="243840" cy="390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384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">
                  <a:moveTo>
                    <a:pt x="0" y="97536"/>
                  </a:moveTo>
                  <a:lnTo>
                    <a:pt x="121920" y="97536"/>
                  </a:lnTo>
                  <a:lnTo>
                    <a:pt x="121920" y="0"/>
                  </a:lnTo>
                  <a:lnTo>
                    <a:pt x="243840" y="195072"/>
                  </a:lnTo>
                  <a:lnTo>
                    <a:pt x="121920" y="390144"/>
                  </a:lnTo>
                  <a:lnTo>
                    <a:pt x="12192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774936" y="5870448"/>
            <a:ext cx="1975104" cy="512064"/>
            <a:chOff x="0" y="0"/>
            <a:chExt cx="2633472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2F7E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F7E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774936" y="6437376"/>
            <a:ext cx="1975104" cy="969264"/>
            <a:chOff x="0" y="0"/>
            <a:chExt cx="2633472" cy="12923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D6EEE8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866376" y="6528816"/>
            <a:ext cx="246888" cy="246888"/>
            <a:chOff x="0" y="0"/>
            <a:chExt cx="329184" cy="329184"/>
          </a:xfrm>
        </p:grpSpPr>
        <p:sp>
          <p:nvSpPr>
            <p:cNvPr name="Freeform 127" id="127" descr="E8BD_236456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28" id="128"/>
          <p:cNvSpPr txBox="true"/>
          <p:nvPr/>
        </p:nvSpPr>
        <p:spPr>
          <a:xfrm rot="0">
            <a:off x="10158984" y="648195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23645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CITIZEN ALERTS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866376" y="680199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“Visit an Aapla Dawakhana within 72 hours.”</a:t>
            </a:r>
          </a:p>
        </p:txBody>
      </p:sp>
      <p:grpSp>
        <p:nvGrpSpPr>
          <p:cNvPr name="Group 130" id="130"/>
          <p:cNvGrpSpPr/>
          <p:nvPr/>
        </p:nvGrpSpPr>
        <p:grpSpPr>
          <a:xfrm rot="0">
            <a:off x="9774936" y="7534656"/>
            <a:ext cx="1975104" cy="969264"/>
            <a:chOff x="0" y="0"/>
            <a:chExt cx="2633472" cy="12923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D6EEE8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866376" y="7626096"/>
            <a:ext cx="246888" cy="246888"/>
            <a:chOff x="0" y="0"/>
            <a:chExt cx="329184" cy="329184"/>
          </a:xfrm>
        </p:grpSpPr>
        <p:sp>
          <p:nvSpPr>
            <p:cNvPr name="Freeform 133" id="133" descr="EA90_236456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10158984" y="757923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23645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WARD ACTION SHEET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9866376" y="789927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One-page plan for each ward health officer.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9774936" y="8631936"/>
            <a:ext cx="1975104" cy="969264"/>
            <a:chOff x="0" y="0"/>
            <a:chExt cx="2633472" cy="129235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D6EEE8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866376" y="8723376"/>
            <a:ext cx="246888" cy="246888"/>
            <a:chOff x="0" y="0"/>
            <a:chExt cx="329184" cy="329184"/>
          </a:xfrm>
        </p:grpSpPr>
        <p:sp>
          <p:nvSpPr>
            <p:cNvPr name="Freeform 139" id="139" descr="F10E_236456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140" id="140"/>
          <p:cNvSpPr txBox="true"/>
          <p:nvPr/>
        </p:nvSpPr>
        <p:spPr>
          <a:xfrm rot="0">
            <a:off x="10158984" y="8676513"/>
            <a:ext cx="1536192" cy="2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23645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 ALERT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9866376" y="899655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Expect leptospirosis cases; treat fever early.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2016426" y="5862514"/>
            <a:ext cx="5502278" cy="3746630"/>
            <a:chOff x="0" y="0"/>
            <a:chExt cx="7336371" cy="4995507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336282" cy="4995418"/>
            </a:xfrm>
            <a:custGeom>
              <a:avLst/>
              <a:gdLst/>
              <a:ahLst/>
              <a:cxnLst/>
              <a:rect r="r" b="b" t="t" l="l"/>
              <a:pathLst>
                <a:path h="4995418" w="7336282">
                  <a:moveTo>
                    <a:pt x="0" y="195834"/>
                  </a:moveTo>
                  <a:cubicBezTo>
                    <a:pt x="0" y="87757"/>
                    <a:pt x="87757" y="0"/>
                    <a:pt x="195834" y="0"/>
                  </a:cubicBezTo>
                  <a:lnTo>
                    <a:pt x="7140448" y="0"/>
                  </a:lnTo>
                  <a:cubicBezTo>
                    <a:pt x="7248652" y="0"/>
                    <a:pt x="7336282" y="87757"/>
                    <a:pt x="7336282" y="195834"/>
                  </a:cubicBezTo>
                  <a:lnTo>
                    <a:pt x="7336282" y="4799584"/>
                  </a:lnTo>
                  <a:cubicBezTo>
                    <a:pt x="7336282" y="4907788"/>
                    <a:pt x="7248525" y="4995418"/>
                    <a:pt x="7140448" y="4995418"/>
                  </a:cubicBezTo>
                  <a:lnTo>
                    <a:pt x="195834" y="4995418"/>
                  </a:lnTo>
                  <a:cubicBezTo>
                    <a:pt x="87757" y="4995545"/>
                    <a:pt x="0" y="4907788"/>
                    <a:pt x="0" y="479958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3DD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12024360" y="5870448"/>
            <a:ext cx="5486400" cy="457200"/>
            <a:chOff x="0" y="0"/>
            <a:chExt cx="7315200" cy="6096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195072" y="0"/>
                  </a:moveTo>
                  <a:lnTo>
                    <a:pt x="7120128" y="0"/>
                  </a:lnTo>
                  <a:cubicBezTo>
                    <a:pt x="7227824" y="0"/>
                    <a:pt x="7315200" y="87376"/>
                    <a:pt x="7315200" y="195072"/>
                  </a:cubicBezTo>
                  <a:lnTo>
                    <a:pt x="7315200" y="609600"/>
                  </a:lnTo>
                  <a:lnTo>
                    <a:pt x="0" y="609600"/>
                  </a:lnTo>
                  <a:lnTo>
                    <a:pt x="0" y="195072"/>
                  </a:lnTo>
                  <a:cubicBezTo>
                    <a:pt x="0" y="87376"/>
                    <a:pt x="87376" y="0"/>
                    <a:pt x="195072" y="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024360" y="5870448"/>
            <a:ext cx="5486400" cy="457200"/>
            <a:chOff x="0" y="0"/>
            <a:chExt cx="7315200" cy="6096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REFERENCES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12161520" y="6353937"/>
            <a:ext cx="2282342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sz="1149" b="true">
                <a:solidFill>
                  <a:srgbClr val="5B657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CLAIM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4901062" y="6353937"/>
            <a:ext cx="2472538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sz="1149" b="true">
                <a:solidFill>
                  <a:srgbClr val="5B657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</a:t>
            </a:r>
          </a:p>
        </p:txBody>
      </p:sp>
      <p:grpSp>
        <p:nvGrpSpPr>
          <p:cNvPr name="Group 151" id="151"/>
          <p:cNvGrpSpPr/>
          <p:nvPr/>
        </p:nvGrpSpPr>
        <p:grpSpPr>
          <a:xfrm rot="0">
            <a:off x="12161520" y="6711696"/>
            <a:ext cx="2282342" cy="479146"/>
            <a:chOff x="0" y="0"/>
            <a:chExt cx="3043123" cy="63886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CDDB8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2252960" y="6711696"/>
            <a:ext cx="2099462" cy="479146"/>
            <a:chOff x="0" y="0"/>
            <a:chExt cx="2799283" cy="63886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B3D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Cases rise 7–12 days after floods</a:t>
              </a:r>
            </a:p>
          </p:txBody>
        </p:sp>
      </p:grpSp>
      <p:sp>
        <p:nvSpPr>
          <p:cNvPr name="AutoShape 156" id="156"/>
          <p:cNvSpPr/>
          <p:nvPr/>
        </p:nvSpPr>
        <p:spPr>
          <a:xfrm rot="217140">
            <a:off x="14496402" y="6941744"/>
            <a:ext cx="352111" cy="0"/>
          </a:xfrm>
          <a:prstGeom prst="line">
            <a:avLst/>
          </a:prstGeom>
          <a:ln cap="rnd" w="19050">
            <a:solidFill>
              <a:srgbClr val="7C879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7" id="157"/>
          <p:cNvGrpSpPr/>
          <p:nvPr/>
        </p:nvGrpSpPr>
        <p:grpSpPr>
          <a:xfrm rot="0">
            <a:off x="14901062" y="6711696"/>
            <a:ext cx="2472538" cy="479146"/>
            <a:chOff x="0" y="0"/>
            <a:chExt cx="3296717" cy="638861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6A863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4992502" y="6711696"/>
            <a:ext cx="2289658" cy="479146"/>
            <a:chOff x="0" y="0"/>
            <a:chExt cx="3052877" cy="638861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3D1E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 et al., Natl Med J India, 2018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2161520" y="7282282"/>
            <a:ext cx="2282342" cy="479146"/>
            <a:chOff x="0" y="0"/>
            <a:chExt cx="3043123" cy="638861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CDDB8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252960" y="7282282"/>
            <a:ext cx="2099462" cy="479146"/>
            <a:chOff x="0" y="0"/>
            <a:chExt cx="2799283" cy="63886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B3D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Lepto cases 33 → 78 in July 2026</a:t>
              </a:r>
            </a:p>
          </p:txBody>
        </p:sp>
      </p:grpSp>
      <p:sp>
        <p:nvSpPr>
          <p:cNvPr name="AutoShape 167" id="167"/>
          <p:cNvSpPr/>
          <p:nvPr/>
        </p:nvSpPr>
        <p:spPr>
          <a:xfrm rot="217140">
            <a:off x="14496402" y="7512329"/>
            <a:ext cx="352111" cy="0"/>
          </a:xfrm>
          <a:prstGeom prst="line">
            <a:avLst/>
          </a:prstGeom>
          <a:ln cap="rnd" w="19050">
            <a:solidFill>
              <a:srgbClr val="7C879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8" id="168"/>
          <p:cNvGrpSpPr/>
          <p:nvPr/>
        </p:nvGrpSpPr>
        <p:grpSpPr>
          <a:xfrm rot="0">
            <a:off x="14901062" y="7282282"/>
            <a:ext cx="2472538" cy="479146"/>
            <a:chOff x="0" y="0"/>
            <a:chExt cx="3296717" cy="63886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6A863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992502" y="7282282"/>
            <a:ext cx="2289658" cy="479146"/>
            <a:chOff x="0" y="0"/>
            <a:chExt cx="3052877" cy="63886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3D1E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BMC data via Free Press Journal, 2026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2161520" y="7852867"/>
            <a:ext cx="2282342" cy="479146"/>
            <a:chOff x="0" y="0"/>
            <a:chExt cx="3043123" cy="638861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CDDB8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2252960" y="7852867"/>
            <a:ext cx="2099462" cy="479146"/>
            <a:chOff x="0" y="0"/>
            <a:chExt cx="2799283" cy="638861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B3D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 within 24–72 hours</a:t>
              </a:r>
            </a:p>
          </p:txBody>
        </p:sp>
      </p:grpSp>
      <p:sp>
        <p:nvSpPr>
          <p:cNvPr name="AutoShape 178" id="178"/>
          <p:cNvSpPr/>
          <p:nvPr/>
        </p:nvSpPr>
        <p:spPr>
          <a:xfrm rot="217140">
            <a:off x="14496402" y="8082915"/>
            <a:ext cx="352111" cy="0"/>
          </a:xfrm>
          <a:prstGeom prst="line">
            <a:avLst/>
          </a:prstGeom>
          <a:ln cap="rnd" w="19050">
            <a:solidFill>
              <a:srgbClr val="7C879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9" id="179"/>
          <p:cNvGrpSpPr/>
          <p:nvPr/>
        </p:nvGrpSpPr>
        <p:grpSpPr>
          <a:xfrm rot="0">
            <a:off x="14901062" y="7852867"/>
            <a:ext cx="2472538" cy="479146"/>
            <a:chOff x="0" y="0"/>
            <a:chExt cx="3296717" cy="63886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6A863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4992502" y="7852867"/>
            <a:ext cx="2289658" cy="479146"/>
            <a:chOff x="0" y="0"/>
            <a:chExt cx="3052877" cy="638861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3D1E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BMC advisory, 6 Jul 2026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2161520" y="8423453"/>
            <a:ext cx="2282342" cy="479146"/>
            <a:chOff x="0" y="0"/>
            <a:chExt cx="3043123" cy="638861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CDDB8"/>
            </a:solid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2252960" y="8423453"/>
            <a:ext cx="2099462" cy="479146"/>
            <a:chOff x="0" y="0"/>
            <a:chExt cx="2799283" cy="638861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B3D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29,433 IDSP outbreak records</a:t>
              </a:r>
            </a:p>
          </p:txBody>
        </p:sp>
      </p:grpSp>
      <p:sp>
        <p:nvSpPr>
          <p:cNvPr name="AutoShape 189" id="189"/>
          <p:cNvSpPr/>
          <p:nvPr/>
        </p:nvSpPr>
        <p:spPr>
          <a:xfrm rot="217140">
            <a:off x="14496402" y="8653501"/>
            <a:ext cx="352111" cy="0"/>
          </a:xfrm>
          <a:prstGeom prst="line">
            <a:avLst/>
          </a:prstGeom>
          <a:ln cap="rnd" w="19050">
            <a:solidFill>
              <a:srgbClr val="7C879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0" id="190"/>
          <p:cNvGrpSpPr/>
          <p:nvPr/>
        </p:nvGrpSpPr>
        <p:grpSpPr>
          <a:xfrm rot="0">
            <a:off x="14901062" y="8423453"/>
            <a:ext cx="2472538" cy="479146"/>
            <a:chOff x="0" y="0"/>
            <a:chExt cx="3296717" cy="638861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6A863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4992502" y="8423453"/>
            <a:ext cx="2289658" cy="479146"/>
            <a:chOff x="0" y="0"/>
            <a:chExt cx="3052877" cy="638861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3D1E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IDSP (NCDC), via Dataful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2161520" y="8994038"/>
            <a:ext cx="2282342" cy="479146"/>
            <a:chOff x="0" y="0"/>
            <a:chExt cx="3043123" cy="638861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CDDB8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2252960" y="8994038"/>
            <a:ext cx="2099462" cy="479146"/>
            <a:chOff x="0" y="0"/>
            <a:chExt cx="2799283" cy="638861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B3D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Dengue warning is “rudimentary”</a:t>
              </a:r>
            </a:p>
          </p:txBody>
        </p:sp>
      </p:grpSp>
      <p:sp>
        <p:nvSpPr>
          <p:cNvPr name="AutoShape 200" id="200"/>
          <p:cNvSpPr/>
          <p:nvPr/>
        </p:nvSpPr>
        <p:spPr>
          <a:xfrm rot="217140">
            <a:off x="14496402" y="9224086"/>
            <a:ext cx="352111" cy="0"/>
          </a:xfrm>
          <a:prstGeom prst="line">
            <a:avLst/>
          </a:prstGeom>
          <a:ln cap="rnd" w="19050">
            <a:solidFill>
              <a:srgbClr val="7C879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1" id="201"/>
          <p:cNvGrpSpPr/>
          <p:nvPr/>
        </p:nvGrpSpPr>
        <p:grpSpPr>
          <a:xfrm rot="0">
            <a:off x="14901062" y="8994038"/>
            <a:ext cx="2472538" cy="479146"/>
            <a:chOff x="0" y="0"/>
            <a:chExt cx="3296717" cy="638861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F6A863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4992502" y="8994038"/>
            <a:ext cx="2289658" cy="479146"/>
            <a:chOff x="0" y="0"/>
            <a:chExt cx="3052877" cy="638861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3D1E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Pune, Scientific Reports, 2025</a:t>
              </a:r>
            </a:p>
          </p:txBody>
        </p:sp>
      </p:grpSp>
      <p:sp>
        <p:nvSpPr>
          <p:cNvPr name="TextBox 206" id="206"/>
          <p:cNvSpPr txBox="true"/>
          <p:nvPr/>
        </p:nvSpPr>
        <p:spPr>
          <a:xfrm rot="0">
            <a:off x="777240" y="9627489"/>
            <a:ext cx="1673352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i="true">
                <a:solidFill>
                  <a:srgbClr val="5B65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Rain data checked live on 8 Oct 2026: Open-Meteo archive and NOAA GSOD (Santacruz station 43003). Full evidence log: CODEASTRA_2_MASTER_RESEARCH.md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DAHXc5Ucn68</dc:identifier>
  <dcterms:modified xsi:type="dcterms:W3CDTF">2011-08-01T06:04:30Z</dcterms:modified>
  <cp:revision>1</cp:revision>
  <dc:title>VARSHA_CODEASTRA2_Idea_PPT.pptx</dc:title>
</cp:coreProperties>
</file>